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分隔页,一句话带过。
"Anlin 已经讲了为什么要换。接下来我说说我们怎么做的。"
导演提示: 这一页对应 Anlin 大纲页(她的第 3 页)里 Part 1 那一行。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~1.5 min
First, a sentence about what this system is, because not everyone in this room uses it the same way.
The CEAL Statistics Database is where about fifty libraries in North America report their East Asian collections every year. Those numbers become the annual report in the Journal of East Asian Libraries. They also become the benchmark you use when you need to make a case to your dean.
The record goes back a long way. Some of the digitised reports contain data from eighteen sixty-nine. The online database itself opened in nineteen ninety-nine.
So this is not a new project. It is a twenty-five year old service that needed a new home.
导演提示: 最后那句是定调,说慢一点。Anlin 第 5 页会细讲这条时间线,这里别展开。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~1.5 min
Let me start with the old site, and let me start by being fair to it.
That site did its job for two decades. Every number was in there. Every form was in there. It never lost anyone's data. Whoever built it deserves credit, and some of them may be on this call.
[指左边] This is what you saw after signing in. Everything works — but it is a wall of links, and you have to already know what you are looking for.
[指右边] This is the same moment on the new site. Your name, your institution, what you are allowed to do, and the three things you most likely came to do.
[可删] It was built for a desktop computer in the early two thousands. On a phone you had to pinch and scroll sideways to read a table. The page had a fixed width, so on a large monitor most of your screen was empty.
And there was a bigger problem, one you would only notice if you were on the Committee. Almost nothing could be changed without a developer. Opening the survey, sending the announcement, adding a new library — all of it meant emailing someone technical and waiting.
That is the situation we were asked to fix.
导演提示: 两张图都是"登录后第一屏",对比公平,不会被说是挑软柿子。
必须先夸旧站再说问题。Anlin 第 2 页已讲 KU 停止托管,这里不要重复。
旧站首页那张(满屏文字)可以留作 Q&amp;A 备用,或换掉左边这张。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 min
So we wrote ourselves a brief, and it fits on one line. Keep every function. Replace the experience.
Four parts to that.
First, match the old site feature for feature. Nothing gets dropped because it was inconvenient to rebuild.
Second, once we had parity, give the Committee the controls. If the Chair wants to open the survey a week late, that should be a button, not an email to me.
[可删] Third, make it work on whatever screen you happen to have. And make it render Chinese, Japanese and Korean properly, which the old site did not always do.
Fourth, and this is the one I care most about: write everything down. Real documentation, so that when Yifan and I are no longer the people doing this, the next person can pick it up.
导演提示: 第四条是委员会最在意的,说完停半秒。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~1.5 min
The old site had four kinds of visitor, and so does the new one.
A guest is anyone who has not signed in. Guests can see the statistics, the charts and the published reports. That is deliberate. Most of this data is meant to be public.
A member is your library's delegate. You submit your own library's forms, and you can pull your own multi-year reports.
[可删] An editor maintains the shared lists of electronic databases that everyone selects from, and can see across libraries.
A super administrator is the Committee. They manage people, set the dates, send the announcements, and they are the only ones who can change data after the deadline.
One thing worth saying about that table. On the old site, a lot of permission was really just a hidden menu item. If you knew the address, you could sometimes get further than you should. On the new site every one of those checks happens in the database, every time. Hiding a button is not security, and we did not treat it as security.
导演提示: 最后一段是重点,不要提中间件、cookie、token 这些词。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~2 min ⭐ 全场最重要的一页,也是给 Anlin 的致谢。
I want to spend a minute on something that is not code.
When you rebuild a survey like this, the hard part is not the software. The hard part is understanding what every single field on the form actually means. What counts as a volume. What belongs in one column and not another. Why two questions that look similar are counted differently.
None of that is written in the old database. It lives in the practice of this community. And the person who translated it for us was Anlin.
Over the past two and a half years, Anlin has explained fields to us question by question. She put us in touch with the right person at each library when we needed to check something. She coordinated the deadlines. She checked our migrated numbers against the historical record. And when we were stuck on a decision that was not ours to make, she made it, usually within a day.
To put a number on it: three hundred and fifty-six emails about CEAL, and a hundred and eighty-five Zoom meetings. Over twenty-nine months.
So I want to say this plainly, and in front of all of you. This system is accurate because the Committee kept us accurate. Anlin, thank you.
导演提示: 因为 Anlin 排在最后讲,这一页还能提前把她捧起来。说完看一眼镜头里的她再切页。
185 次 Zoom 会议比 356 封邮件更有冲击力 —— 两年半里平均每月六次会,听众自己会算这笔账。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 min
If you used the site last fall, you already noticed some of this.
Signing in now happens in two steps. You type your email address first, and the site checks you before asking for anything else. If you have never set a password, it tells you that instead of just saying "wrong password" — which is what the old site did, and which sent a lot of email to Anlin.
When you need a password, we email you a one-time link that works for twenty-four hours. We do not put passwords in email any more. Ever.
You can change your own password from inside the site. You do not have to ask anyone.
And if you cover more than one library, which a few of you do, you can now switch between them without signing out and back in.
导演提示: ⚠️ 不要说"15 分钟"。系统实际是 24 小时。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~2 min
Now the part I am most pleased about, and the part that matters most to the Committee.
On the old site, running the survey meant asking a developer. Opening the forms was a developer task. Sending the announcement was a developer task. Changing a date was a developer task.
All of that is now this one page.
[指截图] Survey dates. Open and close the annual surveys. Email templates. Manage users. Manage participating institutions. Manage the published PDFs. The Chair does all of it herself.
I want to point out one thing in particular, because it came directly out of last year's collection. A library joined partway through the season. The announcement had already gone out weeks earlier, so their delegate never got it. Under the old system, the fix was to email me.
Now the Chair opens the user list, finds that one person, and clicks a button that sends them their own copy. That is it.
导演提示: 截图本身就列全了六个工具,不用再念一遍。挑两三个说,重点讲最后那个真实例子。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~1.5 min
[可删] The second half of the toolkit is about people, data and publication.
The Chair can search the whole user list, move someone to a different library, change what they are allowed to do, and export the roster.
Adding a new member library used to mean someone editing the database directly. It is now a guided six-step form.
Then there is the part I would point to if you asked me what makes this system trustworthy. Every change to every number is recorded. Who made it. When. And what the value was before they changed it. If a number in the published report is ever questioned, we can show you exactly where it came from and who touched it.
The Committee can see who has submitted and who has not, for any year. Year-end reports export as Excel, Word or PDF — one library, or all of them in a single download. When the report is published in the journal, the Chair uploads the PDF and the public page updates immediately.
And there are rankings going back to nineteen seventy, for any measure you like.
导演提示: 审计记录那段是核心,讲慢一点。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 min
A word on how it looks, and then I will get to the numbers.
There is one layout, and it adapts to whatever screen you are on. Let me just show you rather than describe it.
[拖动浏览器窗口:窄 → 宽]
That is the same page. Nothing is hidden from you on a phone.
The second point matters more than it sounds. Chinese, Japanese and Korean titles now render in proper typefaces for each language. On the old site they sometimes came out as empty boxes, or in a font that was technically Chinese but wrong for a Japanese title. For a database about East Asian collections, that was not acceptable.
And there are two full guides built into the site itself. One for member libraries, one for the Committee. Both are in English and Chinese, both are searchable, and both print cleanly. If you take one thing away from my part today, make it this address: cealstats.org slash help.
导演提示: 拖窗口这个演示效果最好,提前把浏览器准备好。Anlin 第 11、12 页会演示表单和报表,这里只讲"设计",别抢她的内容。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 min
One slide on what it runs on. I will keep this short, because the names do not matter much to you.
Everything you see is built on current, mainstream, well-supported software. The data lives in a standard database that any developer would recognise, and that can be copied out in one command. The site and the database are hosted by two companies, and the email goes through a third.
The line that matters is the last one. All three of those companies are replaceable, and the step-by-step instructions for replacing each of them are written down in our documentation. There are four of them: move the database, move the website, move the email, or move the whole thing onto a university server.
I mention that because it is the question a committee should ask. You are not locked in to anybody. Including us.
导演提示: 不要念表格。重点全在最后那句。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~2 min ⭐ 核心证据页。慢慢讲,给他们时间看数字。
Now the part I was asked to be specific about.
We started in March of twenty twenty-four. That is twenty-nine months ago.
Let me explain one word on this slide first. A commit is one recorded batch of work — you finish something, you write down what you did, and it goes into the record. Think of it as one entry in a very detailed lab notebook.
There are eight hundred and eighty-six of those. That is roughly thirty a month, every month, for twenty-nine months.
[可删] A hundred and fifty-four separate change sets were reviewed before they went anywhere near the live site. Around a hundred thousand lines of code written by hand. Seventy-two pages. Forty-one tables in the database.
And three thousand seven hundred lines of documentation, in English and Chinese.
Two of us. Alongside our regular jobs.
I am not showing you this to complain. I am showing you this because when a committee approves a rebuild, it is very hard to see what it costs. This is what it cost.
导演提示: 可口头补 — 886 次里我提交 693 次,奕帆 111 次。
⚠️ 若被问"总共改了多少行":照实说没有可靠数字。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~0.5 min。快速带过,唯一目的是引出第 7 阶段的 218。
Very quickly, the shape of the work.
[可删] The first five stages were building. Foundations, then accounts, then the data, then the shared lists, then the ten forms themselves.
Stage six was getting ready to go live, last September.
And then look at stage seven. Two hundred and eighteen units of work, between October and December of last year. That is more than any other stage in the project.
That is not building. That is the collection season, running live, with your data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~1.5 min ⭐ 全场情绪高点,值得多花 30 秒。
A third of this entire project happened in two months. September and October of last year.
That is what it looks like to support a survey while it is actually running, with real libraries entering real numbers.
Some of what we did in those weeks. We set up the automatic opening and closing of the forms, and then tuned it while it was live. We found and corrected the arithmetic on several forms, by checking it against the actual paper questionnaire. We repaired the handling of Chinese, Japanese and Korean text in the exports.
And we added a feature we had never planned. Several of you asked whether you could see your own library's last five years while filling in a form, so you had something to compare against. That was a fair request. We added it to all ten forms, in the middle of the season.
One more, and then I will hand over.
In mid-October we attempted a major upgrade to the software underneath the site. Within an hour we could see it created a risk to the live season. So we undid it, completely, and left it alone. We came back and did that upgrade ten months later, in the summer, when nobody's data was on the line.
I mention it because I think knowing when not to touch something is part of the job. Your collection season is not the time to be clever.
导演提示: 回滚的故事一定要讲 — 不是失败,是判断力。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 — ~0.75 min
Last slide from me.
The twenty twenty-five collection finished successfully. Every library that submitted, submitted through this system.
For this year, Yifan and I are still here, and still watching. If you find something broken during the season, tell us. Our aim is to fix it that week, not to put it on a list for next year.
And for the longer term: the documentation is kept up to date, in both languages, and there is a written handover checklist. It lists every account that would need to transfer to a new maintainer. That is deliberate. A volunteer committee should not depend on any one person indefinitely, including me.
Now — I have talked about what you can see. Yifan is going to tell you about what sits underneath.
导演提示: 说完交给奕帆。看一眼时间。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分隔页,一句话带过。
导演提示: 对应 Anlin 大纲页里 Part 2 那一行。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~1.5 min
Thank you, Meng. Good afternoon.
My part is about what happened to your data.
When people hear "we moved the database," they picture copying files. It is not that. The old system and the new system store numbers differently. They disagree about what an empty field means. They disagree about how text in Chinese, Japanese and Korean is encoded. They even number their own records differently.
So every single value had to be carried across, and then checked.
And we could not take the site down to do it. The historical record had to stay available the whole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~2 min
Three things went wrong. I want to walk through them, because how a team handles the things that go wrong tells you more than a feature list.
The first we called the counter problem. A database keeps its own internal count of how many records it has, so it knows what number to give the next one. When we loaded the old data in, that counter did not come with it. So the database thought it was empty, and the first new record anyone created collided with a record that was already there.
[可删] We could have fixed that by hand, once. Instead we wrote a small tool that resets every counter in every table, and we made it run automatically whenever data is loaded. It has not come back.
The second was old passwords. Some accounts still had credentials from the old system, stored using a method that is no longer considered safe. We had a choice. We could accept the old method, which would have meant carrying a known weakness forever. Or we could refuse it.
We refused it. If your account still had an old credential, the site recognises that and emails you a link to set a new one. It was slightly inconvenient for a few people last year. It was the right call.
The third was broken characters. Some East Asian titles came through the migration damaged. We fixed that both where titles are displayed and where they are exported, and then checked them against the original records.
导演提示: 不要说 sequence、serial、primary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~2 min
Now the design idea at the centre of the new database. There is only one, and if you follow this slide you will understand how the whole system behaves.
For each library, for each year, there is exactly one record. We call it a library-year. Everything else hangs off it. All ten of your forms attach to your library and that specific year.
Here is why that matters to you.
On that library-year record there is a single switch: can this library edit this year, yes or no. That switch is what the opening and closing dates actually control.
Because the switch is per library and per year, and not one global setting, the Committee can reopen the forms for one library that needs a few more days, without reopening them for everybody. On the old system that was awkward. Now it is one library, one year, one switch.
[可删] One more detail. We create these records in advance, empty, for every library.
导演提示: 讲的时候用手在屏幕上指那个图。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~1 min
A short one, but it is a decision worth explaining.
Every measure in this database is broken out the same way: Chinese, Japanese, Korean, non-CJK, and a subtotal. That pattern repeats for every question on the form. One of our forms has about a hundred and ten columns because of it.
A database designer would tell you that is untidy, and they would be right. There is a more elegant way to store this.
We chose not to. Because the moment you collapse those columns, the numbers in the database stop lining up with the numbers on the questionnaire. And then when the Committee needs to check a figure, nobody can tell which question produced it.
So we kept it wide. Every number traces back to one specific question. That was worth more to us than elegance.
导演提示: 主动承认"设计师会说这不优雅,他说得对",反而更可信。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~1 min
Here is a small thing that saves a lot of trouble.
Take an e-journal package that thirty of your libraries subscribe to. On the old system, that package was written down thirty separate times — once in each library's record. If the publisher changed its name, someone had to find and fix thirty entries. In practice, they did not all get fixed, so the same package appeared under three different spellings.
Now the package is described once, in a shared list. Each library records its own counts, and whether it had access that year, separately. Correct the title once and every library's record is corrected with it.
导演提示: 用具体例子讲,不要讲结构。Anlin 第 10 页会讲怎么用这些 list,这里只讲为什么这样设计。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~1.5 min
Four promises about your data.
First, your draft is safe. When you press Save Draft, we update the same record rather than creating a second one. You can leave it for three days and come back to exactly what you left.
Second, whether you have submitted is recorded separately from the numbers themselves, for each form and each year.
Third, and this one came from the Committee. If a form comes in as all zeros, the system does not treat that as a real report of zero. It reads it as a library that did not participate that year. That distinction matters for the published statistics, and it is a rule the Committee gave us — not one we invented.
Fourth, every change is written down. Who made it, when, and what the number was before.
导演提示: 第三条一定要说"这是委员会给我们的规则"。Anlin 第 11 页会讲 Save/Submit 的操作,这里讲的是底层保证,不冲突。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~1 min
This was one of the most popular additions last year, and it is a simple idea. You should never have to type in something the system already knows.
If your library's database subscriptions are mostly the same as last year, there is one action that brings last year's forward into this year. It then tells you exactly what it copied and what it skipped.
And it will not overwrite. If this year already has records, it stops and shows you the conflict rather than quietly replacing your work. We were careful about that one.
[可删] There are also eight import buttons across the forms, which pull figures the system already holds into the form you are filling in. And one button that fills the electronic form from all three shared lists at once.
导演提示: "拒绝覆盖"这条要强调。Anlin 第 11 页也会提 Import,可以说"Anlin 待会会演示怎么用"。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~1.5 min
A minute on security, in plain terms.
The important idea is two locks, not one. When you sign in, the site checks who you are — that is the front door. But then, every time you try to do something sensitive, the site asks the database again: who is this person, and are they allowed to do this?
That sounds redundant. It is not. It means that editing something in your own browser to pretend you are an administrator does not work. The front door is not the only thing standing between someone and your data.
Passwords are stored using the method currently recommended for this, and stored in a form that cannot be turned back into the original password. Not by us either. If you forget your password, we genuinely cannot look it up — we can only send you a link to set a new one.
The part of the site that automatically opens and closes the survey is locked as well. And the connection between the website and the database is encrypted and verified at both ends.
导演提示: "两把锁"这个比喻是全部。不要说 middleware、JWT、cookie、Argon2id。
"连我们自己都查不到你的密码"这句听众印象最深,一定要说。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YIFAN — ~1 min
Last slide from me, and it is the one a committee should care about most.
The database can be rolled back. We can produce a copy of the whole thing as it looked at a chosen moment in the past, and inspect it, without touching the live site. Full copies are taken on a schedule and kept somewhere other than the company that hosts the database, because a backup stored with the thing you are backing up is not a backup.
And then the way out. There are four documented routes: move the database, move the website, move the email, or move all of it onto a university server. Each one is written up step by step in our documentation.
I want to be clear about why that exists. It is not because we expect to leave. It is because those instructions do not depend on us being reachable. If both of us disappeared tomorrow, someone competent could read that document and keep this service running.
Now I will hand over to Anlin, who is going to show you the part you actually came for — how to use it.
导演提示: ⚠️ 自动备份目前还没真正配上,若被追问,照实说"目前是手动,下一步要补"。
最后一句交给 Anlin。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D1D"/>
        </a:solidFill>
      </p:bgPr>
    </p:bg>
    <p:spTree>
      <p:nvGrpSpPr>
        <p:cNvPr id="1" name=""/>
        <p:cNvGrpSpPr/>
        <p:nvPr/>
      </p:nvGrpSpPr>
      <p:grpSpPr>
        <a:xfrm>
          <a:off x="0" y="0"/>
          <a:ext cx="0" cy="0"/>
          <a:chOff x="0" y="0"/>
          <a:chExt cx="0" cy="0"/>
        </a:xfrm>
      </p:grpSpPr>
      <p:sp>
        <p:nvSpPr>
          <p:cNvPr id="2" name="Text 0"/>
          <p:cNvSpPr txBox="1"/>
          <p:nvPr/>
        </p:nvSpPr>
        <p:spPr>
          <a:xfrm>
            <a:off x="457200" y="1417320"/>
            <a:ext cx="8229600" cy="384048"/>
          </a:xfrm>
          <a:prstGeom prst="rect">
            <a:avLst/>
          </a:prstGeom>
          <a:noFill/>
          <a:ln/>
        </p:spPr>
        <p:txBody>
          <a:bodyPr wrap="square" lIns="0" tIns="0" rIns="0" bIns="0" rtlCol="0" anchor="ctr"/>
          <a:lstStyle/>
          <a:p>
            <a:pPr indent="0" marL="0">
              <a:buNone/>
            </a:pPr>
            <a:r>
              <a:rPr lang="en-US" sz="1500" dirty="0">
                <a:solidFill>
                  <a:srgbClr val="FFE534"/>
                </a:solidFill>
                <a:latin typeface="Lexend" pitchFamily="34" charset="0"/>
                <a:ea typeface="Lexend" pitchFamily="34" charset="-122"/>
                <a:cs typeface="Lexend" pitchFamily="34" charset="-120"/>
              </a:rPr>
              <a:t>Part 1</a:t>
            </a:r>
            <a:endParaRPr lang="en-US" sz="1500" dirty="0"/>
          </a:p>
        </p:txBody>
      </p:sp>
      <p:sp>
        <p:nvSpPr>
          <p:cNvPr id="3" name="Text 1"/>
          <p:cNvSpPr txBox="1"/>
          <p:nvPr/>
        </p:nvSpPr>
        <p:spPr>
          <a:xfrm>
            <a:off x="457200" y="1810512"/>
            <a:ext cx="8229600" cy="777240"/>
          </a:xfrm>
          <a:prstGeom prst="rect">
            <a:avLst/>
          </a:prstGeom>
          <a:noFill/>
          <a:ln/>
        </p:spPr>
        <p:txBody>
          <a:bodyPr wrap="square" lIns="0" tIns="0" rIns="0" bIns="0" rtlCol="0" anchor="ctr"/>
          <a:lstStyle/>
          <a:p>
            <a:pPr indent="0" marL="0">
              <a:buNone/>
            </a:pPr>
            <a:r>
              <a:rPr lang="en-US" sz="3400" b="1" dirty="0">
                <a:solidFill>
                  <a:srgbClr val="FFFFF0"/>
                </a:solidFill>
                <a:latin typeface="Lexend SemiBold" pitchFamily="34" charset="0"/>
                <a:ea typeface="Lexend SemiBold" pitchFamily="34" charset="-122"/>
                <a:cs typeface="Lexend SemiBold" pitchFamily="34" charset="-120"/>
              </a:rPr>
              <a:t>Building the New Database</a:t>
            </a:r>
            <a:endParaRPr lang="en-US" sz="3400" dirty="0"/>
          </a:p>
        </p:txBody>
      </p:sp>
      <p:sp>
        <p:nvSpPr>
          <p:cNvPr id="4" name="Text 2"/>
          <p:cNvSpPr txBox="1"/>
          <p:nvPr/>
        </p:nvSpPr>
        <p:spPr>
          <a:xfrm>
            <a:off x="457200" y="2743200"/>
            <a:ext cx="6858000" cy="457200"/>
          </a:xfrm>
          <a:prstGeom prst="rect">
            <a:avLst/>
          </a:prstGeom>
          <a:noFill/>
          <a:ln/>
        </p:spPr>
        <p:txBody>
          <a:bodyPr wrap="square" lIns="0" tIns="0" rIns="0" bIns="0" rtlCol="0" anchor="ctr"/>
          <a:lstStyle/>
          <a:p>
            <a:pPr indent="0" marL="0">
              <a:buNone/>
            </a:pPr>
            <a:r>
              <a:rPr lang="en-US" sz="1150" dirty="0">
                <a:solidFill>
                  <a:srgbClr val="D8E4D6"/>
                </a:solidFill>
                <a:latin typeface="Lexend" pitchFamily="34" charset="0"/>
                <a:ea typeface="Lexend" pitchFamily="34" charset="-122"/>
                <a:cs typeface="Lexend" pitchFamily="34" charset="-120"/>
              </a:rPr>
              <a:t>Why we rebuilt it, what changed, and what the work actually took.</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THE SERVICE</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What we are talking about</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Text 3"/>
          <p:cNvSpPr txBox="1"/>
          <p:nvPr/>
        </p:nvSpPr>
        <p:spPr>
          <a:xfrm>
            <a:off x="457200" y="1143000"/>
            <a:ext cx="4572000" cy="137160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The official annual statistics platform of the Council on East Asian Libraries</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Around 50 North American libraries submit data every year</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Results are published in the Journal of East Asian Libraries</a:t>
            </a:r>
            <a:endParaRPr lang="en-US" sz="1100" dirty="0"/>
          </a:p>
        </p:txBody>
      </p:sp>
      <p:sp>
        <p:nvSpPr>
          <p:cNvPr id="6" name="Shape 4"/>
          <p:cNvSpPr/>
          <p:nvPr/>
        </p:nvSpPr>
        <p:spPr>
          <a:xfrm>
            <a:off x="5257800" y="1143000"/>
            <a:ext cx="914400" cy="987552"/>
          </a:xfrm>
          <a:prstGeom prst="roundRect">
            <a:avLst>
              <a:gd name="adj" fmla="val 6000"/>
            </a:avLst>
          </a:prstGeom>
          <a:solidFill>
            <a:srgbClr val="FFFFFF"/>
          </a:solidFill>
          <a:ln w="9525">
            <a:solidFill>
              <a:srgbClr val="DBC89F"/>
            </a:solidFill>
            <a:prstDash val="solid"/>
          </a:ln>
        </p:spPr>
      </p:sp>
      <p:sp>
        <p:nvSpPr>
          <p:cNvPr id="7" name="Text 5"/>
          <p:cNvSpPr txBox="1"/>
          <p:nvPr/>
        </p:nvSpPr>
        <p:spPr>
          <a:xfrm>
            <a:off x="5257800" y="1234440"/>
            <a:ext cx="914400" cy="512064"/>
          </a:xfrm>
          <a:prstGeom prst="rect">
            <a:avLst/>
          </a:prstGeom>
          <a:noFill/>
          <a:ln/>
        </p:spPr>
        <p:txBody>
          <a:bodyPr wrap="square" lIns="0" tIns="0" rIns="0" bIns="0" rtlCol="0" anchor="ctr"/>
          <a:lstStyle/>
          <a:p>
            <a:pPr algn="ctr" indent="0" marL="0">
              <a:buNone/>
            </a:pPr>
            <a:r>
              <a:rPr lang="en-US" sz="2800" b="1" dirty="0">
                <a:solidFill>
                  <a:srgbClr val="FF6652"/>
                </a:solidFill>
                <a:latin typeface="Lexend SemiBold" pitchFamily="34" charset="0"/>
                <a:ea typeface="Lexend SemiBold" pitchFamily="34" charset="-122"/>
                <a:cs typeface="Lexend SemiBold" pitchFamily="34" charset="-120"/>
              </a:rPr>
              <a:t>~50</a:t>
            </a:r>
            <a:endParaRPr lang="en-US" sz="2800" dirty="0"/>
          </a:p>
        </p:txBody>
      </p:sp>
      <p:sp>
        <p:nvSpPr>
          <p:cNvPr id="8" name="Text 6"/>
          <p:cNvSpPr txBox="1"/>
          <p:nvPr/>
        </p:nvSpPr>
        <p:spPr>
          <a:xfrm>
            <a:off x="5257800" y="1764792"/>
            <a:ext cx="91440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LIBRARIES</a:t>
            </a:r>
            <a:endParaRPr lang="en-US" sz="750" dirty="0"/>
          </a:p>
        </p:txBody>
      </p:sp>
      <p:sp>
        <p:nvSpPr>
          <p:cNvPr id="9" name="Shape 7"/>
          <p:cNvSpPr/>
          <p:nvPr/>
        </p:nvSpPr>
        <p:spPr>
          <a:xfrm>
            <a:off x="6309360" y="1143000"/>
            <a:ext cx="914400" cy="987552"/>
          </a:xfrm>
          <a:prstGeom prst="roundRect">
            <a:avLst>
              <a:gd name="adj" fmla="val 6000"/>
            </a:avLst>
          </a:prstGeom>
          <a:solidFill>
            <a:srgbClr val="FFFFFF"/>
          </a:solidFill>
          <a:ln w="9525">
            <a:solidFill>
              <a:srgbClr val="DBC89F"/>
            </a:solidFill>
            <a:prstDash val="solid"/>
          </a:ln>
        </p:spPr>
      </p:sp>
      <p:sp>
        <p:nvSpPr>
          <p:cNvPr id="10" name="Text 8"/>
          <p:cNvSpPr txBox="1"/>
          <p:nvPr/>
        </p:nvSpPr>
        <p:spPr>
          <a:xfrm>
            <a:off x="6309360" y="1234440"/>
            <a:ext cx="914400" cy="512064"/>
          </a:xfrm>
          <a:prstGeom prst="rect">
            <a:avLst/>
          </a:prstGeom>
          <a:noFill/>
          <a:ln/>
        </p:spPr>
        <p:txBody>
          <a:bodyPr wrap="square" lIns="0" tIns="0" rIns="0" bIns="0" rtlCol="0" anchor="ctr"/>
          <a:lstStyle/>
          <a:p>
            <a:pPr algn="ctr" indent="0" marL="0">
              <a:buNone/>
            </a:pPr>
            <a:r>
              <a:rPr lang="en-US" sz="2800" b="1" dirty="0">
                <a:solidFill>
                  <a:srgbClr val="51BD85"/>
                </a:solidFill>
                <a:latin typeface="Lexend SemiBold" pitchFamily="34" charset="0"/>
                <a:ea typeface="Lexend SemiBold" pitchFamily="34" charset="-122"/>
                <a:cs typeface="Lexend SemiBold" pitchFamily="34" charset="-120"/>
              </a:rPr>
              <a:t>1869</a:t>
            </a:r>
            <a:endParaRPr lang="en-US" sz="2800" dirty="0"/>
          </a:p>
        </p:txBody>
      </p:sp>
      <p:sp>
        <p:nvSpPr>
          <p:cNvPr id="11" name="Text 9"/>
          <p:cNvSpPr txBox="1"/>
          <p:nvPr/>
        </p:nvSpPr>
        <p:spPr>
          <a:xfrm>
            <a:off x="6309360" y="1764792"/>
            <a:ext cx="91440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EARLIEST</a:t>
            </a:r>
            <a:endParaRPr lang="en-US" sz="750" dirty="0"/>
          </a:p>
        </p:txBody>
      </p:sp>
      <p:sp>
        <p:nvSpPr>
          <p:cNvPr id="12" name="Shape 10"/>
          <p:cNvSpPr/>
          <p:nvPr/>
        </p:nvSpPr>
        <p:spPr>
          <a:xfrm>
            <a:off x="7360920" y="1143000"/>
            <a:ext cx="868680" cy="987552"/>
          </a:xfrm>
          <a:prstGeom prst="roundRect">
            <a:avLst>
              <a:gd name="adj" fmla="val 6316"/>
            </a:avLst>
          </a:prstGeom>
          <a:solidFill>
            <a:srgbClr val="FFFFFF"/>
          </a:solidFill>
          <a:ln w="9525">
            <a:solidFill>
              <a:srgbClr val="DBC89F"/>
            </a:solidFill>
            <a:prstDash val="solid"/>
          </a:ln>
        </p:spPr>
      </p:sp>
      <p:sp>
        <p:nvSpPr>
          <p:cNvPr id="13" name="Text 11"/>
          <p:cNvSpPr txBox="1"/>
          <p:nvPr/>
        </p:nvSpPr>
        <p:spPr>
          <a:xfrm>
            <a:off x="7360920" y="1234440"/>
            <a:ext cx="868680" cy="512064"/>
          </a:xfrm>
          <a:prstGeom prst="rect">
            <a:avLst/>
          </a:prstGeom>
          <a:noFill/>
          <a:ln/>
        </p:spPr>
        <p:txBody>
          <a:bodyPr wrap="square" lIns="0" tIns="0" rIns="0" bIns="0" rtlCol="0" anchor="ctr"/>
          <a:lstStyle/>
          <a:p>
            <a:pPr algn="ctr" indent="0" marL="0">
              <a:buNone/>
            </a:pPr>
            <a:r>
              <a:rPr lang="en-US" sz="2800" b="1" dirty="0">
                <a:solidFill>
                  <a:srgbClr val="6AD2E6"/>
                </a:solidFill>
                <a:latin typeface="Lexend SemiBold" pitchFamily="34" charset="0"/>
                <a:ea typeface="Lexend SemiBold" pitchFamily="34" charset="-122"/>
                <a:cs typeface="Lexend SemiBold" pitchFamily="34" charset="-120"/>
              </a:rPr>
              <a:t>1999</a:t>
            </a:r>
            <a:endParaRPr lang="en-US" sz="2800" dirty="0"/>
          </a:p>
        </p:txBody>
      </p:sp>
      <p:sp>
        <p:nvSpPr>
          <p:cNvPr id="14" name="Text 12"/>
          <p:cNvSpPr txBox="1"/>
          <p:nvPr/>
        </p:nvSpPr>
        <p:spPr>
          <a:xfrm>
            <a:off x="7360920" y="1764792"/>
            <a:ext cx="86868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ONLINE</a:t>
            </a:r>
            <a:endParaRPr lang="en-US" sz="750" dirty="0"/>
          </a:p>
        </p:txBody>
      </p:sp>
      <p:sp>
        <p:nvSpPr>
          <p:cNvPr id="15" name="Shape 13"/>
          <p:cNvSpPr/>
          <p:nvPr/>
        </p:nvSpPr>
        <p:spPr>
          <a:xfrm>
            <a:off x="5257800" y="2331720"/>
            <a:ext cx="2971800" cy="1143000"/>
          </a:xfrm>
          <a:prstGeom prst="roundRect">
            <a:avLst>
              <a:gd name="adj" fmla="val 4800"/>
            </a:avLst>
          </a:prstGeom>
          <a:solidFill>
            <a:srgbClr val="D8E4D6"/>
          </a:solidFill>
          <a:ln w="9525">
            <a:solidFill>
              <a:srgbClr val="DBC89F"/>
            </a:solidFill>
            <a:prstDash val="solid"/>
          </a:ln>
        </p:spPr>
      </p:sp>
      <p:sp>
        <p:nvSpPr>
          <p:cNvPr id="16" name="Text 14"/>
          <p:cNvSpPr txBox="1"/>
          <p:nvPr/>
        </p:nvSpPr>
        <p:spPr>
          <a:xfrm>
            <a:off x="5422392" y="2432304"/>
            <a:ext cx="2651760" cy="960120"/>
          </a:xfrm>
          <a:prstGeom prst="rect">
            <a:avLst/>
          </a:prstGeom>
          <a:noFill/>
          <a:ln/>
        </p:spPr>
        <p:txBody>
          <a:bodyPr wrap="square" lIns="0" tIns="0" rIns="0" bIns="0" rtlCol="0" anchor="ctr"/>
          <a:lstStyle/>
          <a:p>
            <a:pPr indent="0" marL="0">
              <a:lnSpc>
                <a:spcPct val="115000"/>
              </a:lnSpc>
              <a:buNone/>
            </a:pPr>
            <a:r>
              <a:rPr lang="en-US" sz="1200" b="1" dirty="0">
                <a:solidFill>
                  <a:srgbClr val="1D1D1D"/>
                </a:solidFill>
                <a:latin typeface="Lexend SemiBold" pitchFamily="34" charset="0"/>
                <a:ea typeface="Lexend SemiBold" pitchFamily="34" charset="-122"/>
                <a:cs typeface="Lexend SemiBold" pitchFamily="34" charset="-120"/>
              </a:rPr>
              <a:t>Not a new project.</a:t>
            </a:r>
            <a:endParaRPr lang="en-US" sz="1200" dirty="0"/>
          </a:p>
          <a:p>
            <a:pPr indent="0" marL="0">
              <a:lnSpc>
                <a:spcPct val="115000"/>
              </a:lnSpc>
              <a:buNone/>
            </a:pPr>
            <a:r>
              <a:rPr lang="en-US" sz="1200" b="1" dirty="0">
                <a:solidFill>
                  <a:srgbClr val="1D1D1D"/>
                </a:solidFill>
                <a:latin typeface="Lexend SemiBold" pitchFamily="34" charset="0"/>
                <a:ea typeface="Lexend SemiBold" pitchFamily="34" charset="-122"/>
                <a:cs typeface="Lexend SemiBold" pitchFamily="34" charset="-120"/>
              </a:rPr>
              <a:t>A twenty-five year old service that needed a new home.</a:t>
            </a:r>
            <a:endParaRPr lang="en-US" sz="1200" dirty="0"/>
          </a:p>
        </p:txBody>
      </p:sp>
      <p:sp>
        <p:nvSpPr>
          <p:cNvPr id="17" name="Shape 15"/>
          <p:cNvSpPr/>
          <p:nvPr/>
        </p:nvSpPr>
        <p:spPr>
          <a:xfrm>
            <a:off x="457200" y="3794760"/>
            <a:ext cx="8229600" cy="566928"/>
          </a:xfrm>
          <a:prstGeom prst="roundRect">
            <a:avLst>
              <a:gd name="adj" fmla="val 9677"/>
            </a:avLst>
          </a:prstGeom>
          <a:solidFill>
            <a:srgbClr val="D8E4D6"/>
          </a:solidFill>
          <a:ln w="9525">
            <a:solidFill>
              <a:srgbClr val="DBC89F"/>
            </a:solidFill>
            <a:prstDash val="solid"/>
          </a:ln>
        </p:spPr>
      </p:sp>
      <p:sp>
        <p:nvSpPr>
          <p:cNvPr id="18" name="Text 16"/>
          <p:cNvSpPr txBox="1"/>
          <p:nvPr/>
        </p:nvSpPr>
        <p:spPr>
          <a:xfrm>
            <a:off x="640080" y="3831336"/>
            <a:ext cx="7863840" cy="493776"/>
          </a:xfrm>
          <a:prstGeom prst="rect">
            <a:avLst/>
          </a:prstGeom>
          <a:noFill/>
          <a:ln/>
        </p:spPr>
        <p:txBody>
          <a:bodyPr wrap="square" lIns="0" tIns="0" rIns="0" bIns="0" rtlCol="0" anchor="ctr"/>
          <a:lstStyle/>
          <a:p>
            <a:pPr indent="0" marL="0">
              <a:buNone/>
            </a:pPr>
            <a:r>
              <a:rPr lang="en-US" sz="1150" b="1" dirty="0">
                <a:solidFill>
                  <a:srgbClr val="1D1D1D"/>
                </a:solidFill>
                <a:latin typeface="Lexend SemiBold" pitchFamily="34" charset="0"/>
                <a:ea typeface="Lexend SemiBold" pitchFamily="34" charset="-122"/>
                <a:cs typeface="Lexend SemiBold" pitchFamily="34" charset="-120"/>
              </a:rPr>
              <a:t>One place to report your numbers. One place to look everyone else’s up.</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THE SAME SCREEN, THEN AND NOW</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Where we started</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Text 3"/>
          <p:cNvSpPr txBox="1"/>
          <p:nvPr/>
        </p:nvSpPr>
        <p:spPr>
          <a:xfrm>
            <a:off x="1234440" y="1060704"/>
            <a:ext cx="3154680" cy="219456"/>
          </a:xfrm>
          <a:prstGeom prst="rect">
            <a:avLst/>
          </a:prstGeom>
          <a:noFill/>
          <a:ln/>
        </p:spPr>
        <p:txBody>
          <a:bodyPr wrap="square" lIns="0" tIns="0" rIns="0" bIns="0" rtlCol="0" anchor="ctr"/>
          <a:lstStyle/>
          <a:p>
            <a:pPr indent="0" marL="0">
              <a:buNone/>
            </a:pPr>
            <a:r>
              <a:rPr lang="en-US" sz="950" b="1" spc="80" kern="0" dirty="0">
                <a:solidFill>
                  <a:srgbClr val="76766B"/>
                </a:solidFill>
                <a:latin typeface="Lexend SemiBold" pitchFamily="34" charset="0"/>
                <a:ea typeface="Lexend SemiBold" pitchFamily="34" charset="-122"/>
                <a:cs typeface="Lexend SemiBold" pitchFamily="34" charset="-120"/>
              </a:rPr>
              <a:t>BEFORE  ·  ceal.ku.edu</a:t>
            </a:r>
            <a:endParaRPr lang="en-US" sz="950" dirty="0"/>
          </a:p>
        </p:txBody>
      </p:sp>
      <p:sp>
        <p:nvSpPr>
          <p:cNvPr id="6" name="Text 4"/>
          <p:cNvSpPr txBox="1"/>
          <p:nvPr/>
        </p:nvSpPr>
        <p:spPr>
          <a:xfrm>
            <a:off x="4754880" y="1060704"/>
            <a:ext cx="3154680" cy="219456"/>
          </a:xfrm>
          <a:prstGeom prst="rect">
            <a:avLst/>
          </a:prstGeom>
          <a:noFill/>
          <a:ln/>
        </p:spPr>
        <p:txBody>
          <a:bodyPr wrap="square" lIns="0" tIns="0" rIns="0" bIns="0" rtlCol="0" anchor="ctr"/>
          <a:lstStyle/>
          <a:p>
            <a:pPr indent="0" marL="0">
              <a:buNone/>
            </a:pPr>
            <a:r>
              <a:rPr lang="en-US" sz="950" b="1" spc="80" kern="0" dirty="0">
                <a:solidFill>
                  <a:srgbClr val="FF6652"/>
                </a:solidFill>
                <a:latin typeface="Lexend SemiBold" pitchFamily="34" charset="0"/>
                <a:ea typeface="Lexend SemiBold" pitchFamily="34" charset="-122"/>
                <a:cs typeface="Lexend SemiBold" pitchFamily="34" charset="-120"/>
              </a:rPr>
              <a:t>AFTER  ·  cealstats.org</a:t>
            </a:r>
            <a:endParaRPr lang="en-US" sz="950" dirty="0"/>
          </a:p>
        </p:txBody>
      </p:sp>
      <p:sp>
        <p:nvSpPr>
          <p:cNvPr id="7" name="Shape 5"/>
          <p:cNvSpPr/>
          <p:nvPr/>
        </p:nvSpPr>
        <p:spPr>
          <a:xfrm>
            <a:off x="1234440" y="1335024"/>
            <a:ext cx="3154680" cy="2670048"/>
          </a:xfrm>
          <a:prstGeom prst="rect">
            <a:avLst/>
          </a:prstGeom>
          <a:solidFill>
            <a:srgbClr val="FFFFFF"/>
          </a:solidFill>
          <a:ln w="12700">
            <a:solidFill>
              <a:srgbClr val="DBC89F"/>
            </a:solidFill>
            <a:prstDash val="dash"/>
          </a:ln>
        </p:spPr>
      </p:sp>
      <p:sp>
        <p:nvSpPr>
          <p:cNvPr id="8" name="Text 6"/>
          <p:cNvSpPr txBox="1"/>
          <p:nvPr/>
        </p:nvSpPr>
        <p:spPr>
          <a:xfrm>
            <a:off x="1371600" y="2395728"/>
            <a:ext cx="2880360" cy="548640"/>
          </a:xfrm>
          <a:prstGeom prst="rect">
            <a:avLst/>
          </a:prstGeom>
          <a:noFill/>
          <a:ln/>
        </p:spPr>
        <p:txBody>
          <a:bodyPr wrap="square" lIns="0" tIns="0" rIns="0" bIns="0" rtlCol="0" anchor="ctr"/>
          <a:lstStyle/>
          <a:p>
            <a:pPr algn="ctr" indent="0" marL="0">
              <a:buNone/>
            </a:pPr>
            <a:r>
              <a:rPr lang="en-US" sz="900" dirty="0">
                <a:solidFill>
                  <a:srgbClr val="76766B"/>
                </a:solidFill>
                <a:latin typeface="Lexend" pitchFamily="34" charset="0"/>
                <a:ea typeface="Lexend" pitchFamily="34" charset="-122"/>
                <a:cs typeface="Lexend" pitchFamily="34" charset="-120"/>
              </a:rPr>
              <a:t>旧站会员区</a:t>
            </a:r>
            <a:endParaRPr lang="en-US" sz="900" dirty="0"/>
          </a:p>
          <a:p>
            <a:pPr algn="ctr" indent="0" marL="0">
              <a:buNone/>
            </a:pPr>
            <a:r>
              <a:rPr lang="en-US" sz="900" dirty="0">
                <a:solidFill>
                  <a:srgbClr val="76766B"/>
                </a:solidFill>
                <a:latin typeface="Lexend" pitchFamily="34" charset="0"/>
                <a:ea typeface="Lexend" pitchFamily="34" charset="-122"/>
                <a:cs typeface="Lexend" pitchFamily="34" charset="-120"/>
              </a:rPr>
              <a:t>ceal.ku.edu/member</a:t>
            </a:r>
            <a:endParaRPr lang="en-US" sz="900" dirty="0"/>
          </a:p>
        </p:txBody>
      </p:sp>
      <p:sp>
        <p:nvSpPr>
          <p:cNvPr id="9" name="Shape 7"/>
          <p:cNvSpPr/>
          <p:nvPr/>
        </p:nvSpPr>
        <p:spPr>
          <a:xfrm>
            <a:off x="4754880" y="1335024"/>
            <a:ext cx="3154680" cy="2670048"/>
          </a:xfrm>
          <a:prstGeom prst="rect">
            <a:avLst/>
          </a:prstGeom>
          <a:solidFill>
            <a:srgbClr val="FFFFFF"/>
          </a:solidFill>
          <a:ln w="12700">
            <a:solidFill>
              <a:srgbClr val="DBC89F"/>
            </a:solidFill>
            <a:prstDash val="dash"/>
          </a:ln>
        </p:spPr>
      </p:sp>
      <p:sp>
        <p:nvSpPr>
          <p:cNvPr id="10" name="Text 8"/>
          <p:cNvSpPr txBox="1"/>
          <p:nvPr/>
        </p:nvSpPr>
        <p:spPr>
          <a:xfrm>
            <a:off x="4892040" y="2395728"/>
            <a:ext cx="2880360" cy="548640"/>
          </a:xfrm>
          <a:prstGeom prst="rect">
            <a:avLst/>
          </a:prstGeom>
          <a:noFill/>
          <a:ln/>
        </p:spPr>
        <p:txBody>
          <a:bodyPr wrap="square" lIns="0" tIns="0" rIns="0" bIns="0" rtlCol="0" anchor="ctr"/>
          <a:lstStyle/>
          <a:p>
            <a:pPr algn="ctr" indent="0" marL="0">
              <a:buNone/>
            </a:pPr>
            <a:r>
              <a:rPr lang="en-US" sz="900" dirty="0">
                <a:solidFill>
                  <a:srgbClr val="76766B"/>
                </a:solidFill>
                <a:latin typeface="Lexend" pitchFamily="34" charset="0"/>
                <a:ea typeface="Lexend" pitchFamily="34" charset="-122"/>
                <a:cs typeface="Lexend" pitchFamily="34" charset="-120"/>
              </a:rPr>
              <a:t>新站 Dashboard</a:t>
            </a:r>
            <a:endParaRPr lang="en-US" sz="900" dirty="0"/>
          </a:p>
          <a:p>
            <a:pPr algn="ctr" indent="0" marL="0">
              <a:buNone/>
            </a:pPr>
            <a:r>
              <a:rPr lang="en-US" sz="900" dirty="0">
                <a:solidFill>
                  <a:srgbClr val="76766B"/>
                </a:solidFill>
                <a:latin typeface="Lexend" pitchFamily="34" charset="0"/>
                <a:ea typeface="Lexend" pitchFamily="34" charset="-122"/>
                <a:cs typeface="Lexend" pitchFamily="34" charset="-120"/>
              </a:rPr>
              <a:t>cealstats.org/admin</a:t>
            </a:r>
            <a:endParaRPr lang="en-US" sz="900" dirty="0"/>
          </a:p>
        </p:txBody>
      </p:sp>
      <p:sp>
        <p:nvSpPr>
          <p:cNvPr id="11" name="Shape 9"/>
          <p:cNvSpPr/>
          <p:nvPr/>
        </p:nvSpPr>
        <p:spPr>
          <a:xfrm>
            <a:off x="457200" y="4169664"/>
            <a:ext cx="8229600" cy="566928"/>
          </a:xfrm>
          <a:prstGeom prst="roundRect">
            <a:avLst>
              <a:gd name="adj" fmla="val 9677"/>
            </a:avLst>
          </a:prstGeom>
          <a:solidFill>
            <a:srgbClr val="D8E4D6"/>
          </a:solidFill>
          <a:ln w="9525">
            <a:solidFill>
              <a:srgbClr val="DBC89F"/>
            </a:solidFill>
            <a:prstDash val="solid"/>
          </a:ln>
        </p:spPr>
      </p:sp>
      <p:sp>
        <p:nvSpPr>
          <p:cNvPr id="12" name="Text 10"/>
          <p:cNvSpPr txBox="1"/>
          <p:nvPr/>
        </p:nvSpPr>
        <p:spPr>
          <a:xfrm>
            <a:off x="640080" y="4206240"/>
            <a:ext cx="7863840" cy="493776"/>
          </a:xfrm>
          <a:prstGeom prst="rect">
            <a:avLst/>
          </a:prstGeom>
          <a:noFill/>
          <a:ln/>
        </p:spPr>
        <p:txBody>
          <a:bodyPr wrap="square" lIns="0" tIns="0" rIns="0" bIns="0" rtlCol="0" anchor="ctr"/>
          <a:lstStyle/>
          <a:p>
            <a:pPr indent="0" marL="0">
              <a:buNone/>
            </a:pPr>
            <a:r>
              <a:rPr lang="en-US" sz="1150" b="1" dirty="0">
                <a:solidFill>
                  <a:srgbClr val="1D1D1D"/>
                </a:solidFill>
                <a:latin typeface="Lexend SemiBold" pitchFamily="34" charset="0"/>
                <a:ea typeface="Lexend SemiBold" pitchFamily="34" charset="-122"/>
                <a:cs typeface="Lexend SemiBold" pitchFamily="34" charset="-120"/>
              </a:rPr>
              <a:t>Both of these are the first screen you see after signing in.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THE BRIEF</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What we set out to do</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097280"/>
            <a:ext cx="8229600" cy="640080"/>
          </a:xfrm>
          <a:prstGeom prst="roundRect">
            <a:avLst>
              <a:gd name="adj" fmla="val 8571"/>
            </a:avLst>
          </a:prstGeom>
          <a:solidFill>
            <a:srgbClr val="D8E4D6"/>
          </a:solidFill>
          <a:ln w="9525">
            <a:solidFill>
              <a:srgbClr val="DBC89F"/>
            </a:solidFill>
            <a:prstDash val="solid"/>
          </a:ln>
        </p:spPr>
      </p:sp>
      <p:sp>
        <p:nvSpPr>
          <p:cNvPr id="6" name="Text 4"/>
          <p:cNvSpPr txBox="1"/>
          <p:nvPr/>
        </p:nvSpPr>
        <p:spPr>
          <a:xfrm>
            <a:off x="658368" y="1143000"/>
            <a:ext cx="7827264" cy="548640"/>
          </a:xfrm>
          <a:prstGeom prst="rect">
            <a:avLst/>
          </a:prstGeom>
          <a:noFill/>
          <a:ln/>
        </p:spPr>
        <p:txBody>
          <a:bodyPr wrap="square" lIns="0" tIns="0" rIns="0" bIns="0" rtlCol="0" anchor="ctr"/>
          <a:lstStyle/>
          <a:p>
            <a:pPr indent="0" marL="0">
              <a:buNone/>
            </a:pPr>
            <a:r>
              <a:rPr lang="en-US" sz="1900" b="1" dirty="0">
                <a:solidFill>
                  <a:srgbClr val="1D1D1D"/>
                </a:solidFill>
                <a:latin typeface="Lexend SemiBold" pitchFamily="34" charset="0"/>
                <a:ea typeface="Lexend SemiBold" pitchFamily="34" charset="-122"/>
                <a:cs typeface="Lexend SemiBold" pitchFamily="34" charset="-120"/>
              </a:rPr>
              <a:t>Keep every function. Replace the experience.</a:t>
            </a:r>
            <a:endParaRPr lang="en-US" sz="1900" dirty="0"/>
          </a:p>
        </p:txBody>
      </p:sp>
      <p:sp>
        <p:nvSpPr>
          <p:cNvPr id="7" name="Shape 5"/>
          <p:cNvSpPr/>
          <p:nvPr/>
        </p:nvSpPr>
        <p:spPr>
          <a:xfrm>
            <a:off x="457200" y="1933956"/>
            <a:ext cx="274320" cy="274320"/>
          </a:xfrm>
          <a:prstGeom prst="ellipse">
            <a:avLst/>
          </a:prstGeom>
          <a:solidFill>
            <a:srgbClr val="FF6652"/>
          </a:solidFill>
          <a:ln w="12700">
            <a:solidFill>
              <a:srgbClr val="333333"/>
            </a:solidFill>
            <a:prstDash val="solid"/>
          </a:ln>
        </p:spPr>
      </p:sp>
      <p:sp>
        <p:nvSpPr>
          <p:cNvPr id="8" name="Text 6"/>
          <p:cNvSpPr txBox="1"/>
          <p:nvPr/>
        </p:nvSpPr>
        <p:spPr>
          <a:xfrm>
            <a:off x="457200" y="193395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1</a:t>
            </a:r>
            <a:endParaRPr lang="en-US" sz="1000" dirty="0"/>
          </a:p>
        </p:txBody>
      </p:sp>
      <p:sp>
        <p:nvSpPr>
          <p:cNvPr id="9" name="Text 7"/>
          <p:cNvSpPr txBox="1"/>
          <p:nvPr/>
        </p:nvSpPr>
        <p:spPr>
          <a:xfrm>
            <a:off x="877824" y="1920240"/>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Match the old site feature for feature</a:t>
            </a:r>
            <a:endParaRPr lang="en-US" sz="1250" dirty="0"/>
          </a:p>
        </p:txBody>
      </p:sp>
      <p:sp>
        <p:nvSpPr>
          <p:cNvPr id="10" name="Text 8"/>
          <p:cNvSpPr txBox="1"/>
          <p:nvPr/>
        </p:nvSpPr>
        <p:spPr>
          <a:xfrm>
            <a:off x="877824" y="2148840"/>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Remove nothing because it was inconvenient to rebuild.</a:t>
            </a:r>
            <a:endParaRPr lang="en-US" sz="1000" dirty="0"/>
          </a:p>
        </p:txBody>
      </p:sp>
      <p:sp>
        <p:nvSpPr>
          <p:cNvPr id="11" name="Shape 9"/>
          <p:cNvSpPr/>
          <p:nvPr/>
        </p:nvSpPr>
        <p:spPr>
          <a:xfrm>
            <a:off x="457200" y="2647188"/>
            <a:ext cx="274320" cy="274320"/>
          </a:xfrm>
          <a:prstGeom prst="ellipse">
            <a:avLst/>
          </a:prstGeom>
          <a:solidFill>
            <a:srgbClr val="51BD85"/>
          </a:solidFill>
          <a:ln w="12700">
            <a:solidFill>
              <a:srgbClr val="333333"/>
            </a:solidFill>
            <a:prstDash val="solid"/>
          </a:ln>
        </p:spPr>
      </p:sp>
      <p:sp>
        <p:nvSpPr>
          <p:cNvPr id="12" name="Text 10"/>
          <p:cNvSpPr txBox="1"/>
          <p:nvPr/>
        </p:nvSpPr>
        <p:spPr>
          <a:xfrm>
            <a:off x="457200" y="264718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2</a:t>
            </a:r>
            <a:endParaRPr lang="en-US" sz="1000" dirty="0"/>
          </a:p>
        </p:txBody>
      </p:sp>
      <p:sp>
        <p:nvSpPr>
          <p:cNvPr id="13" name="Text 11"/>
          <p:cNvSpPr txBox="1"/>
          <p:nvPr/>
        </p:nvSpPr>
        <p:spPr>
          <a:xfrm>
            <a:off x="877824" y="2633472"/>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Hand the Committee the controls</a:t>
            </a:r>
            <a:endParaRPr lang="en-US" sz="1250" dirty="0"/>
          </a:p>
        </p:txBody>
      </p:sp>
      <p:sp>
        <p:nvSpPr>
          <p:cNvPr id="14" name="Text 12"/>
          <p:cNvSpPr txBox="1"/>
          <p:nvPr/>
        </p:nvSpPr>
        <p:spPr>
          <a:xfrm>
            <a:off x="877824" y="2862072"/>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If the Chair wants to open the survey late, that is a button — not an email to me.</a:t>
            </a:r>
            <a:endParaRPr lang="en-US" sz="1000" dirty="0"/>
          </a:p>
        </p:txBody>
      </p:sp>
      <p:sp>
        <p:nvSpPr>
          <p:cNvPr id="15" name="Shape 13"/>
          <p:cNvSpPr/>
          <p:nvPr/>
        </p:nvSpPr>
        <p:spPr>
          <a:xfrm>
            <a:off x="457200" y="3360420"/>
            <a:ext cx="274320" cy="274320"/>
          </a:xfrm>
          <a:prstGeom prst="ellipse">
            <a:avLst/>
          </a:prstGeom>
          <a:solidFill>
            <a:srgbClr val="6AD2E6"/>
          </a:solidFill>
          <a:ln w="12700">
            <a:solidFill>
              <a:srgbClr val="333333"/>
            </a:solidFill>
            <a:prstDash val="solid"/>
          </a:ln>
        </p:spPr>
      </p:sp>
      <p:sp>
        <p:nvSpPr>
          <p:cNvPr id="16" name="Text 14"/>
          <p:cNvSpPr txBox="1"/>
          <p:nvPr/>
        </p:nvSpPr>
        <p:spPr>
          <a:xfrm>
            <a:off x="457200" y="33604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3</a:t>
            </a:r>
            <a:endParaRPr lang="en-US" sz="1000" dirty="0"/>
          </a:p>
        </p:txBody>
      </p:sp>
      <p:sp>
        <p:nvSpPr>
          <p:cNvPr id="17" name="Text 15"/>
          <p:cNvSpPr txBox="1"/>
          <p:nvPr/>
        </p:nvSpPr>
        <p:spPr>
          <a:xfrm>
            <a:off x="877824" y="3346704"/>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Work on any screen, in any of the languages</a:t>
            </a:r>
            <a:endParaRPr lang="en-US" sz="1250" dirty="0"/>
          </a:p>
        </p:txBody>
      </p:sp>
      <p:sp>
        <p:nvSpPr>
          <p:cNvPr id="18" name="Text 16"/>
          <p:cNvSpPr txBox="1"/>
          <p:nvPr/>
        </p:nvSpPr>
        <p:spPr>
          <a:xfrm>
            <a:off x="877824" y="3575304"/>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And render Chinese, Japanese and Korean properly.</a:t>
            </a:r>
            <a:endParaRPr lang="en-US" sz="1000" dirty="0"/>
          </a:p>
        </p:txBody>
      </p:sp>
      <p:sp>
        <p:nvSpPr>
          <p:cNvPr id="19" name="Shape 17"/>
          <p:cNvSpPr/>
          <p:nvPr/>
        </p:nvSpPr>
        <p:spPr>
          <a:xfrm>
            <a:off x="457200" y="4073652"/>
            <a:ext cx="274320" cy="274320"/>
          </a:xfrm>
          <a:prstGeom prst="ellipse">
            <a:avLst/>
          </a:prstGeom>
          <a:solidFill>
            <a:srgbClr val="1D1D1D"/>
          </a:solidFill>
          <a:ln w="12700">
            <a:solidFill>
              <a:srgbClr val="333333"/>
            </a:solidFill>
            <a:prstDash val="solid"/>
          </a:ln>
        </p:spPr>
      </p:sp>
      <p:sp>
        <p:nvSpPr>
          <p:cNvPr id="20" name="Text 18"/>
          <p:cNvSpPr txBox="1"/>
          <p:nvPr/>
        </p:nvSpPr>
        <p:spPr>
          <a:xfrm>
            <a:off x="457200" y="40736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4</a:t>
            </a:r>
            <a:endParaRPr lang="en-US" sz="1000" dirty="0"/>
          </a:p>
        </p:txBody>
      </p:sp>
      <p:sp>
        <p:nvSpPr>
          <p:cNvPr id="21" name="Text 19"/>
          <p:cNvSpPr txBox="1"/>
          <p:nvPr/>
        </p:nvSpPr>
        <p:spPr>
          <a:xfrm>
            <a:off x="877824" y="4059936"/>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Write it all down</a:t>
            </a:r>
            <a:endParaRPr lang="en-US" sz="1250" dirty="0"/>
          </a:p>
        </p:txBody>
      </p:sp>
      <p:sp>
        <p:nvSpPr>
          <p:cNvPr id="22" name="Text 20"/>
          <p:cNvSpPr txBox="1"/>
          <p:nvPr/>
        </p:nvSpPr>
        <p:spPr>
          <a:xfrm>
            <a:off x="877824" y="4288536"/>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So the next person can take over when we are no longer doing this.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FOUR LEVELS — ALL FOUR PRESERVED</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Who can see and do what</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3840480"/>
                <a:gridCol w="1078992"/>
                <a:gridCol w="1078992"/>
                <a:gridCol w="1078992"/>
                <a:gridCol w="1152144"/>
              </a:tblGrid>
              <a:tr h="274320">
                <a:tc>
                  <a:txBody>
                    <a:bodyPr/>
                    <a:lstStyle/>
                    <a:p>
                      <a:pPr indent="0" marL="0">
                        <a:buNone/>
                      </a:pP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algn="ctr" indent="0" marL="0">
                        <a:buNone/>
                      </a:pPr>
                      <a:r>
                        <a:rPr lang="en-US" sz="950" b="1" dirty="0">
                          <a:solidFill>
                            <a:srgbClr val="FFFFF0"/>
                          </a:solidFill>
                          <a:latin typeface="Lexend SemiBold" pitchFamily="34" charset="0"/>
                          <a:ea typeface="Lexend SemiBold" pitchFamily="34" charset="-122"/>
                          <a:cs typeface="Lexend SemiBold" pitchFamily="34" charset="-120"/>
                        </a:rPr>
                        <a:t>Guest</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algn="ctr" indent="0" marL="0">
                        <a:buNone/>
                      </a:pPr>
                      <a:r>
                        <a:rPr lang="en-US" sz="950" b="1" dirty="0">
                          <a:solidFill>
                            <a:srgbClr val="FFFFF0"/>
                          </a:solidFill>
                          <a:latin typeface="Lexend SemiBold" pitchFamily="34" charset="0"/>
                          <a:ea typeface="Lexend SemiBold" pitchFamily="34" charset="-122"/>
                          <a:cs typeface="Lexend SemiBold" pitchFamily="34" charset="-120"/>
                        </a:rPr>
                        <a:t>Member</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algn="ctr" indent="0" marL="0">
                        <a:buNone/>
                      </a:pPr>
                      <a:r>
                        <a:rPr lang="en-US" sz="950" b="1" dirty="0">
                          <a:solidFill>
                            <a:srgbClr val="FFFFF0"/>
                          </a:solidFill>
                          <a:latin typeface="Lexend SemiBold" pitchFamily="34" charset="0"/>
                          <a:ea typeface="Lexend SemiBold" pitchFamily="34" charset="-122"/>
                          <a:cs typeface="Lexend SemiBold" pitchFamily="34" charset="-120"/>
                        </a:rPr>
                        <a:t>Editor</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algn="ctr" indent="0" marL="0">
                        <a:buNone/>
                      </a:pPr>
                      <a:r>
                        <a:rPr lang="en-US" sz="950" b="1" dirty="0">
                          <a:solidFill>
                            <a:srgbClr val="FFFFF0"/>
                          </a:solidFill>
                          <a:latin typeface="Lexend SemiBold" pitchFamily="34" charset="0"/>
                          <a:ea typeface="Lexend SemiBold" pitchFamily="34" charset="-122"/>
                          <a:cs typeface="Lexend SemiBold" pitchFamily="34" charset="-120"/>
                        </a:rPr>
                        <a:t>Super Admin</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r>
              <a:tr h="274320">
                <a:tc>
                  <a:txBody>
                    <a:bodyPr/>
                    <a:lstStyle/>
                    <a:p>
                      <a:pPr indent="0" marL="0">
                        <a:buNone/>
                      </a:pPr>
                      <a:r>
                        <a:rPr lang="en-US" sz="950" dirty="0">
                          <a:solidFill>
                            <a:srgbClr val="1D1D1D"/>
                          </a:solidFill>
                          <a:latin typeface="Lexend" pitchFamily="34" charset="0"/>
                          <a:ea typeface="Lexend" pitchFamily="34" charset="-122"/>
                          <a:cs typeface="Lexend" pitchFamily="34" charset="-120"/>
                        </a:rPr>
                        <a:t>Statistics, charts, published reports</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74320">
                <a:tc>
                  <a:txBody>
                    <a:bodyPr/>
                    <a:lstStyle/>
                    <a:p>
                      <a:pPr indent="0" marL="0">
                        <a:buNone/>
                      </a:pPr>
                      <a:r>
                        <a:rPr lang="en-US" sz="950" dirty="0">
                          <a:solidFill>
                            <a:srgbClr val="1D1D1D"/>
                          </a:solidFill>
                          <a:latin typeface="Lexend" pitchFamily="34" charset="0"/>
                          <a:ea typeface="Lexend" pitchFamily="34" charset="-122"/>
                          <a:cs typeface="Lexend" pitchFamily="34" charset="-120"/>
                        </a:rPr>
                        <a:t>Submit your own library’s forms</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74320">
                <a:tc>
                  <a:txBody>
                    <a:bodyPr/>
                    <a:lstStyle/>
                    <a:p>
                      <a:pPr indent="0" marL="0">
                        <a:buNone/>
                      </a:pPr>
                      <a:r>
                        <a:rPr lang="en-US" sz="950" dirty="0">
                          <a:solidFill>
                            <a:srgbClr val="1D1D1D"/>
                          </a:solidFill>
                          <a:latin typeface="Lexend" pitchFamily="34" charset="0"/>
                          <a:ea typeface="Lexend" pitchFamily="34" charset="-122"/>
                          <a:cs typeface="Lexend" pitchFamily="34" charset="-120"/>
                        </a:rPr>
                        <a:t>Your own multi-year reports and ranking</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74320">
                <a:tc>
                  <a:txBody>
                    <a:bodyPr/>
                    <a:lstStyle/>
                    <a:p>
                      <a:pPr indent="0" marL="0">
                        <a:buNone/>
                      </a:pPr>
                      <a:r>
                        <a:rPr lang="en-US" sz="950" dirty="0">
                          <a:solidFill>
                            <a:srgbClr val="1D1D1D"/>
                          </a:solidFill>
                          <a:latin typeface="Lexend" pitchFamily="34" charset="0"/>
                          <a:ea typeface="Lexend" pitchFamily="34" charset="-122"/>
                          <a:cs typeface="Lexend" pitchFamily="34" charset="-120"/>
                        </a:rPr>
                        <a:t>Maintain the shared database title lists</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74320">
                <a:tc>
                  <a:txBody>
                    <a:bodyPr/>
                    <a:lstStyle/>
                    <a:p>
                      <a:pPr indent="0" marL="0">
                        <a:buNone/>
                      </a:pPr>
                      <a:r>
                        <a:rPr lang="en-US" sz="950" dirty="0">
                          <a:solidFill>
                            <a:srgbClr val="1D1D1D"/>
                          </a:solidFill>
                          <a:latin typeface="Lexend" pitchFamily="34" charset="0"/>
                          <a:ea typeface="Lexend" pitchFamily="34" charset="-122"/>
                          <a:cs typeface="Lexend" pitchFamily="34" charset="-120"/>
                        </a:rPr>
                        <a:t>See and edit every library</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74320">
                <a:tc>
                  <a:txBody>
                    <a:bodyPr/>
                    <a:lstStyle/>
                    <a:p>
                      <a:pPr indent="0" marL="0">
                        <a:buNone/>
                      </a:pPr>
                      <a:r>
                        <a:rPr lang="en-US" sz="950" dirty="0">
                          <a:solidFill>
                            <a:srgbClr val="1D1D1D"/>
                          </a:solidFill>
                          <a:latin typeface="Lexend" pitchFamily="34" charset="0"/>
                          <a:ea typeface="Lexend" pitchFamily="34" charset="-122"/>
                          <a:cs typeface="Lexend" pitchFamily="34" charset="-120"/>
                        </a:rPr>
                        <a:t>Manage people, dates and announcements</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74320">
                <a:tc>
                  <a:txBody>
                    <a:bodyPr/>
                    <a:lstStyle/>
                    <a:p>
                      <a:pPr indent="0" marL="0">
                        <a:buNone/>
                      </a:pPr>
                      <a:r>
                        <a:rPr lang="en-US" sz="950" dirty="0">
                          <a:solidFill>
                            <a:srgbClr val="1D1D1D"/>
                          </a:solidFill>
                          <a:latin typeface="Lexend" pitchFamily="34" charset="0"/>
                          <a:ea typeface="Lexend" pitchFamily="34" charset="-122"/>
                          <a:cs typeface="Lexend" pitchFamily="34" charset="-120"/>
                        </a:rPr>
                        <a:t>Edit after the deadline has passed</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50" b="1" dirty="0">
                          <a:solidFill>
                            <a:srgbClr val="FF6652"/>
                          </a:solidFill>
                          <a:latin typeface="Lexend" pitchFamily="34" charset="0"/>
                          <a:ea typeface="Lexend" pitchFamily="34" charset="-122"/>
                          <a:cs typeface="Lexend" pitchFamily="34" charset="-120"/>
                        </a:rPr>
                        <a:t>●</a:t>
                      </a:r>
                      <a:endParaRPr lang="en-US" sz="95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bl>
          </a:graphicData>
        </a:graphic>
      </p:graphicFrame>
      <p:sp>
        <p:nvSpPr>
          <p:cNvPr id="6" name="Shape 3"/>
          <p:cNvSpPr/>
          <p:nvPr/>
        </p:nvSpPr>
        <p:spPr>
          <a:xfrm>
            <a:off x="457200" y="3703320"/>
            <a:ext cx="8229600" cy="566928"/>
          </a:xfrm>
          <a:prstGeom prst="roundRect">
            <a:avLst>
              <a:gd name="adj" fmla="val 9677"/>
            </a:avLst>
          </a:prstGeom>
          <a:solidFill>
            <a:srgbClr val="D8E4D6"/>
          </a:solidFill>
          <a:ln w="9525">
            <a:solidFill>
              <a:srgbClr val="DBC89F"/>
            </a:solidFill>
            <a:prstDash val="solid"/>
          </a:ln>
        </p:spPr>
      </p:sp>
      <p:sp>
        <p:nvSpPr>
          <p:cNvPr id="7" name="Text 4"/>
          <p:cNvSpPr txBox="1"/>
          <p:nvPr/>
        </p:nvSpPr>
        <p:spPr>
          <a:xfrm>
            <a:off x="640080" y="3739896"/>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Permission is checked in the database — not just hidden in the menu.</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WORKING WITH THE COMMITTEE</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This was never only a coding project</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115568"/>
            <a:ext cx="8229600" cy="1965960"/>
          </a:xfrm>
          <a:prstGeom prst="roundRect">
            <a:avLst>
              <a:gd name="adj" fmla="val 2791"/>
            </a:avLst>
          </a:prstGeom>
          <a:solidFill>
            <a:srgbClr val="D8E4D6"/>
          </a:solidFill>
          <a:ln w="9525">
            <a:solidFill>
              <a:srgbClr val="DBC89F"/>
            </a:solidFill>
            <a:prstDash val="solid"/>
          </a:ln>
        </p:spPr>
      </p:sp>
      <p:sp>
        <p:nvSpPr>
          <p:cNvPr id="6" name="Text 4"/>
          <p:cNvSpPr txBox="1"/>
          <p:nvPr/>
        </p:nvSpPr>
        <p:spPr>
          <a:xfrm>
            <a:off x="658368" y="1225296"/>
            <a:ext cx="7827264" cy="237744"/>
          </a:xfrm>
          <a:prstGeom prst="rect">
            <a:avLst/>
          </a:prstGeom>
          <a:noFill/>
          <a:ln/>
        </p:spPr>
        <p:txBody>
          <a:bodyPr wrap="square" lIns="0" tIns="0" rIns="0" bIns="0" rtlCol="0" anchor="ctr"/>
          <a:lstStyle/>
          <a:p>
            <a:pPr indent="0" marL="0">
              <a:buNone/>
            </a:pPr>
            <a:r>
              <a:rPr lang="en-US" sz="1150" b="1" dirty="0">
                <a:solidFill>
                  <a:srgbClr val="51BD85"/>
                </a:solidFill>
                <a:latin typeface="Lexend SemiBold" pitchFamily="34" charset="0"/>
                <a:ea typeface="Lexend SemiBold" pitchFamily="34" charset="-122"/>
                <a:cs typeface="Lexend SemiBold" pitchFamily="34" charset="-120"/>
              </a:rPr>
              <a:t>Throughout the rebuild, Committee Chair Anlin Yang:</a:t>
            </a:r>
            <a:endParaRPr lang="en-US" sz="1150" dirty="0"/>
          </a:p>
        </p:txBody>
      </p:sp>
      <p:sp>
        <p:nvSpPr>
          <p:cNvPr id="7" name="Text 5"/>
          <p:cNvSpPr txBox="1"/>
          <p:nvPr/>
        </p:nvSpPr>
        <p:spPr>
          <a:xfrm>
            <a:off x="658368" y="1517904"/>
            <a:ext cx="7827264" cy="1463040"/>
          </a:xfrm>
          <a:prstGeom prst="rect">
            <a:avLst/>
          </a:prstGeom>
          <a:noFill/>
          <a:ln/>
        </p:spPr>
        <p:txBody>
          <a:bodyPr wrap="square" lIns="0" tIns="0" rIns="0" bIns="0" rtlCol="0" anchor="t"/>
          <a:lstStyle/>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Explained what each form field actually means — question by question</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Put us in touch with the right person at each library</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Kept the schedule honest, and coordinated every deadline</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Checked the migrated numbers against the historical record</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Made the decisions that unblocked us, quickly, again and again</a:t>
            </a:r>
            <a:endParaRPr lang="en-US" sz="1000" dirty="0"/>
          </a:p>
        </p:txBody>
      </p:sp>
      <p:sp>
        <p:nvSpPr>
          <p:cNvPr id="8" name="Shape 6"/>
          <p:cNvSpPr/>
          <p:nvPr/>
        </p:nvSpPr>
        <p:spPr>
          <a:xfrm>
            <a:off x="457200" y="3200400"/>
            <a:ext cx="1600200" cy="987552"/>
          </a:xfrm>
          <a:prstGeom prst="roundRect">
            <a:avLst>
              <a:gd name="adj" fmla="val 5556"/>
            </a:avLst>
          </a:prstGeom>
          <a:solidFill>
            <a:srgbClr val="FFFFFF"/>
          </a:solidFill>
          <a:ln w="9525">
            <a:solidFill>
              <a:srgbClr val="DBC89F"/>
            </a:solidFill>
            <a:prstDash val="solid"/>
          </a:ln>
        </p:spPr>
      </p:sp>
      <p:sp>
        <p:nvSpPr>
          <p:cNvPr id="9" name="Text 7"/>
          <p:cNvSpPr txBox="1"/>
          <p:nvPr/>
        </p:nvSpPr>
        <p:spPr>
          <a:xfrm>
            <a:off x="457200" y="3291840"/>
            <a:ext cx="1600200" cy="512064"/>
          </a:xfrm>
          <a:prstGeom prst="rect">
            <a:avLst/>
          </a:prstGeom>
          <a:noFill/>
          <a:ln/>
        </p:spPr>
        <p:txBody>
          <a:bodyPr wrap="square" lIns="0" tIns="0" rIns="0" bIns="0" rtlCol="0" anchor="ctr"/>
          <a:lstStyle/>
          <a:p>
            <a:pPr algn="ctr" indent="0" marL="0">
              <a:buNone/>
            </a:pPr>
            <a:r>
              <a:rPr lang="en-US" sz="2800" b="1" dirty="0">
                <a:solidFill>
                  <a:srgbClr val="FF6652"/>
                </a:solidFill>
                <a:latin typeface="Lexend SemiBold" pitchFamily="34" charset="0"/>
                <a:ea typeface="Lexend SemiBold" pitchFamily="34" charset="-122"/>
                <a:cs typeface="Lexend SemiBold" pitchFamily="34" charset="-120"/>
              </a:rPr>
              <a:t>356</a:t>
            </a:r>
            <a:endParaRPr lang="en-US" sz="2800" dirty="0"/>
          </a:p>
        </p:txBody>
      </p:sp>
      <p:sp>
        <p:nvSpPr>
          <p:cNvPr id="10" name="Text 8"/>
          <p:cNvSpPr txBox="1"/>
          <p:nvPr/>
        </p:nvSpPr>
        <p:spPr>
          <a:xfrm>
            <a:off x="457200" y="3822192"/>
            <a:ext cx="160020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EMAILS ABOUT CEAL</a:t>
            </a:r>
            <a:endParaRPr lang="en-US" sz="750" dirty="0"/>
          </a:p>
        </p:txBody>
      </p:sp>
      <p:sp>
        <p:nvSpPr>
          <p:cNvPr id="11" name="Shape 9"/>
          <p:cNvSpPr/>
          <p:nvPr/>
        </p:nvSpPr>
        <p:spPr>
          <a:xfrm>
            <a:off x="2194560" y="3200400"/>
            <a:ext cx="1600200" cy="987552"/>
          </a:xfrm>
          <a:prstGeom prst="roundRect">
            <a:avLst>
              <a:gd name="adj" fmla="val 5556"/>
            </a:avLst>
          </a:prstGeom>
          <a:solidFill>
            <a:srgbClr val="FFFFFF"/>
          </a:solidFill>
          <a:ln w="9525">
            <a:solidFill>
              <a:srgbClr val="DBC89F"/>
            </a:solidFill>
            <a:prstDash val="solid"/>
          </a:ln>
        </p:spPr>
      </p:sp>
      <p:sp>
        <p:nvSpPr>
          <p:cNvPr id="12" name="Text 10"/>
          <p:cNvSpPr txBox="1"/>
          <p:nvPr/>
        </p:nvSpPr>
        <p:spPr>
          <a:xfrm>
            <a:off x="2194560" y="3291840"/>
            <a:ext cx="1600200" cy="512064"/>
          </a:xfrm>
          <a:prstGeom prst="rect">
            <a:avLst/>
          </a:prstGeom>
          <a:noFill/>
          <a:ln/>
        </p:spPr>
        <p:txBody>
          <a:bodyPr wrap="square" lIns="0" tIns="0" rIns="0" bIns="0" rtlCol="0" anchor="ctr"/>
          <a:lstStyle/>
          <a:p>
            <a:pPr algn="ctr" indent="0" marL="0">
              <a:buNone/>
            </a:pPr>
            <a:r>
              <a:rPr lang="en-US" sz="2800" b="1" dirty="0">
                <a:solidFill>
                  <a:srgbClr val="51BD85"/>
                </a:solidFill>
                <a:latin typeface="Lexend SemiBold" pitchFamily="34" charset="0"/>
                <a:ea typeface="Lexend SemiBold" pitchFamily="34" charset="-122"/>
                <a:cs typeface="Lexend SemiBold" pitchFamily="34" charset="-120"/>
              </a:rPr>
              <a:t>185</a:t>
            </a:r>
            <a:endParaRPr lang="en-US" sz="2800" dirty="0"/>
          </a:p>
        </p:txBody>
      </p:sp>
      <p:sp>
        <p:nvSpPr>
          <p:cNvPr id="13" name="Text 11"/>
          <p:cNvSpPr txBox="1"/>
          <p:nvPr/>
        </p:nvSpPr>
        <p:spPr>
          <a:xfrm>
            <a:off x="2194560" y="3822192"/>
            <a:ext cx="160020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ZOOM MEETINGS</a:t>
            </a:r>
            <a:endParaRPr lang="en-US" sz="750" dirty="0"/>
          </a:p>
        </p:txBody>
      </p:sp>
      <p:sp>
        <p:nvSpPr>
          <p:cNvPr id="14" name="Text 12"/>
          <p:cNvSpPr txBox="1"/>
          <p:nvPr/>
        </p:nvSpPr>
        <p:spPr>
          <a:xfrm>
            <a:off x="4069080" y="3218688"/>
            <a:ext cx="4617720" cy="950976"/>
          </a:xfrm>
          <a:prstGeom prst="rect">
            <a:avLst/>
          </a:prstGeom>
          <a:noFill/>
          <a:ln/>
        </p:spPr>
        <p:txBody>
          <a:bodyPr wrap="square" lIns="0" tIns="0" rIns="0" bIns="0" rtlCol="0" anchor="ctr"/>
          <a:lstStyle/>
          <a:p>
            <a:pPr indent="0" marL="0">
              <a:lnSpc>
                <a:spcPct val="112000"/>
              </a:lnSpc>
              <a:buNone/>
            </a:pPr>
            <a:r>
              <a:rPr lang="en-US" sz="1150" b="1" dirty="0">
                <a:solidFill>
                  <a:srgbClr val="1D1D1D"/>
                </a:solidFill>
                <a:latin typeface="Lexend SemiBold" pitchFamily="34" charset="0"/>
                <a:ea typeface="Lexend SemiBold" pitchFamily="34" charset="-122"/>
                <a:cs typeface="Lexend SemiBold" pitchFamily="34" charset="-120"/>
              </a:rPr>
              <a:t>Over twenty-nine months.</a:t>
            </a:r>
            <a:endParaRPr lang="en-US" sz="1150" dirty="0"/>
          </a:p>
          <a:p>
            <a:pPr indent="0" marL="0">
              <a:lnSpc>
                <a:spcPct val="112000"/>
              </a:lnSpc>
              <a:buNone/>
            </a:pPr>
            <a:r>
              <a:rPr lang="en-US" sz="1150" b="1" dirty="0">
                <a:solidFill>
                  <a:srgbClr val="1D1D1D"/>
                </a:solidFill>
                <a:latin typeface="Lexend SemiBold" pitchFamily="34" charset="0"/>
                <a:ea typeface="Lexend SemiBold" pitchFamily="34" charset="-122"/>
                <a:cs typeface="Lexend SemiBold" pitchFamily="34" charset="-120"/>
              </a:rPr>
              <a:t>You cannot read these requirements out of a database — they came out of that conversation.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SIGNING IN GOT SAFER — AND SIMPLER</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What you already noticed last year</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156716"/>
            <a:ext cx="274320" cy="274320"/>
          </a:xfrm>
          <a:prstGeom prst="ellipse">
            <a:avLst/>
          </a:prstGeom>
          <a:solidFill>
            <a:srgbClr val="FF6652"/>
          </a:solidFill>
          <a:ln w="12700">
            <a:solidFill>
              <a:srgbClr val="333333"/>
            </a:solidFill>
            <a:prstDash val="solid"/>
          </a:ln>
        </p:spPr>
      </p:sp>
      <p:sp>
        <p:nvSpPr>
          <p:cNvPr id="6" name="Text 4"/>
          <p:cNvSpPr txBox="1"/>
          <p:nvPr/>
        </p:nvSpPr>
        <p:spPr>
          <a:xfrm>
            <a:off x="457200" y="115671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1</a:t>
            </a:r>
            <a:endParaRPr lang="en-US" sz="1000" dirty="0"/>
          </a:p>
        </p:txBody>
      </p:sp>
      <p:sp>
        <p:nvSpPr>
          <p:cNvPr id="7" name="Text 5"/>
          <p:cNvSpPr txBox="1"/>
          <p:nvPr/>
        </p:nvSpPr>
        <p:spPr>
          <a:xfrm>
            <a:off x="877824" y="1143000"/>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Type your email first</a:t>
            </a:r>
            <a:endParaRPr lang="en-US" sz="1250" dirty="0"/>
          </a:p>
        </p:txBody>
      </p:sp>
      <p:sp>
        <p:nvSpPr>
          <p:cNvPr id="8" name="Text 6"/>
          <p:cNvSpPr txBox="1"/>
          <p:nvPr/>
        </p:nvSpPr>
        <p:spPr>
          <a:xfrm>
            <a:off x="877824" y="1371600"/>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The site tells you whether you still need to set a password, before it asks for one.</a:t>
            </a:r>
            <a:endParaRPr lang="en-US" sz="1000" dirty="0"/>
          </a:p>
        </p:txBody>
      </p:sp>
      <p:sp>
        <p:nvSpPr>
          <p:cNvPr id="9" name="Shape 7"/>
          <p:cNvSpPr/>
          <p:nvPr/>
        </p:nvSpPr>
        <p:spPr>
          <a:xfrm>
            <a:off x="457200" y="1888236"/>
            <a:ext cx="274320" cy="274320"/>
          </a:xfrm>
          <a:prstGeom prst="ellipse">
            <a:avLst/>
          </a:prstGeom>
          <a:solidFill>
            <a:srgbClr val="51BD85"/>
          </a:solidFill>
          <a:ln w="12700">
            <a:solidFill>
              <a:srgbClr val="333333"/>
            </a:solidFill>
            <a:prstDash val="solid"/>
          </a:ln>
        </p:spPr>
      </p:sp>
      <p:sp>
        <p:nvSpPr>
          <p:cNvPr id="10" name="Text 8"/>
          <p:cNvSpPr txBox="1"/>
          <p:nvPr/>
        </p:nvSpPr>
        <p:spPr>
          <a:xfrm>
            <a:off x="457200" y="188823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2</a:t>
            </a:r>
            <a:endParaRPr lang="en-US" sz="1000" dirty="0"/>
          </a:p>
        </p:txBody>
      </p:sp>
      <p:sp>
        <p:nvSpPr>
          <p:cNvPr id="11" name="Text 9"/>
          <p:cNvSpPr txBox="1"/>
          <p:nvPr/>
        </p:nvSpPr>
        <p:spPr>
          <a:xfrm>
            <a:off x="877824" y="1874520"/>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A one-time link, good for 24 hours</a:t>
            </a:r>
            <a:endParaRPr lang="en-US" sz="1250" dirty="0"/>
          </a:p>
        </p:txBody>
      </p:sp>
      <p:sp>
        <p:nvSpPr>
          <p:cNvPr id="12" name="Text 10"/>
          <p:cNvSpPr txBox="1"/>
          <p:nvPr/>
        </p:nvSpPr>
        <p:spPr>
          <a:xfrm>
            <a:off x="877824" y="2103120"/>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New accounts and resets arrive as a link. We never send you a password in an email again.</a:t>
            </a:r>
            <a:endParaRPr lang="en-US" sz="1000" dirty="0"/>
          </a:p>
        </p:txBody>
      </p:sp>
      <p:sp>
        <p:nvSpPr>
          <p:cNvPr id="13" name="Shape 11"/>
          <p:cNvSpPr/>
          <p:nvPr/>
        </p:nvSpPr>
        <p:spPr>
          <a:xfrm>
            <a:off x="457200" y="2619756"/>
            <a:ext cx="274320" cy="274320"/>
          </a:xfrm>
          <a:prstGeom prst="ellipse">
            <a:avLst/>
          </a:prstGeom>
          <a:solidFill>
            <a:srgbClr val="6AD2E6"/>
          </a:solidFill>
          <a:ln w="12700">
            <a:solidFill>
              <a:srgbClr val="333333"/>
            </a:solidFill>
            <a:prstDash val="solid"/>
          </a:ln>
        </p:spPr>
      </p:sp>
      <p:sp>
        <p:nvSpPr>
          <p:cNvPr id="14" name="Text 12"/>
          <p:cNvSpPr txBox="1"/>
          <p:nvPr/>
        </p:nvSpPr>
        <p:spPr>
          <a:xfrm>
            <a:off x="457200" y="261975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3</a:t>
            </a:r>
            <a:endParaRPr lang="en-US" sz="1000" dirty="0"/>
          </a:p>
        </p:txBody>
      </p:sp>
      <p:sp>
        <p:nvSpPr>
          <p:cNvPr id="15" name="Text 13"/>
          <p:cNvSpPr txBox="1"/>
          <p:nvPr/>
        </p:nvSpPr>
        <p:spPr>
          <a:xfrm>
            <a:off x="877824" y="2606040"/>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Change your own password</a:t>
            </a:r>
            <a:endParaRPr lang="en-US" sz="1250" dirty="0"/>
          </a:p>
        </p:txBody>
      </p:sp>
      <p:sp>
        <p:nvSpPr>
          <p:cNvPr id="16" name="Text 14"/>
          <p:cNvSpPr txBox="1"/>
          <p:nvPr/>
        </p:nvSpPr>
        <p:spPr>
          <a:xfrm>
            <a:off x="877824" y="2834640"/>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Any time, from inside the site. You do not have to ask anyone.</a:t>
            </a:r>
            <a:endParaRPr lang="en-US" sz="1000" dirty="0"/>
          </a:p>
        </p:txBody>
      </p:sp>
      <p:sp>
        <p:nvSpPr>
          <p:cNvPr id="17" name="Shape 15"/>
          <p:cNvSpPr/>
          <p:nvPr/>
        </p:nvSpPr>
        <p:spPr>
          <a:xfrm>
            <a:off x="457200" y="3351276"/>
            <a:ext cx="274320" cy="274320"/>
          </a:xfrm>
          <a:prstGeom prst="ellipse">
            <a:avLst/>
          </a:prstGeom>
          <a:solidFill>
            <a:srgbClr val="1D1D1D"/>
          </a:solidFill>
          <a:ln w="12700">
            <a:solidFill>
              <a:srgbClr val="333333"/>
            </a:solidFill>
            <a:prstDash val="solid"/>
          </a:ln>
        </p:spPr>
      </p:sp>
      <p:sp>
        <p:nvSpPr>
          <p:cNvPr id="18" name="Text 16"/>
          <p:cNvSpPr txBox="1"/>
          <p:nvPr/>
        </p:nvSpPr>
        <p:spPr>
          <a:xfrm>
            <a:off x="457200" y="335127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4</a:t>
            </a:r>
            <a:endParaRPr lang="en-US" sz="1000" dirty="0"/>
          </a:p>
        </p:txBody>
      </p:sp>
      <p:sp>
        <p:nvSpPr>
          <p:cNvPr id="19" name="Text 17"/>
          <p:cNvSpPr txBox="1"/>
          <p:nvPr/>
        </p:nvSpPr>
        <p:spPr>
          <a:xfrm>
            <a:off x="877824" y="3337560"/>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Covering two libraries?</a:t>
            </a:r>
            <a:endParaRPr lang="en-US" sz="1250" dirty="0"/>
          </a:p>
        </p:txBody>
      </p:sp>
      <p:sp>
        <p:nvSpPr>
          <p:cNvPr id="20" name="Text 18"/>
          <p:cNvSpPr txBox="1"/>
          <p:nvPr/>
        </p:nvSpPr>
        <p:spPr>
          <a:xfrm>
            <a:off x="877824" y="3566160"/>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Switch between them without signing out and back in.</a:t>
            </a:r>
            <a:endParaRPr lang="en-US" sz="1000" dirty="0"/>
          </a:p>
        </p:txBody>
      </p:sp>
      <p:sp>
        <p:nvSpPr>
          <p:cNvPr id="21" name="Shape 19"/>
          <p:cNvSpPr/>
          <p:nvPr/>
        </p:nvSpPr>
        <p:spPr>
          <a:xfrm>
            <a:off x="457200" y="4096512"/>
            <a:ext cx="8229600" cy="566928"/>
          </a:xfrm>
          <a:prstGeom prst="roundRect">
            <a:avLst>
              <a:gd name="adj" fmla="val 9677"/>
            </a:avLst>
          </a:prstGeom>
          <a:solidFill>
            <a:srgbClr val="D8E4D6"/>
          </a:solidFill>
          <a:ln w="9525">
            <a:solidFill>
              <a:srgbClr val="DBC89F"/>
            </a:solidFill>
            <a:prstDash val="solid"/>
          </a:ln>
        </p:spPr>
      </p:sp>
      <p:sp>
        <p:nvSpPr>
          <p:cNvPr id="22" name="Text 20"/>
          <p:cNvSpPr txBox="1"/>
          <p:nvPr/>
        </p:nvSpPr>
        <p:spPr>
          <a:xfrm>
            <a:off x="640080" y="4133088"/>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We do not put passwords in email any more. Ever.</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THE TOOLKIT — RUNNING THE SURVEY</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Giving the Committee the controls</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170432"/>
            <a:ext cx="3703320" cy="2852928"/>
          </a:xfrm>
          <a:prstGeom prst="rect">
            <a:avLst/>
          </a:prstGeom>
          <a:solidFill>
            <a:srgbClr val="FFFFFF"/>
          </a:solidFill>
          <a:ln w="12700">
            <a:solidFill>
              <a:srgbClr val="DBC89F"/>
            </a:solidFill>
            <a:prstDash val="dash"/>
          </a:ln>
        </p:spPr>
      </p:sp>
      <p:sp>
        <p:nvSpPr>
          <p:cNvPr id="6" name="Text 4"/>
          <p:cNvSpPr txBox="1"/>
          <p:nvPr/>
        </p:nvSpPr>
        <p:spPr>
          <a:xfrm>
            <a:off x="594360" y="2322576"/>
            <a:ext cx="3429000" cy="548640"/>
          </a:xfrm>
          <a:prstGeom prst="rect">
            <a:avLst/>
          </a:prstGeom>
          <a:noFill/>
          <a:ln/>
        </p:spPr>
        <p:txBody>
          <a:bodyPr wrap="square" lIns="0" tIns="0" rIns="0" bIns="0" rtlCol="0" anchor="ctr"/>
          <a:lstStyle/>
          <a:p>
            <a:pPr algn="ctr" indent="0" marL="0">
              <a:buNone/>
            </a:pPr>
            <a:r>
              <a:rPr lang="en-US" sz="900" dirty="0">
                <a:solidFill>
                  <a:srgbClr val="76766B"/>
                </a:solidFill>
                <a:latin typeface="Lexend" pitchFamily="34" charset="0"/>
                <a:ea typeface="Lexend" pitchFamily="34" charset="-122"/>
                <a:cs typeface="Lexend" pitchFamily="34" charset="-120"/>
              </a:rPr>
              <a:t>Super Admin Toolkit</a:t>
            </a:r>
            <a:endParaRPr lang="en-US" sz="900" dirty="0"/>
          </a:p>
          <a:p>
            <a:pPr algn="ctr" indent="0" marL="0">
              <a:buNone/>
            </a:pPr>
            <a:r>
              <a:rPr lang="en-US" sz="900" dirty="0">
                <a:solidFill>
                  <a:srgbClr val="76766B"/>
                </a:solidFill>
                <a:latin typeface="Lexend" pitchFamily="34" charset="0"/>
                <a:ea typeface="Lexend" pitchFamily="34" charset="-122"/>
                <a:cs typeface="Lexend" pitchFamily="34" charset="-120"/>
              </a:rPr>
              <a:t>新站截图</a:t>
            </a:r>
            <a:endParaRPr lang="en-US" sz="900" dirty="0"/>
          </a:p>
        </p:txBody>
      </p:sp>
      <p:sp>
        <p:nvSpPr>
          <p:cNvPr id="7" name="Shape 5"/>
          <p:cNvSpPr/>
          <p:nvPr/>
        </p:nvSpPr>
        <p:spPr>
          <a:xfrm>
            <a:off x="4434840" y="1170432"/>
            <a:ext cx="4251960" cy="1170432"/>
          </a:xfrm>
          <a:prstGeom prst="roundRect">
            <a:avLst>
              <a:gd name="adj" fmla="val 4688"/>
            </a:avLst>
          </a:prstGeom>
          <a:solidFill>
            <a:srgbClr val="D8E4D6"/>
          </a:solidFill>
          <a:ln w="9525">
            <a:solidFill>
              <a:srgbClr val="DBC89F"/>
            </a:solidFill>
            <a:prstDash val="solid"/>
          </a:ln>
        </p:spPr>
      </p:sp>
      <p:sp>
        <p:nvSpPr>
          <p:cNvPr id="8" name="Text 6"/>
          <p:cNvSpPr txBox="1"/>
          <p:nvPr/>
        </p:nvSpPr>
        <p:spPr>
          <a:xfrm>
            <a:off x="4617720" y="1243584"/>
            <a:ext cx="3886200" cy="310896"/>
          </a:xfrm>
          <a:prstGeom prst="rect">
            <a:avLst/>
          </a:prstGeom>
          <a:noFill/>
          <a:ln/>
        </p:spPr>
        <p:txBody>
          <a:bodyPr wrap="square" lIns="0" tIns="0" rIns="0" bIns="0" rtlCol="0" anchor="ctr"/>
          <a:lstStyle/>
          <a:p>
            <a:pPr indent="0" marL="0">
              <a:buNone/>
            </a:pPr>
            <a:r>
              <a:rPr lang="en-US" sz="1200" b="1" dirty="0">
                <a:solidFill>
                  <a:srgbClr val="FF6652"/>
                </a:solidFill>
                <a:latin typeface="Lexend SemiBold" pitchFamily="34" charset="0"/>
                <a:ea typeface="Lexend SemiBold" pitchFamily="34" charset="-122"/>
                <a:cs typeface="Lexend SemiBold" pitchFamily="34" charset="-120"/>
              </a:rPr>
              <a:t>On the old site there was no screen like this.</a:t>
            </a:r>
            <a:endParaRPr lang="en-US" sz="1200" dirty="0"/>
          </a:p>
        </p:txBody>
      </p:sp>
      <p:sp>
        <p:nvSpPr>
          <p:cNvPr id="9" name="Text 7"/>
          <p:cNvSpPr txBox="1"/>
          <p:nvPr/>
        </p:nvSpPr>
        <p:spPr>
          <a:xfrm>
            <a:off x="4617720" y="1554480"/>
            <a:ext cx="3886200" cy="713232"/>
          </a:xfrm>
          <a:prstGeom prst="rect">
            <a:avLst/>
          </a:prstGeom>
          <a:noFill/>
          <a:ln/>
        </p:spPr>
        <p:txBody>
          <a:bodyPr wrap="square" lIns="0" tIns="0" rIns="0" bIns="0" rtlCol="0" anchor="t"/>
          <a:lstStyle/>
          <a:p>
            <a:pPr indent="0" marL="0">
              <a:buNone/>
            </a:pPr>
            <a:r>
              <a:rPr lang="en-US" sz="950" dirty="0">
                <a:solidFill>
                  <a:srgbClr val="1D1D1D"/>
                </a:solidFill>
                <a:latin typeface="Lexend" pitchFamily="34" charset="0"/>
                <a:ea typeface="Lexend" pitchFamily="34" charset="-122"/>
                <a:cs typeface="Lexend" pitchFamily="34" charset="-120"/>
              </a:rPr>
              <a:t>Opening the survey, sending the announcement, changing a date — every one of those was a developer task, and meant emailing me and waiting.</a:t>
            </a:r>
            <a:endParaRPr lang="en-US" sz="950" dirty="0"/>
          </a:p>
        </p:txBody>
      </p:sp>
      <p:sp>
        <p:nvSpPr>
          <p:cNvPr id="10" name="Text 8"/>
          <p:cNvSpPr txBox="1"/>
          <p:nvPr/>
        </p:nvSpPr>
        <p:spPr>
          <a:xfrm>
            <a:off x="4617720" y="2487168"/>
            <a:ext cx="3886200" cy="960120"/>
          </a:xfrm>
          <a:prstGeom prst="rect">
            <a:avLst/>
          </a:prstGeom>
          <a:noFill/>
          <a:ln/>
        </p:spPr>
        <p:txBody>
          <a:bodyPr wrap="square" lIns="0" tIns="0" rIns="0" bIns="0" rtlCol="0" anchor="t"/>
          <a:lstStyle/>
          <a:p>
            <a:pPr marL="152400" indent="-152400">
              <a:spcAft>
                <a:spcPts val="600"/>
              </a:spcAft>
              <a:buSzPct val="100000"/>
              <a:buChar char="•"/>
            </a:pPr>
            <a:r>
              <a:rPr lang="en-US" sz="950" dirty="0">
                <a:solidFill>
                  <a:srgbClr val="1D1D1D"/>
                </a:solidFill>
                <a:latin typeface="Lexend" pitchFamily="34" charset="0"/>
                <a:ea typeface="Lexend" pitchFamily="34" charset="-122"/>
                <a:cs typeface="Lexend" pitchFamily="34" charset="-120"/>
              </a:rPr>
              <a:t>Set the dates, per year</a:t>
            </a:r>
            <a:endParaRPr lang="en-US" sz="950" dirty="0"/>
          </a:p>
          <a:p>
            <a:pPr marL="152400" indent="-152400">
              <a:spcAft>
                <a:spcPts val="600"/>
              </a:spcAft>
              <a:buSzPct val="100000"/>
              <a:buChar char="•"/>
            </a:pPr>
            <a:r>
              <a:rPr lang="en-US" sz="950" dirty="0">
                <a:solidFill>
                  <a:srgbClr val="1D1D1D"/>
                </a:solidFill>
                <a:latin typeface="Lexend" pitchFamily="34" charset="0"/>
                <a:ea typeface="Lexend" pitchFamily="34" charset="-122"/>
                <a:cs typeface="Lexend" pitchFamily="34" charset="-120"/>
              </a:rPr>
              <a:t>Open a new year for all 50 libraries at once</a:t>
            </a:r>
            <a:endParaRPr lang="en-US" sz="950" dirty="0"/>
          </a:p>
          <a:p>
            <a:pPr marL="152400" indent="-152400">
              <a:spcAft>
                <a:spcPts val="600"/>
              </a:spcAft>
              <a:buSzPct val="100000"/>
              <a:buChar char="•"/>
            </a:pPr>
            <a:r>
              <a:rPr lang="en-US" sz="950" dirty="0">
                <a:solidFill>
                  <a:srgbClr val="1D1D1D"/>
                </a:solidFill>
                <a:latin typeface="Lexend" pitchFamily="34" charset="0"/>
                <a:ea typeface="Lexend" pitchFamily="34" charset="-122"/>
                <a:cs typeface="Lexend" pitchFamily="34" charset="-120"/>
              </a:rPr>
              <a:t>Open or close right now, when the schedule slips</a:t>
            </a:r>
            <a:endParaRPr lang="en-US" sz="950" dirty="0"/>
          </a:p>
          <a:p>
            <a:pPr marL="152400" indent="-152400">
              <a:spcAft>
                <a:spcPts val="600"/>
              </a:spcAft>
              <a:buSzPct val="100000"/>
              <a:buChar char="•"/>
            </a:pPr>
            <a:r>
              <a:rPr lang="en-US" sz="950" dirty="0">
                <a:solidFill>
                  <a:srgbClr val="1D1D1D"/>
                </a:solidFill>
                <a:latin typeface="Lexend" pitchFamily="34" charset="0"/>
                <a:ea typeface="Lexend" pitchFamily="34" charset="-122"/>
                <a:cs typeface="Lexend" pitchFamily="34" charset="-120"/>
              </a:rPr>
              <a:t>Edit the wording of every automatic message</a:t>
            </a:r>
            <a:endParaRPr lang="en-US" sz="950" dirty="0"/>
          </a:p>
        </p:txBody>
      </p:sp>
      <p:sp>
        <p:nvSpPr>
          <p:cNvPr id="11" name="Shape 9"/>
          <p:cNvSpPr/>
          <p:nvPr/>
        </p:nvSpPr>
        <p:spPr>
          <a:xfrm>
            <a:off x="457200" y="4169664"/>
            <a:ext cx="8229600" cy="566928"/>
          </a:xfrm>
          <a:prstGeom prst="roundRect">
            <a:avLst>
              <a:gd name="adj" fmla="val 9677"/>
            </a:avLst>
          </a:prstGeom>
          <a:solidFill>
            <a:srgbClr val="FFFFFF"/>
          </a:solidFill>
          <a:ln w="9525">
            <a:solidFill>
              <a:srgbClr val="DBC89F"/>
            </a:solidFill>
            <a:prstDash val="solid"/>
          </a:ln>
        </p:spPr>
      </p:sp>
      <p:sp>
        <p:nvSpPr>
          <p:cNvPr id="12" name="Text 10"/>
          <p:cNvSpPr txBox="1"/>
          <p:nvPr/>
        </p:nvSpPr>
        <p:spPr>
          <a:xfrm>
            <a:off x="640080" y="4206240"/>
            <a:ext cx="7863840" cy="493776"/>
          </a:xfrm>
          <a:prstGeom prst="rect">
            <a:avLst/>
          </a:prstGeom>
          <a:noFill/>
          <a:ln/>
        </p:spPr>
        <p:txBody>
          <a:bodyPr wrap="square" lIns="0" tIns="0" rIns="0" bIns="0" rtlCol="0" anchor="ctr"/>
          <a:lstStyle/>
          <a:p>
            <a:pPr indent="0" marL="0">
              <a:buNone/>
            </a:pPr>
            <a:r>
              <a:rPr lang="en-US" sz="1100" b="1" dirty="0">
                <a:solidFill>
                  <a:srgbClr val="FF6652"/>
                </a:solidFill>
                <a:latin typeface="Lexend SemiBold" pitchFamily="34" charset="0"/>
                <a:ea typeface="Lexend SemiBold" pitchFamily="34" charset="-122"/>
                <a:cs typeface="Lexend SemiBold" pitchFamily="34" charset="-120"/>
              </a:rPr>
              <a:t>A library joined mid-season and never got the announcement. Now the Chair sends them their own copy — one click.</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THE TOOLKIT — PART TWO</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People, data, publication</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156716"/>
            <a:ext cx="274320" cy="274320"/>
          </a:xfrm>
          <a:prstGeom prst="ellipse">
            <a:avLst/>
          </a:prstGeom>
          <a:solidFill>
            <a:srgbClr val="51BD85"/>
          </a:solidFill>
          <a:ln w="12700">
            <a:solidFill>
              <a:srgbClr val="333333"/>
            </a:solidFill>
            <a:prstDash val="solid"/>
          </a:ln>
        </p:spPr>
      </p:sp>
      <p:sp>
        <p:nvSpPr>
          <p:cNvPr id="6" name="Text 4"/>
          <p:cNvSpPr txBox="1"/>
          <p:nvPr/>
        </p:nvSpPr>
        <p:spPr>
          <a:xfrm>
            <a:off x="457200" y="115671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1</a:t>
            </a:r>
            <a:endParaRPr lang="en-US" sz="1000" dirty="0"/>
          </a:p>
        </p:txBody>
      </p:sp>
      <p:sp>
        <p:nvSpPr>
          <p:cNvPr id="7" name="Text 5"/>
          <p:cNvSpPr txBox="1"/>
          <p:nvPr/>
        </p:nvSpPr>
        <p:spPr>
          <a:xfrm>
            <a:off x="877824" y="1143000"/>
            <a:ext cx="351129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People</a:t>
            </a:r>
            <a:endParaRPr lang="en-US" sz="1250" dirty="0"/>
          </a:p>
        </p:txBody>
      </p:sp>
      <p:sp>
        <p:nvSpPr>
          <p:cNvPr id="8" name="Text 6"/>
          <p:cNvSpPr txBox="1"/>
          <p:nvPr/>
        </p:nvSpPr>
        <p:spPr>
          <a:xfrm>
            <a:off x="877824" y="1371600"/>
            <a:ext cx="351129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Search, reassign, change roles, export the roster</a:t>
            </a:r>
            <a:endParaRPr lang="en-US" sz="1000" dirty="0"/>
          </a:p>
        </p:txBody>
      </p:sp>
      <p:sp>
        <p:nvSpPr>
          <p:cNvPr id="9" name="Shape 7"/>
          <p:cNvSpPr/>
          <p:nvPr/>
        </p:nvSpPr>
        <p:spPr>
          <a:xfrm>
            <a:off x="457200" y="1869948"/>
            <a:ext cx="274320" cy="274320"/>
          </a:xfrm>
          <a:prstGeom prst="ellipse">
            <a:avLst/>
          </a:prstGeom>
          <a:solidFill>
            <a:srgbClr val="51BD85"/>
          </a:solidFill>
          <a:ln w="12700">
            <a:solidFill>
              <a:srgbClr val="333333"/>
            </a:solidFill>
            <a:prstDash val="solid"/>
          </a:ln>
        </p:spPr>
      </p:sp>
      <p:sp>
        <p:nvSpPr>
          <p:cNvPr id="10" name="Text 8"/>
          <p:cNvSpPr txBox="1"/>
          <p:nvPr/>
        </p:nvSpPr>
        <p:spPr>
          <a:xfrm>
            <a:off x="457200" y="18699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2</a:t>
            </a:r>
            <a:endParaRPr lang="en-US" sz="1000" dirty="0"/>
          </a:p>
        </p:txBody>
      </p:sp>
      <p:sp>
        <p:nvSpPr>
          <p:cNvPr id="11" name="Text 9"/>
          <p:cNvSpPr txBox="1"/>
          <p:nvPr/>
        </p:nvSpPr>
        <p:spPr>
          <a:xfrm>
            <a:off x="877824" y="1856232"/>
            <a:ext cx="351129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Add a library</a:t>
            </a:r>
            <a:endParaRPr lang="en-US" sz="1250" dirty="0"/>
          </a:p>
        </p:txBody>
      </p:sp>
      <p:sp>
        <p:nvSpPr>
          <p:cNvPr id="12" name="Text 10"/>
          <p:cNvSpPr txBox="1"/>
          <p:nvPr/>
        </p:nvSpPr>
        <p:spPr>
          <a:xfrm>
            <a:off x="877824" y="2084832"/>
            <a:ext cx="351129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A guided six-step form — no database access</a:t>
            </a:r>
            <a:endParaRPr lang="en-US" sz="1000" dirty="0"/>
          </a:p>
        </p:txBody>
      </p:sp>
      <p:sp>
        <p:nvSpPr>
          <p:cNvPr id="13" name="Shape 11"/>
          <p:cNvSpPr/>
          <p:nvPr/>
        </p:nvSpPr>
        <p:spPr>
          <a:xfrm>
            <a:off x="457200" y="2583180"/>
            <a:ext cx="274320" cy="274320"/>
          </a:xfrm>
          <a:prstGeom prst="ellipse">
            <a:avLst/>
          </a:prstGeom>
          <a:solidFill>
            <a:srgbClr val="51BD85"/>
          </a:solidFill>
          <a:ln w="12700">
            <a:solidFill>
              <a:srgbClr val="333333"/>
            </a:solidFill>
            <a:prstDash val="solid"/>
          </a:ln>
        </p:spPr>
      </p:sp>
      <p:sp>
        <p:nvSpPr>
          <p:cNvPr id="14" name="Text 12"/>
          <p:cNvSpPr txBox="1"/>
          <p:nvPr/>
        </p:nvSpPr>
        <p:spPr>
          <a:xfrm>
            <a:off x="457200" y="25831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3</a:t>
            </a:r>
            <a:endParaRPr lang="en-US" sz="1000" dirty="0"/>
          </a:p>
        </p:txBody>
      </p:sp>
      <p:sp>
        <p:nvSpPr>
          <p:cNvPr id="15" name="Text 13"/>
          <p:cNvSpPr txBox="1"/>
          <p:nvPr/>
        </p:nvSpPr>
        <p:spPr>
          <a:xfrm>
            <a:off x="877824" y="2569464"/>
            <a:ext cx="351129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Who has submitted</a:t>
            </a:r>
            <a:endParaRPr lang="en-US" sz="1250" dirty="0"/>
          </a:p>
        </p:txBody>
      </p:sp>
      <p:sp>
        <p:nvSpPr>
          <p:cNvPr id="16" name="Text 14"/>
          <p:cNvSpPr txBox="1"/>
          <p:nvPr/>
        </p:nvSpPr>
        <p:spPr>
          <a:xfrm>
            <a:off x="877824" y="2798064"/>
            <a:ext cx="351129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For any year, at a glance</a:t>
            </a:r>
            <a:endParaRPr lang="en-US" sz="1000" dirty="0"/>
          </a:p>
        </p:txBody>
      </p:sp>
      <p:sp>
        <p:nvSpPr>
          <p:cNvPr id="17" name="Shape 15"/>
          <p:cNvSpPr/>
          <p:nvPr/>
        </p:nvSpPr>
        <p:spPr>
          <a:xfrm>
            <a:off x="4754880" y="1156716"/>
            <a:ext cx="274320" cy="274320"/>
          </a:xfrm>
          <a:prstGeom prst="ellipse">
            <a:avLst/>
          </a:prstGeom>
          <a:solidFill>
            <a:srgbClr val="6AD2E6"/>
          </a:solidFill>
          <a:ln w="12700">
            <a:solidFill>
              <a:srgbClr val="333333"/>
            </a:solidFill>
            <a:prstDash val="solid"/>
          </a:ln>
        </p:spPr>
      </p:sp>
      <p:sp>
        <p:nvSpPr>
          <p:cNvPr id="18" name="Text 16"/>
          <p:cNvSpPr txBox="1"/>
          <p:nvPr/>
        </p:nvSpPr>
        <p:spPr>
          <a:xfrm>
            <a:off x="4754880" y="115671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4</a:t>
            </a:r>
            <a:endParaRPr lang="en-US" sz="1000" dirty="0"/>
          </a:p>
        </p:txBody>
      </p:sp>
      <p:sp>
        <p:nvSpPr>
          <p:cNvPr id="19" name="Text 17"/>
          <p:cNvSpPr txBox="1"/>
          <p:nvPr/>
        </p:nvSpPr>
        <p:spPr>
          <a:xfrm>
            <a:off x="5175504" y="1143000"/>
            <a:ext cx="351129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Year-end reports</a:t>
            </a:r>
            <a:endParaRPr lang="en-US" sz="1250" dirty="0"/>
          </a:p>
        </p:txBody>
      </p:sp>
      <p:sp>
        <p:nvSpPr>
          <p:cNvPr id="20" name="Text 18"/>
          <p:cNvSpPr txBox="1"/>
          <p:nvPr/>
        </p:nvSpPr>
        <p:spPr>
          <a:xfrm>
            <a:off x="5175504" y="1371600"/>
            <a:ext cx="351129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Excel, Word, PDF — or every library in one download</a:t>
            </a:r>
            <a:endParaRPr lang="en-US" sz="1000" dirty="0"/>
          </a:p>
        </p:txBody>
      </p:sp>
      <p:sp>
        <p:nvSpPr>
          <p:cNvPr id="21" name="Shape 19"/>
          <p:cNvSpPr/>
          <p:nvPr/>
        </p:nvSpPr>
        <p:spPr>
          <a:xfrm>
            <a:off x="4754880" y="1869948"/>
            <a:ext cx="274320" cy="274320"/>
          </a:xfrm>
          <a:prstGeom prst="ellipse">
            <a:avLst/>
          </a:prstGeom>
          <a:solidFill>
            <a:srgbClr val="6AD2E6"/>
          </a:solidFill>
          <a:ln w="12700">
            <a:solidFill>
              <a:srgbClr val="333333"/>
            </a:solidFill>
            <a:prstDash val="solid"/>
          </a:ln>
        </p:spPr>
      </p:sp>
      <p:sp>
        <p:nvSpPr>
          <p:cNvPr id="22" name="Text 20"/>
          <p:cNvSpPr txBox="1"/>
          <p:nvPr/>
        </p:nvSpPr>
        <p:spPr>
          <a:xfrm>
            <a:off x="4754880" y="18699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5</a:t>
            </a:r>
            <a:endParaRPr lang="en-US" sz="1000" dirty="0"/>
          </a:p>
        </p:txBody>
      </p:sp>
      <p:sp>
        <p:nvSpPr>
          <p:cNvPr id="23" name="Text 21"/>
          <p:cNvSpPr txBox="1"/>
          <p:nvPr/>
        </p:nvSpPr>
        <p:spPr>
          <a:xfrm>
            <a:off x="5175504" y="1856232"/>
            <a:ext cx="351129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Published reports</a:t>
            </a:r>
            <a:endParaRPr lang="en-US" sz="1250" dirty="0"/>
          </a:p>
        </p:txBody>
      </p:sp>
      <p:sp>
        <p:nvSpPr>
          <p:cNvPr id="24" name="Text 22"/>
          <p:cNvSpPr txBox="1"/>
          <p:nvPr/>
        </p:nvSpPr>
        <p:spPr>
          <a:xfrm>
            <a:off x="5175504" y="2084832"/>
            <a:ext cx="351129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Upload the PDF; the public page updates immediately</a:t>
            </a:r>
            <a:endParaRPr lang="en-US" sz="1000" dirty="0"/>
          </a:p>
        </p:txBody>
      </p:sp>
      <p:sp>
        <p:nvSpPr>
          <p:cNvPr id="25" name="Shape 23"/>
          <p:cNvSpPr/>
          <p:nvPr/>
        </p:nvSpPr>
        <p:spPr>
          <a:xfrm>
            <a:off x="4754880" y="2583180"/>
            <a:ext cx="274320" cy="274320"/>
          </a:xfrm>
          <a:prstGeom prst="ellipse">
            <a:avLst/>
          </a:prstGeom>
          <a:solidFill>
            <a:srgbClr val="6AD2E6"/>
          </a:solidFill>
          <a:ln w="12700">
            <a:solidFill>
              <a:srgbClr val="333333"/>
            </a:solidFill>
            <a:prstDash val="solid"/>
          </a:ln>
        </p:spPr>
      </p:sp>
      <p:sp>
        <p:nvSpPr>
          <p:cNvPr id="26" name="Text 24"/>
          <p:cNvSpPr txBox="1"/>
          <p:nvPr/>
        </p:nvSpPr>
        <p:spPr>
          <a:xfrm>
            <a:off x="4754880" y="25831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6</a:t>
            </a:r>
            <a:endParaRPr lang="en-US" sz="1000" dirty="0"/>
          </a:p>
        </p:txBody>
      </p:sp>
      <p:sp>
        <p:nvSpPr>
          <p:cNvPr id="27" name="Text 25"/>
          <p:cNvSpPr txBox="1"/>
          <p:nvPr/>
        </p:nvSpPr>
        <p:spPr>
          <a:xfrm>
            <a:off x="5175504" y="2569464"/>
            <a:ext cx="351129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Rankings back to 1970</a:t>
            </a:r>
            <a:endParaRPr lang="en-US" sz="1250" dirty="0"/>
          </a:p>
        </p:txBody>
      </p:sp>
      <p:sp>
        <p:nvSpPr>
          <p:cNvPr id="28" name="Text 26"/>
          <p:cNvSpPr txBox="1"/>
          <p:nvPr/>
        </p:nvSpPr>
        <p:spPr>
          <a:xfrm>
            <a:off x="5175504" y="2798064"/>
            <a:ext cx="351129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Click any measure for the full list</a:t>
            </a:r>
            <a:endParaRPr lang="en-US" sz="1000" dirty="0"/>
          </a:p>
        </p:txBody>
      </p:sp>
      <p:sp>
        <p:nvSpPr>
          <p:cNvPr id="29" name="Shape 27"/>
          <p:cNvSpPr/>
          <p:nvPr/>
        </p:nvSpPr>
        <p:spPr>
          <a:xfrm>
            <a:off x="457200" y="3364992"/>
            <a:ext cx="8229600" cy="932688"/>
          </a:xfrm>
          <a:prstGeom prst="roundRect">
            <a:avLst>
              <a:gd name="adj" fmla="val 5882"/>
            </a:avLst>
          </a:prstGeom>
          <a:solidFill>
            <a:srgbClr val="D8E4D6"/>
          </a:solidFill>
          <a:ln w="9525">
            <a:solidFill>
              <a:srgbClr val="DBC89F"/>
            </a:solidFill>
            <a:prstDash val="solid"/>
          </a:ln>
        </p:spPr>
      </p:sp>
      <p:sp>
        <p:nvSpPr>
          <p:cNvPr id="30" name="Text 28"/>
          <p:cNvSpPr txBox="1"/>
          <p:nvPr/>
        </p:nvSpPr>
        <p:spPr>
          <a:xfrm>
            <a:off x="658368" y="3456432"/>
            <a:ext cx="7827264" cy="237744"/>
          </a:xfrm>
          <a:prstGeom prst="rect">
            <a:avLst/>
          </a:prstGeom>
          <a:noFill/>
          <a:ln/>
        </p:spPr>
        <p:txBody>
          <a:bodyPr wrap="square" lIns="0" tIns="0" rIns="0" bIns="0" rtlCol="0" anchor="ctr"/>
          <a:lstStyle/>
          <a:p>
            <a:pPr indent="0" marL="0">
              <a:buNone/>
            </a:pPr>
            <a:r>
              <a:rPr lang="en-US" sz="1200" b="1" dirty="0">
                <a:solidFill>
                  <a:srgbClr val="FF6652"/>
                </a:solidFill>
                <a:latin typeface="Lexend SemiBold" pitchFamily="34" charset="0"/>
                <a:ea typeface="Lexend SemiBold" pitchFamily="34" charset="-122"/>
                <a:cs typeface="Lexend SemiBold" pitchFamily="34" charset="-120"/>
              </a:rPr>
              <a:t>A record of every change</a:t>
            </a:r>
            <a:endParaRPr lang="en-US" sz="1200" dirty="0"/>
          </a:p>
        </p:txBody>
      </p:sp>
      <p:sp>
        <p:nvSpPr>
          <p:cNvPr id="31" name="Text 29"/>
          <p:cNvSpPr txBox="1"/>
          <p:nvPr/>
        </p:nvSpPr>
        <p:spPr>
          <a:xfrm>
            <a:off x="658368" y="3712464"/>
            <a:ext cx="7827264" cy="51206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Who made it, when, and what the value was before. If a published number is ever questioned, we can show you exactly where it came from and who touched it.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DESIGN, LANGUAGE, HELP</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How it looks, and who it reads for</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184148"/>
            <a:ext cx="274320" cy="274320"/>
          </a:xfrm>
          <a:prstGeom prst="ellipse">
            <a:avLst/>
          </a:prstGeom>
          <a:solidFill>
            <a:srgbClr val="FF6652"/>
          </a:solidFill>
          <a:ln w="12700">
            <a:solidFill>
              <a:srgbClr val="333333"/>
            </a:solidFill>
            <a:prstDash val="solid"/>
          </a:ln>
        </p:spPr>
      </p:sp>
      <p:sp>
        <p:nvSpPr>
          <p:cNvPr id="6" name="Text 4"/>
          <p:cNvSpPr txBox="1"/>
          <p:nvPr/>
        </p:nvSpPr>
        <p:spPr>
          <a:xfrm>
            <a:off x="457200" y="11841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1</a:t>
            </a:r>
            <a:endParaRPr lang="en-US" sz="1000" dirty="0"/>
          </a:p>
        </p:txBody>
      </p:sp>
      <p:sp>
        <p:nvSpPr>
          <p:cNvPr id="7" name="Text 5"/>
          <p:cNvSpPr txBox="1"/>
          <p:nvPr/>
        </p:nvSpPr>
        <p:spPr>
          <a:xfrm>
            <a:off x="877824" y="1170432"/>
            <a:ext cx="35798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One layout, any screen</a:t>
            </a:r>
            <a:endParaRPr lang="en-US" sz="1250" dirty="0"/>
          </a:p>
        </p:txBody>
      </p:sp>
      <p:sp>
        <p:nvSpPr>
          <p:cNvPr id="8" name="Text 6"/>
          <p:cNvSpPr txBox="1"/>
          <p:nvPr/>
        </p:nvSpPr>
        <p:spPr>
          <a:xfrm>
            <a:off x="877824" y="1399032"/>
            <a:ext cx="35798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From a phone to a wide monitor. Nothing is hidden on a small screen.</a:t>
            </a:r>
            <a:endParaRPr lang="en-US" sz="1000" dirty="0"/>
          </a:p>
        </p:txBody>
      </p:sp>
      <p:sp>
        <p:nvSpPr>
          <p:cNvPr id="9" name="Shape 7"/>
          <p:cNvSpPr/>
          <p:nvPr/>
        </p:nvSpPr>
        <p:spPr>
          <a:xfrm>
            <a:off x="457200" y="1933956"/>
            <a:ext cx="274320" cy="274320"/>
          </a:xfrm>
          <a:prstGeom prst="ellipse">
            <a:avLst/>
          </a:prstGeom>
          <a:solidFill>
            <a:srgbClr val="51BD85"/>
          </a:solidFill>
          <a:ln w="12700">
            <a:solidFill>
              <a:srgbClr val="333333"/>
            </a:solidFill>
            <a:prstDash val="solid"/>
          </a:ln>
        </p:spPr>
      </p:sp>
      <p:sp>
        <p:nvSpPr>
          <p:cNvPr id="10" name="Text 8"/>
          <p:cNvSpPr txBox="1"/>
          <p:nvPr/>
        </p:nvSpPr>
        <p:spPr>
          <a:xfrm>
            <a:off x="457200" y="193395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2</a:t>
            </a:r>
            <a:endParaRPr lang="en-US" sz="1000" dirty="0"/>
          </a:p>
        </p:txBody>
      </p:sp>
      <p:sp>
        <p:nvSpPr>
          <p:cNvPr id="11" name="Text 9"/>
          <p:cNvSpPr txBox="1"/>
          <p:nvPr/>
        </p:nvSpPr>
        <p:spPr>
          <a:xfrm>
            <a:off x="877824" y="1920240"/>
            <a:ext cx="35798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East Asian type, done properly</a:t>
            </a:r>
            <a:endParaRPr lang="en-US" sz="1250" dirty="0"/>
          </a:p>
        </p:txBody>
      </p:sp>
      <p:sp>
        <p:nvSpPr>
          <p:cNvPr id="12" name="Text 10"/>
          <p:cNvSpPr txBox="1"/>
          <p:nvPr/>
        </p:nvSpPr>
        <p:spPr>
          <a:xfrm>
            <a:off x="877824" y="2148840"/>
            <a:ext cx="35798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A correct typeface per language — a Japanese title is never set in a Chinese font.</a:t>
            </a:r>
            <a:endParaRPr lang="en-US" sz="1000" dirty="0"/>
          </a:p>
        </p:txBody>
      </p:sp>
      <p:sp>
        <p:nvSpPr>
          <p:cNvPr id="13" name="Shape 11"/>
          <p:cNvSpPr/>
          <p:nvPr/>
        </p:nvSpPr>
        <p:spPr>
          <a:xfrm>
            <a:off x="457200" y="2683764"/>
            <a:ext cx="274320" cy="274320"/>
          </a:xfrm>
          <a:prstGeom prst="ellipse">
            <a:avLst/>
          </a:prstGeom>
          <a:solidFill>
            <a:srgbClr val="6AD2E6"/>
          </a:solidFill>
          <a:ln w="12700">
            <a:solidFill>
              <a:srgbClr val="333333"/>
            </a:solidFill>
            <a:prstDash val="solid"/>
          </a:ln>
        </p:spPr>
      </p:sp>
      <p:sp>
        <p:nvSpPr>
          <p:cNvPr id="14" name="Text 12"/>
          <p:cNvSpPr txBox="1"/>
          <p:nvPr/>
        </p:nvSpPr>
        <p:spPr>
          <a:xfrm>
            <a:off x="457200" y="268376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3</a:t>
            </a:r>
            <a:endParaRPr lang="en-US" sz="1000" dirty="0"/>
          </a:p>
        </p:txBody>
      </p:sp>
      <p:sp>
        <p:nvSpPr>
          <p:cNvPr id="15" name="Text 13"/>
          <p:cNvSpPr txBox="1"/>
          <p:nvPr/>
        </p:nvSpPr>
        <p:spPr>
          <a:xfrm>
            <a:off x="877824" y="2670048"/>
            <a:ext cx="35798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Keyboard and screen-reader support</a:t>
            </a:r>
            <a:endParaRPr lang="en-US" sz="1250" dirty="0"/>
          </a:p>
        </p:txBody>
      </p:sp>
      <p:sp>
        <p:nvSpPr>
          <p:cNvPr id="16" name="Text 14"/>
          <p:cNvSpPr txBox="1"/>
          <p:nvPr/>
        </p:nvSpPr>
        <p:spPr>
          <a:xfrm>
            <a:off x="877824" y="2898648"/>
            <a:ext cx="35798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Built in from the start, not added afterwards.</a:t>
            </a:r>
            <a:endParaRPr lang="en-US" sz="1000" dirty="0"/>
          </a:p>
        </p:txBody>
      </p:sp>
      <p:sp>
        <p:nvSpPr>
          <p:cNvPr id="17" name="Shape 15"/>
          <p:cNvSpPr/>
          <p:nvPr/>
        </p:nvSpPr>
        <p:spPr>
          <a:xfrm>
            <a:off x="4686300" y="1115568"/>
            <a:ext cx="4000500" cy="2331720"/>
          </a:xfrm>
          <a:prstGeom prst="roundRect">
            <a:avLst>
              <a:gd name="adj" fmla="val 2353"/>
            </a:avLst>
          </a:prstGeom>
          <a:solidFill>
            <a:srgbClr val="D8E4D6"/>
          </a:solidFill>
          <a:ln w="9525">
            <a:solidFill>
              <a:srgbClr val="DBC89F"/>
            </a:solidFill>
            <a:prstDash val="solid"/>
          </a:ln>
        </p:spPr>
      </p:sp>
      <p:sp>
        <p:nvSpPr>
          <p:cNvPr id="18" name="Text 16"/>
          <p:cNvSpPr txBox="1"/>
          <p:nvPr/>
        </p:nvSpPr>
        <p:spPr>
          <a:xfrm>
            <a:off x="4869180" y="1225296"/>
            <a:ext cx="3634740" cy="237744"/>
          </a:xfrm>
          <a:prstGeom prst="rect">
            <a:avLst/>
          </a:prstGeom>
          <a:noFill/>
          <a:ln/>
        </p:spPr>
        <p:txBody>
          <a:bodyPr wrap="square" lIns="0" tIns="0" rIns="0" bIns="0" rtlCol="0" anchor="ctr"/>
          <a:lstStyle/>
          <a:p>
            <a:pPr indent="0" marL="0">
              <a:buNone/>
            </a:pPr>
            <a:r>
              <a:rPr lang="en-US" sz="1150" b="1" dirty="0">
                <a:solidFill>
                  <a:srgbClr val="1D1D1D"/>
                </a:solidFill>
                <a:latin typeface="Lexend SemiBold" pitchFamily="34" charset="0"/>
                <a:ea typeface="Lexend SemiBold" pitchFamily="34" charset="-122"/>
                <a:cs typeface="Lexend SemiBold" pitchFamily="34" charset="-120"/>
              </a:rPr>
              <a:t>Two complete guides, inside the site</a:t>
            </a:r>
            <a:endParaRPr lang="en-US" sz="1150" dirty="0"/>
          </a:p>
        </p:txBody>
      </p:sp>
      <p:sp>
        <p:nvSpPr>
          <p:cNvPr id="19" name="Text 17"/>
          <p:cNvSpPr txBox="1"/>
          <p:nvPr/>
        </p:nvSpPr>
        <p:spPr>
          <a:xfrm>
            <a:off x="4869180" y="1536192"/>
            <a:ext cx="3634740" cy="1783080"/>
          </a:xfrm>
          <a:prstGeom prst="rect">
            <a:avLst/>
          </a:prstGeom>
          <a:noFill/>
          <a:ln/>
        </p:spPr>
        <p:txBody>
          <a:bodyPr wrap="square" lIns="0" tIns="0" rIns="0" bIns="0" rtlCol="0" anchor="t"/>
          <a:lstStyle/>
          <a:p>
            <a:pPr indent="0" marL="0">
              <a:buNone/>
            </a:pPr>
            <a:r>
              <a:rPr lang="en-US" sz="1250" b="1" dirty="0">
                <a:solidFill>
                  <a:srgbClr val="FF6652"/>
                </a:solidFill>
                <a:latin typeface="Lexend SemiBold" pitchFamily="34" charset="0"/>
                <a:ea typeface="Lexend SemiBold" pitchFamily="34" charset="-122"/>
                <a:cs typeface="Lexend SemiBold" pitchFamily="34" charset="-120"/>
              </a:rPr>
              <a:t>cealstats.org/help</a:t>
            </a:r>
            <a:endParaRPr lang="en-US" sz="1250" dirty="0"/>
          </a:p>
          <a:p>
            <a:pPr indent="0" marL="0">
              <a:buNone/>
            </a:pPr>
            <a:r>
              <a:rPr lang="en-US" sz="950" dirty="0">
                <a:solidFill>
                  <a:srgbClr val="1D1D1D"/>
                </a:solidFill>
                <a:latin typeface="Lexend" pitchFamily="34" charset="0"/>
                <a:ea typeface="Lexend" pitchFamily="34" charset="-122"/>
                <a:cs typeface="Lexend" pitchFamily="34" charset="-120"/>
              </a:rPr>
              <a:t>For member libraries. Eight chapters, English and 中文.</a:t>
            </a:r>
            <a:endParaRPr lang="en-US" sz="1250" dirty="0"/>
          </a:p>
          <a:p>
            <a:pPr indent="0" marL="0">
              <a:buNone/>
            </a:pPr>
            <a:r>
              <a:rPr lang="en-US" sz="600" dirty="0">
                <a:solidFill>
                  <a:srgbClr val="000000"/>
                </a:solidFill>
              </a:rPr>
              <a:t> </a:t>
            </a:r>
            <a:endParaRPr lang="en-US" sz="1250" dirty="0"/>
          </a:p>
          <a:p>
            <a:pPr indent="0" marL="0">
              <a:buNone/>
            </a:pPr>
            <a:r>
              <a:rPr lang="en-US" sz="1100" b="1" dirty="0">
                <a:solidFill>
                  <a:srgbClr val="51BD85"/>
                </a:solidFill>
                <a:latin typeface="Lexend SemiBold" pitchFamily="34" charset="0"/>
                <a:ea typeface="Lexend SemiBold" pitchFamily="34" charset="-122"/>
                <a:cs typeface="Lexend SemiBold" pitchFamily="34" charset="-120"/>
              </a:rPr>
              <a:t>cealstats.org/admin/superguide</a:t>
            </a:r>
            <a:endParaRPr lang="en-US" sz="1250" dirty="0"/>
          </a:p>
          <a:p>
            <a:pPr indent="0" marL="0">
              <a:buNone/>
            </a:pPr>
            <a:r>
              <a:rPr lang="en-US" sz="950" dirty="0">
                <a:solidFill>
                  <a:srgbClr val="1D1D1D"/>
                </a:solidFill>
                <a:latin typeface="Lexend" pitchFamily="34" charset="0"/>
                <a:ea typeface="Lexend" pitchFamily="34" charset="-122"/>
                <a:cs typeface="Lexend" pitchFamily="34" charset="-120"/>
              </a:rPr>
              <a:t>For the Committee. Sign-in required.</a:t>
            </a:r>
            <a:endParaRPr lang="en-US" sz="1250" dirty="0"/>
          </a:p>
          <a:p>
            <a:pPr indent="0" marL="0">
              <a:buNone/>
            </a:pPr>
            <a:r>
              <a:rPr lang="en-US" sz="600" dirty="0">
                <a:solidFill>
                  <a:srgbClr val="000000"/>
                </a:solidFill>
              </a:rPr>
              <a:t> </a:t>
            </a:r>
            <a:endParaRPr lang="en-US" sz="1250" dirty="0"/>
          </a:p>
          <a:p>
            <a:pPr indent="0" marL="0">
              <a:buNone/>
            </a:pPr>
            <a:r>
              <a:rPr lang="en-US" sz="950" i="1" dirty="0">
                <a:solidFill>
                  <a:srgbClr val="76766B"/>
                </a:solidFill>
                <a:latin typeface="Lexend" pitchFamily="34" charset="0"/>
                <a:ea typeface="Lexend" pitchFamily="34" charset="-122"/>
                <a:cs typeface="Lexend" pitchFamily="34" charset="-120"/>
              </a:rPr>
              <a:t>Both searchable. Both print cleanly.</a:t>
            </a:r>
            <a:endParaRPr lang="en-US" sz="1250" dirty="0"/>
          </a:p>
        </p:txBody>
      </p:sp>
      <p:sp>
        <p:nvSpPr>
          <p:cNvPr id="20" name="Shape 18"/>
          <p:cNvSpPr/>
          <p:nvPr/>
        </p:nvSpPr>
        <p:spPr>
          <a:xfrm>
            <a:off x="457200" y="3584448"/>
            <a:ext cx="8229600" cy="566928"/>
          </a:xfrm>
          <a:prstGeom prst="roundRect">
            <a:avLst>
              <a:gd name="adj" fmla="val 9677"/>
            </a:avLst>
          </a:prstGeom>
          <a:solidFill>
            <a:srgbClr val="D8E4D6"/>
          </a:solidFill>
          <a:ln w="9525">
            <a:solidFill>
              <a:srgbClr val="DBC89F"/>
            </a:solidFill>
            <a:prstDash val="solid"/>
          </a:ln>
        </p:spPr>
      </p:sp>
      <p:sp>
        <p:nvSpPr>
          <p:cNvPr id="21" name="Text 19"/>
          <p:cNvSpPr txBox="1"/>
          <p:nvPr/>
        </p:nvSpPr>
        <p:spPr>
          <a:xfrm>
            <a:off x="640080" y="3621024"/>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If you take one thing away from my part today: cealstats.org/help</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IN PLAIN TERMS</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What it runs on</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2468880"/>
                <a:gridCol w="1737360"/>
                <a:gridCol w="4023360"/>
              </a:tblGrid>
              <a:tr h="329184">
                <a:tc>
                  <a:txBody>
                    <a:bodyPr/>
                    <a:lstStyle/>
                    <a:p>
                      <a:pPr indent="0" marL="0">
                        <a:buNone/>
                      </a:pPr>
                      <a:r>
                        <a:rPr lang="en-US" sz="950" b="1" dirty="0">
                          <a:solidFill>
                            <a:srgbClr val="FFFFF0"/>
                          </a:solidFill>
                          <a:latin typeface="Lexend SemiBold" pitchFamily="34" charset="0"/>
                          <a:ea typeface="Lexend SemiBold" pitchFamily="34" charset="-122"/>
                          <a:cs typeface="Lexend SemiBold" pitchFamily="34" charset="-120"/>
                        </a:rPr>
                        <a:t>What it does</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indent="0" marL="0">
                        <a:buNone/>
                      </a:pPr>
                      <a:r>
                        <a:rPr lang="en-US" sz="950" b="1" dirty="0">
                          <a:solidFill>
                            <a:srgbClr val="FFFFF0"/>
                          </a:solidFill>
                          <a:latin typeface="Lexend SemiBold" pitchFamily="34" charset="0"/>
                          <a:ea typeface="Lexend SemiBold" pitchFamily="34" charset="-122"/>
                          <a:cs typeface="Lexend SemiBold" pitchFamily="34" charset="-120"/>
                        </a:rPr>
                        <a:t>What we chose</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indent="0" marL="0">
                        <a:buNone/>
                      </a:pPr>
                      <a:r>
                        <a:rPr lang="en-US" sz="950" b="1" dirty="0">
                          <a:solidFill>
                            <a:srgbClr val="FFFFF0"/>
                          </a:solidFill>
                          <a:latin typeface="Lexend SemiBold" pitchFamily="34" charset="0"/>
                          <a:ea typeface="Lexend SemiBold" pitchFamily="34" charset="-122"/>
                          <a:cs typeface="Lexend SemiBold" pitchFamily="34" charset="-120"/>
                        </a:rPr>
                        <a:t>Why</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r>
              <a:tr h="329184">
                <a:tc>
                  <a:txBody>
                    <a:bodyPr/>
                    <a:lstStyle/>
                    <a:p>
                      <a:pPr indent="0" marL="0">
                        <a:buNone/>
                      </a:pPr>
                      <a:r>
                        <a:rPr lang="en-US" sz="1000" dirty="0">
                          <a:solidFill>
                            <a:srgbClr val="1D1D1D"/>
                          </a:solidFill>
                          <a:latin typeface="Lexend" pitchFamily="34" charset="0"/>
                          <a:ea typeface="Lexend" pitchFamily="34" charset="-122"/>
                          <a:cs typeface="Lexend" pitchFamily="34" charset="-120"/>
                        </a:rPr>
                        <a:t>Builds the pages you see</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b="1" dirty="0">
                          <a:solidFill>
                            <a:srgbClr val="1D1D1D"/>
                          </a:solidFill>
                          <a:latin typeface="Lexend" pitchFamily="34" charset="0"/>
                          <a:ea typeface="Lexend" pitchFamily="34" charset="-122"/>
                          <a:cs typeface="Lexend" pitchFamily="34" charset="-120"/>
                        </a:rPr>
                        <a:t>Next.js</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dirty="0">
                          <a:solidFill>
                            <a:srgbClr val="1D1D1D"/>
                          </a:solidFill>
                          <a:latin typeface="Lexend" pitchFamily="34" charset="0"/>
                          <a:ea typeface="Lexend" pitchFamily="34" charset="-122"/>
                          <a:cs typeface="Lexend" pitchFamily="34" charset="-120"/>
                        </a:rPr>
                        <a:t>One system for the site and the data behind it</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329184">
                <a:tc>
                  <a:txBody>
                    <a:bodyPr/>
                    <a:lstStyle/>
                    <a:p>
                      <a:pPr indent="0" marL="0">
                        <a:buNone/>
                      </a:pPr>
                      <a:r>
                        <a:rPr lang="en-US" sz="1000" dirty="0">
                          <a:solidFill>
                            <a:srgbClr val="1D1D1D"/>
                          </a:solidFill>
                          <a:latin typeface="Lexend" pitchFamily="34" charset="0"/>
                          <a:ea typeface="Lexend" pitchFamily="34" charset="-122"/>
                          <a:cs typeface="Lexend" pitchFamily="34" charset="-120"/>
                        </a:rPr>
                        <a:t>Stores the data</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b="1" dirty="0">
                          <a:solidFill>
                            <a:srgbClr val="1D1D1D"/>
                          </a:solidFill>
                          <a:latin typeface="Lexend" pitchFamily="34" charset="0"/>
                          <a:ea typeface="Lexend" pitchFamily="34" charset="-122"/>
                          <a:cs typeface="Lexend" pitchFamily="34" charset="-120"/>
                        </a:rPr>
                        <a:t>PostgreSQL</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dirty="0">
                          <a:solidFill>
                            <a:srgbClr val="1D1D1D"/>
                          </a:solidFill>
                          <a:latin typeface="Lexend" pitchFamily="34" charset="0"/>
                          <a:ea typeface="Lexend" pitchFamily="34" charset="-122"/>
                          <a:cs typeface="Lexend" pitchFamily="34" charset="-120"/>
                        </a:rPr>
                        <a:t>Proven, durable, easy to copy out</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329184">
                <a:tc>
                  <a:txBody>
                    <a:bodyPr/>
                    <a:lstStyle/>
                    <a:p>
                      <a:pPr indent="0" marL="0">
                        <a:buNone/>
                      </a:pPr>
                      <a:r>
                        <a:rPr lang="en-US" sz="1000" dirty="0">
                          <a:solidFill>
                            <a:srgbClr val="1D1D1D"/>
                          </a:solidFill>
                          <a:latin typeface="Lexend" pitchFamily="34" charset="0"/>
                          <a:ea typeface="Lexend" pitchFamily="34" charset="-122"/>
                          <a:cs typeface="Lexend" pitchFamily="34" charset="-120"/>
                        </a:rPr>
                        <a:t>Hosts the database</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b="1" dirty="0">
                          <a:solidFill>
                            <a:srgbClr val="1D1D1D"/>
                          </a:solidFill>
                          <a:latin typeface="Lexend" pitchFamily="34" charset="0"/>
                          <a:ea typeface="Lexend" pitchFamily="34" charset="-122"/>
                          <a:cs typeface="Lexend" pitchFamily="34" charset="-120"/>
                        </a:rPr>
                        <a:t>Neon</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dirty="0">
                          <a:solidFill>
                            <a:srgbClr val="1D1D1D"/>
                          </a:solidFill>
                          <a:latin typeface="Lexend" pitchFamily="34" charset="0"/>
                          <a:ea typeface="Lexend" pitchFamily="34" charset="-122"/>
                          <a:cs typeface="Lexend" pitchFamily="34" charset="-120"/>
                        </a:rPr>
                        <a:t>Can copy the whole database to test safely</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329184">
                <a:tc>
                  <a:txBody>
                    <a:bodyPr/>
                    <a:lstStyle/>
                    <a:p>
                      <a:pPr indent="0" marL="0">
                        <a:buNone/>
                      </a:pPr>
                      <a:r>
                        <a:rPr lang="en-US" sz="1000" dirty="0">
                          <a:solidFill>
                            <a:srgbClr val="1D1D1D"/>
                          </a:solidFill>
                          <a:latin typeface="Lexend" pitchFamily="34" charset="0"/>
                          <a:ea typeface="Lexend" pitchFamily="34" charset="-122"/>
                          <a:cs typeface="Lexend" pitchFamily="34" charset="-120"/>
                        </a:rPr>
                        <a:t>Hosts the website</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b="1" dirty="0">
                          <a:solidFill>
                            <a:srgbClr val="1D1D1D"/>
                          </a:solidFill>
                          <a:latin typeface="Lexend" pitchFamily="34" charset="0"/>
                          <a:ea typeface="Lexend" pitchFamily="34" charset="-122"/>
                          <a:cs typeface="Lexend" pitchFamily="34" charset="-120"/>
                        </a:rPr>
                        <a:t>Vercel</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dirty="0">
                          <a:solidFill>
                            <a:srgbClr val="1D1D1D"/>
                          </a:solidFill>
                          <a:latin typeface="Lexend" pitchFamily="34" charset="0"/>
                          <a:ea typeface="Lexend" pitchFamily="34" charset="-122"/>
                          <a:cs typeface="Lexend" pitchFamily="34" charset="-120"/>
                        </a:rPr>
                        <a:t>Runs scheduled tasks; renews certificates itself</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329184">
                <a:tc>
                  <a:txBody>
                    <a:bodyPr/>
                    <a:lstStyle/>
                    <a:p>
                      <a:pPr indent="0" marL="0">
                        <a:buNone/>
                      </a:pPr>
                      <a:r>
                        <a:rPr lang="en-US" sz="1000" dirty="0">
                          <a:solidFill>
                            <a:srgbClr val="1D1D1D"/>
                          </a:solidFill>
                          <a:latin typeface="Lexend" pitchFamily="34" charset="0"/>
                          <a:ea typeface="Lexend" pitchFamily="34" charset="-122"/>
                          <a:cs typeface="Lexend" pitchFamily="34" charset="-120"/>
                        </a:rPr>
                        <a:t>Sends the email</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b="1" dirty="0">
                          <a:solidFill>
                            <a:srgbClr val="1D1D1D"/>
                          </a:solidFill>
                          <a:latin typeface="Lexend" pitchFamily="34" charset="0"/>
                          <a:ea typeface="Lexend" pitchFamily="34" charset="-122"/>
                          <a:cs typeface="Lexend" pitchFamily="34" charset="-120"/>
                        </a:rPr>
                        <a:t>Resend</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1000" dirty="0">
                          <a:solidFill>
                            <a:srgbClr val="1D1D1D"/>
                          </a:solidFill>
                          <a:latin typeface="Lexend" pitchFamily="34" charset="0"/>
                          <a:ea typeface="Lexend" pitchFamily="34" charset="-122"/>
                          <a:cs typeface="Lexend" pitchFamily="34" charset="-120"/>
                        </a:rPr>
                        <a:t>Handles the mailing list and delivery logs</a:t>
                      </a:r>
                      <a:endParaRPr lang="en-US" sz="10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bl>
          </a:graphicData>
        </a:graphic>
      </p:graphicFrame>
      <p:sp>
        <p:nvSpPr>
          <p:cNvPr id="6" name="Shape 3"/>
          <p:cNvSpPr/>
          <p:nvPr/>
        </p:nvSpPr>
        <p:spPr>
          <a:xfrm>
            <a:off x="457200" y="3182112"/>
            <a:ext cx="8229600" cy="960120"/>
          </a:xfrm>
          <a:prstGeom prst="roundRect">
            <a:avLst>
              <a:gd name="adj" fmla="val 5714"/>
            </a:avLst>
          </a:prstGeom>
          <a:solidFill>
            <a:srgbClr val="D8E4D6"/>
          </a:solidFill>
          <a:ln w="9525">
            <a:solidFill>
              <a:srgbClr val="DBC89F"/>
            </a:solidFill>
            <a:prstDash val="solid"/>
          </a:ln>
        </p:spPr>
      </p:sp>
      <p:sp>
        <p:nvSpPr>
          <p:cNvPr id="7" name="Text 4"/>
          <p:cNvSpPr txBox="1"/>
          <p:nvPr/>
        </p:nvSpPr>
        <p:spPr>
          <a:xfrm>
            <a:off x="658368" y="3273552"/>
            <a:ext cx="7827264" cy="237744"/>
          </a:xfrm>
          <a:prstGeom prst="rect">
            <a:avLst/>
          </a:prstGeom>
          <a:noFill/>
          <a:ln/>
        </p:spPr>
        <p:txBody>
          <a:bodyPr wrap="square" lIns="0" tIns="0" rIns="0" bIns="0" rtlCol="0" anchor="ctr"/>
          <a:lstStyle/>
          <a:p>
            <a:pPr indent="0" marL="0">
              <a:buNone/>
            </a:pPr>
            <a:r>
              <a:rPr lang="en-US" sz="1200" b="1" dirty="0">
                <a:solidFill>
                  <a:srgbClr val="FF6652"/>
                </a:solidFill>
                <a:latin typeface="Lexend SemiBold" pitchFamily="34" charset="0"/>
                <a:ea typeface="Lexend SemiBold" pitchFamily="34" charset="-122"/>
                <a:cs typeface="Lexend SemiBold" pitchFamily="34" charset="-120"/>
              </a:rPr>
              <a:t>Three outside companies. All three replaceable.</a:t>
            </a:r>
            <a:endParaRPr lang="en-US" sz="1200" dirty="0"/>
          </a:p>
        </p:txBody>
      </p:sp>
      <p:sp>
        <p:nvSpPr>
          <p:cNvPr id="8" name="Text 5"/>
          <p:cNvSpPr txBox="1"/>
          <p:nvPr/>
        </p:nvSpPr>
        <p:spPr>
          <a:xfrm>
            <a:off x="658368" y="3529584"/>
            <a:ext cx="7827264" cy="51206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Four documented routes out: move the database, move the website, move the email, or move all of it onto a university server. You are not locked in to anybody — including us.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MARCH 2024 → TODAY · 29 MONTHS</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What this actually took</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115568"/>
            <a:ext cx="1954530" cy="987552"/>
          </a:xfrm>
          <a:prstGeom prst="roundRect">
            <a:avLst>
              <a:gd name="adj" fmla="val 5556"/>
            </a:avLst>
          </a:prstGeom>
          <a:solidFill>
            <a:srgbClr val="FFFFFF"/>
          </a:solidFill>
          <a:ln w="9525">
            <a:solidFill>
              <a:srgbClr val="DBC89F"/>
            </a:solidFill>
            <a:prstDash val="solid"/>
          </a:ln>
        </p:spPr>
      </p:sp>
      <p:sp>
        <p:nvSpPr>
          <p:cNvPr id="6" name="Text 4"/>
          <p:cNvSpPr txBox="1"/>
          <p:nvPr/>
        </p:nvSpPr>
        <p:spPr>
          <a:xfrm>
            <a:off x="457200" y="1207008"/>
            <a:ext cx="1954530" cy="512064"/>
          </a:xfrm>
          <a:prstGeom prst="rect">
            <a:avLst/>
          </a:prstGeom>
          <a:noFill/>
          <a:ln/>
        </p:spPr>
        <p:txBody>
          <a:bodyPr wrap="square" lIns="0" tIns="0" rIns="0" bIns="0" rtlCol="0" anchor="ctr"/>
          <a:lstStyle/>
          <a:p>
            <a:pPr algn="ctr" indent="0" marL="0">
              <a:buNone/>
            </a:pPr>
            <a:r>
              <a:rPr lang="en-US" sz="2800" b="1" dirty="0">
                <a:solidFill>
                  <a:srgbClr val="FF6652"/>
                </a:solidFill>
                <a:latin typeface="Lexend SemiBold" pitchFamily="34" charset="0"/>
                <a:ea typeface="Lexend SemiBold" pitchFamily="34" charset="-122"/>
                <a:cs typeface="Lexend SemiBold" pitchFamily="34" charset="-120"/>
              </a:rPr>
              <a:t>886</a:t>
            </a:r>
            <a:endParaRPr lang="en-US" sz="2800" dirty="0"/>
          </a:p>
        </p:txBody>
      </p:sp>
      <p:sp>
        <p:nvSpPr>
          <p:cNvPr id="7" name="Text 5"/>
          <p:cNvSpPr txBox="1"/>
          <p:nvPr/>
        </p:nvSpPr>
        <p:spPr>
          <a:xfrm>
            <a:off x="457200" y="1737360"/>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RECORDED BATCHES OF WORK</a:t>
            </a:r>
            <a:endParaRPr lang="en-US" sz="750" dirty="0"/>
          </a:p>
        </p:txBody>
      </p:sp>
      <p:sp>
        <p:nvSpPr>
          <p:cNvPr id="8" name="Shape 6"/>
          <p:cNvSpPr/>
          <p:nvPr/>
        </p:nvSpPr>
        <p:spPr>
          <a:xfrm>
            <a:off x="2548890" y="1115568"/>
            <a:ext cx="1954530" cy="987552"/>
          </a:xfrm>
          <a:prstGeom prst="roundRect">
            <a:avLst>
              <a:gd name="adj" fmla="val 5556"/>
            </a:avLst>
          </a:prstGeom>
          <a:solidFill>
            <a:srgbClr val="FFFFFF"/>
          </a:solidFill>
          <a:ln w="9525">
            <a:solidFill>
              <a:srgbClr val="DBC89F"/>
            </a:solidFill>
            <a:prstDash val="solid"/>
          </a:ln>
        </p:spPr>
      </p:sp>
      <p:sp>
        <p:nvSpPr>
          <p:cNvPr id="9" name="Text 7"/>
          <p:cNvSpPr txBox="1"/>
          <p:nvPr/>
        </p:nvSpPr>
        <p:spPr>
          <a:xfrm>
            <a:off x="2548890" y="1207008"/>
            <a:ext cx="1954530" cy="512064"/>
          </a:xfrm>
          <a:prstGeom prst="rect">
            <a:avLst/>
          </a:prstGeom>
          <a:noFill/>
          <a:ln/>
        </p:spPr>
        <p:txBody>
          <a:bodyPr wrap="square" lIns="0" tIns="0" rIns="0" bIns="0" rtlCol="0" anchor="ctr"/>
          <a:lstStyle/>
          <a:p>
            <a:pPr algn="ctr" indent="0" marL="0">
              <a:buNone/>
            </a:pPr>
            <a:r>
              <a:rPr lang="en-US" sz="2800" b="1" dirty="0">
                <a:solidFill>
                  <a:srgbClr val="51BD85"/>
                </a:solidFill>
                <a:latin typeface="Lexend SemiBold" pitchFamily="34" charset="0"/>
                <a:ea typeface="Lexend SemiBold" pitchFamily="34" charset="-122"/>
                <a:cs typeface="Lexend SemiBold" pitchFamily="34" charset="-120"/>
              </a:rPr>
              <a:t>154</a:t>
            </a:r>
            <a:endParaRPr lang="en-US" sz="2800" dirty="0"/>
          </a:p>
        </p:txBody>
      </p:sp>
      <p:sp>
        <p:nvSpPr>
          <p:cNvPr id="10" name="Text 8"/>
          <p:cNvSpPr txBox="1"/>
          <p:nvPr/>
        </p:nvSpPr>
        <p:spPr>
          <a:xfrm>
            <a:off x="2548890" y="1737360"/>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REVIEWED CHANGE SETS</a:t>
            </a:r>
            <a:endParaRPr lang="en-US" sz="750" dirty="0"/>
          </a:p>
        </p:txBody>
      </p:sp>
      <p:sp>
        <p:nvSpPr>
          <p:cNvPr id="11" name="Shape 9"/>
          <p:cNvSpPr/>
          <p:nvPr/>
        </p:nvSpPr>
        <p:spPr>
          <a:xfrm>
            <a:off x="4640580" y="1115568"/>
            <a:ext cx="1954530" cy="987552"/>
          </a:xfrm>
          <a:prstGeom prst="roundRect">
            <a:avLst>
              <a:gd name="adj" fmla="val 5556"/>
            </a:avLst>
          </a:prstGeom>
          <a:solidFill>
            <a:srgbClr val="FFFFFF"/>
          </a:solidFill>
          <a:ln w="9525">
            <a:solidFill>
              <a:srgbClr val="DBC89F"/>
            </a:solidFill>
            <a:prstDash val="solid"/>
          </a:ln>
        </p:spPr>
      </p:sp>
      <p:sp>
        <p:nvSpPr>
          <p:cNvPr id="12" name="Text 10"/>
          <p:cNvSpPr txBox="1"/>
          <p:nvPr/>
        </p:nvSpPr>
        <p:spPr>
          <a:xfrm>
            <a:off x="4640580" y="1207008"/>
            <a:ext cx="1954530" cy="512064"/>
          </a:xfrm>
          <a:prstGeom prst="rect">
            <a:avLst/>
          </a:prstGeom>
          <a:noFill/>
          <a:ln/>
        </p:spPr>
        <p:txBody>
          <a:bodyPr wrap="square" lIns="0" tIns="0" rIns="0" bIns="0" rtlCol="0" anchor="ctr"/>
          <a:lstStyle/>
          <a:p>
            <a:pPr algn="ctr" indent="0" marL="0">
              <a:buNone/>
            </a:pPr>
            <a:r>
              <a:rPr lang="en-US" sz="2800" b="1" dirty="0">
                <a:solidFill>
                  <a:srgbClr val="6AD2E6"/>
                </a:solidFill>
                <a:latin typeface="Lexend SemiBold" pitchFamily="34" charset="0"/>
                <a:ea typeface="Lexend SemiBold" pitchFamily="34" charset="-122"/>
                <a:cs typeface="Lexend SemiBold" pitchFamily="34" charset="-120"/>
              </a:rPr>
              <a:t>3</a:t>
            </a:r>
            <a:endParaRPr lang="en-US" sz="2800" dirty="0"/>
          </a:p>
        </p:txBody>
      </p:sp>
      <p:sp>
        <p:nvSpPr>
          <p:cNvPr id="13" name="Text 11"/>
          <p:cNvSpPr txBox="1"/>
          <p:nvPr/>
        </p:nvSpPr>
        <p:spPr>
          <a:xfrm>
            <a:off x="4640580" y="1737360"/>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RELEASED VERSIONS</a:t>
            </a:r>
            <a:endParaRPr lang="en-US" sz="750" dirty="0"/>
          </a:p>
        </p:txBody>
      </p:sp>
      <p:sp>
        <p:nvSpPr>
          <p:cNvPr id="14" name="Shape 12"/>
          <p:cNvSpPr/>
          <p:nvPr/>
        </p:nvSpPr>
        <p:spPr>
          <a:xfrm>
            <a:off x="6732270" y="1115568"/>
            <a:ext cx="1954530" cy="987552"/>
          </a:xfrm>
          <a:prstGeom prst="roundRect">
            <a:avLst>
              <a:gd name="adj" fmla="val 5556"/>
            </a:avLst>
          </a:prstGeom>
          <a:solidFill>
            <a:srgbClr val="FFFFFF"/>
          </a:solidFill>
          <a:ln w="9525">
            <a:solidFill>
              <a:srgbClr val="DBC89F"/>
            </a:solidFill>
            <a:prstDash val="solid"/>
          </a:ln>
        </p:spPr>
      </p:sp>
      <p:sp>
        <p:nvSpPr>
          <p:cNvPr id="15" name="Text 13"/>
          <p:cNvSpPr txBox="1"/>
          <p:nvPr/>
        </p:nvSpPr>
        <p:spPr>
          <a:xfrm>
            <a:off x="6732270" y="1207008"/>
            <a:ext cx="1954530" cy="512064"/>
          </a:xfrm>
          <a:prstGeom prst="rect">
            <a:avLst/>
          </a:prstGeom>
          <a:noFill/>
          <a:ln/>
        </p:spPr>
        <p:txBody>
          <a:bodyPr wrap="square" lIns="0" tIns="0" rIns="0" bIns="0" rtlCol="0" anchor="ctr"/>
          <a:lstStyle/>
          <a:p>
            <a:pPr algn="ctr" indent="0" marL="0">
              <a:buNone/>
            </a:pPr>
            <a:r>
              <a:rPr lang="en-US" sz="2800" b="1" dirty="0">
                <a:solidFill>
                  <a:srgbClr val="1D1D1D"/>
                </a:solidFill>
                <a:latin typeface="Lexend SemiBold" pitchFamily="34" charset="0"/>
                <a:ea typeface="Lexend SemiBold" pitchFamily="34" charset="-122"/>
                <a:cs typeface="Lexend SemiBold" pitchFamily="34" charset="-120"/>
              </a:rPr>
              <a:t>~100k</a:t>
            </a:r>
            <a:endParaRPr lang="en-US" sz="2800" dirty="0"/>
          </a:p>
        </p:txBody>
      </p:sp>
      <p:sp>
        <p:nvSpPr>
          <p:cNvPr id="16" name="Text 14"/>
          <p:cNvSpPr txBox="1"/>
          <p:nvPr/>
        </p:nvSpPr>
        <p:spPr>
          <a:xfrm>
            <a:off x="6732270" y="1737360"/>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LINES OF CODE, BY HAND</a:t>
            </a:r>
            <a:endParaRPr lang="en-US" sz="750" dirty="0"/>
          </a:p>
        </p:txBody>
      </p:sp>
      <p:sp>
        <p:nvSpPr>
          <p:cNvPr id="17" name="Shape 15"/>
          <p:cNvSpPr/>
          <p:nvPr/>
        </p:nvSpPr>
        <p:spPr>
          <a:xfrm>
            <a:off x="457200" y="2240280"/>
            <a:ext cx="1954530" cy="987552"/>
          </a:xfrm>
          <a:prstGeom prst="roundRect">
            <a:avLst>
              <a:gd name="adj" fmla="val 5556"/>
            </a:avLst>
          </a:prstGeom>
          <a:solidFill>
            <a:srgbClr val="FFFFFF"/>
          </a:solidFill>
          <a:ln w="9525">
            <a:solidFill>
              <a:srgbClr val="DBC89F"/>
            </a:solidFill>
            <a:prstDash val="solid"/>
          </a:ln>
        </p:spPr>
      </p:sp>
      <p:sp>
        <p:nvSpPr>
          <p:cNvPr id="18" name="Text 16"/>
          <p:cNvSpPr txBox="1"/>
          <p:nvPr/>
        </p:nvSpPr>
        <p:spPr>
          <a:xfrm>
            <a:off x="457200" y="2331720"/>
            <a:ext cx="1954530" cy="512064"/>
          </a:xfrm>
          <a:prstGeom prst="rect">
            <a:avLst/>
          </a:prstGeom>
          <a:noFill/>
          <a:ln/>
        </p:spPr>
        <p:txBody>
          <a:bodyPr wrap="square" lIns="0" tIns="0" rIns="0" bIns="0" rtlCol="0" anchor="ctr"/>
          <a:lstStyle/>
          <a:p>
            <a:pPr algn="ctr" indent="0" marL="0">
              <a:buNone/>
            </a:pPr>
            <a:r>
              <a:rPr lang="en-US" sz="2800" b="1" dirty="0">
                <a:solidFill>
                  <a:srgbClr val="1D1D1D"/>
                </a:solidFill>
                <a:latin typeface="Lexend SemiBold" pitchFamily="34" charset="0"/>
                <a:ea typeface="Lexend SemiBold" pitchFamily="34" charset="-122"/>
                <a:cs typeface="Lexend SemiBold" pitchFamily="34" charset="-120"/>
              </a:rPr>
              <a:t>72</a:t>
            </a:r>
            <a:endParaRPr lang="en-US" sz="2800" dirty="0"/>
          </a:p>
        </p:txBody>
      </p:sp>
      <p:sp>
        <p:nvSpPr>
          <p:cNvPr id="19" name="Text 17"/>
          <p:cNvSpPr txBox="1"/>
          <p:nvPr/>
        </p:nvSpPr>
        <p:spPr>
          <a:xfrm>
            <a:off x="457200" y="2862072"/>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PAGES ON THE SITE</a:t>
            </a:r>
            <a:endParaRPr lang="en-US" sz="750" dirty="0"/>
          </a:p>
        </p:txBody>
      </p:sp>
      <p:sp>
        <p:nvSpPr>
          <p:cNvPr id="20" name="Shape 18"/>
          <p:cNvSpPr/>
          <p:nvPr/>
        </p:nvSpPr>
        <p:spPr>
          <a:xfrm>
            <a:off x="2548890" y="2240280"/>
            <a:ext cx="1954530" cy="987552"/>
          </a:xfrm>
          <a:prstGeom prst="roundRect">
            <a:avLst>
              <a:gd name="adj" fmla="val 5556"/>
            </a:avLst>
          </a:prstGeom>
          <a:solidFill>
            <a:srgbClr val="FFFFFF"/>
          </a:solidFill>
          <a:ln w="9525">
            <a:solidFill>
              <a:srgbClr val="DBC89F"/>
            </a:solidFill>
            <a:prstDash val="solid"/>
          </a:ln>
        </p:spPr>
      </p:sp>
      <p:sp>
        <p:nvSpPr>
          <p:cNvPr id="21" name="Text 19"/>
          <p:cNvSpPr txBox="1"/>
          <p:nvPr/>
        </p:nvSpPr>
        <p:spPr>
          <a:xfrm>
            <a:off x="2548890" y="2331720"/>
            <a:ext cx="1954530" cy="512064"/>
          </a:xfrm>
          <a:prstGeom prst="rect">
            <a:avLst/>
          </a:prstGeom>
          <a:noFill/>
          <a:ln/>
        </p:spPr>
        <p:txBody>
          <a:bodyPr wrap="square" lIns="0" tIns="0" rIns="0" bIns="0" rtlCol="0" anchor="ctr"/>
          <a:lstStyle/>
          <a:p>
            <a:pPr algn="ctr" indent="0" marL="0">
              <a:buNone/>
            </a:pPr>
            <a:r>
              <a:rPr lang="en-US" sz="2800" b="1" dirty="0">
                <a:solidFill>
                  <a:srgbClr val="1D1D1D"/>
                </a:solidFill>
                <a:latin typeface="Lexend SemiBold" pitchFamily="34" charset="0"/>
                <a:ea typeface="Lexend SemiBold" pitchFamily="34" charset="-122"/>
                <a:cs typeface="Lexend SemiBold" pitchFamily="34" charset="-120"/>
              </a:rPr>
              <a:t>41</a:t>
            </a:r>
            <a:endParaRPr lang="en-US" sz="2800" dirty="0"/>
          </a:p>
        </p:txBody>
      </p:sp>
      <p:sp>
        <p:nvSpPr>
          <p:cNvPr id="22" name="Text 20"/>
          <p:cNvSpPr txBox="1"/>
          <p:nvPr/>
        </p:nvSpPr>
        <p:spPr>
          <a:xfrm>
            <a:off x="2548890" y="2862072"/>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DATABASE TABLES</a:t>
            </a:r>
            <a:endParaRPr lang="en-US" sz="750" dirty="0"/>
          </a:p>
        </p:txBody>
      </p:sp>
      <p:sp>
        <p:nvSpPr>
          <p:cNvPr id="23" name="Shape 21"/>
          <p:cNvSpPr/>
          <p:nvPr/>
        </p:nvSpPr>
        <p:spPr>
          <a:xfrm>
            <a:off x="4640580" y="2240280"/>
            <a:ext cx="1954530" cy="987552"/>
          </a:xfrm>
          <a:prstGeom prst="roundRect">
            <a:avLst>
              <a:gd name="adj" fmla="val 5556"/>
            </a:avLst>
          </a:prstGeom>
          <a:solidFill>
            <a:srgbClr val="FFFFFF"/>
          </a:solidFill>
          <a:ln w="9525">
            <a:solidFill>
              <a:srgbClr val="DBC89F"/>
            </a:solidFill>
            <a:prstDash val="solid"/>
          </a:ln>
        </p:spPr>
      </p:sp>
      <p:sp>
        <p:nvSpPr>
          <p:cNvPr id="24" name="Text 22"/>
          <p:cNvSpPr txBox="1"/>
          <p:nvPr/>
        </p:nvSpPr>
        <p:spPr>
          <a:xfrm>
            <a:off x="4640580" y="2331720"/>
            <a:ext cx="1954530" cy="512064"/>
          </a:xfrm>
          <a:prstGeom prst="rect">
            <a:avLst/>
          </a:prstGeom>
          <a:noFill/>
          <a:ln/>
        </p:spPr>
        <p:txBody>
          <a:bodyPr wrap="square" lIns="0" tIns="0" rIns="0" bIns="0" rtlCol="0" anchor="ctr"/>
          <a:lstStyle/>
          <a:p>
            <a:pPr algn="ctr" indent="0" marL="0">
              <a:buNone/>
            </a:pPr>
            <a:r>
              <a:rPr lang="en-US" sz="2800" b="1" dirty="0">
                <a:solidFill>
                  <a:srgbClr val="1D1D1D"/>
                </a:solidFill>
                <a:latin typeface="Lexend SemiBold" pitchFamily="34" charset="0"/>
                <a:ea typeface="Lexend SemiBold" pitchFamily="34" charset="-122"/>
                <a:cs typeface="Lexend SemiBold" pitchFamily="34" charset="-120"/>
              </a:rPr>
              <a:t>3,793</a:t>
            </a:r>
            <a:endParaRPr lang="en-US" sz="2800" dirty="0"/>
          </a:p>
        </p:txBody>
      </p:sp>
      <p:sp>
        <p:nvSpPr>
          <p:cNvPr id="25" name="Text 23"/>
          <p:cNvSpPr txBox="1"/>
          <p:nvPr/>
        </p:nvSpPr>
        <p:spPr>
          <a:xfrm>
            <a:off x="4640580" y="2862072"/>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LINES OF DOCUMENTATION</a:t>
            </a:r>
            <a:endParaRPr lang="en-US" sz="750" dirty="0"/>
          </a:p>
        </p:txBody>
      </p:sp>
      <p:sp>
        <p:nvSpPr>
          <p:cNvPr id="26" name="Shape 24"/>
          <p:cNvSpPr/>
          <p:nvPr/>
        </p:nvSpPr>
        <p:spPr>
          <a:xfrm>
            <a:off x="6732270" y="2240280"/>
            <a:ext cx="1954530" cy="987552"/>
          </a:xfrm>
          <a:prstGeom prst="roundRect">
            <a:avLst>
              <a:gd name="adj" fmla="val 5556"/>
            </a:avLst>
          </a:prstGeom>
          <a:solidFill>
            <a:srgbClr val="FFFFFF"/>
          </a:solidFill>
          <a:ln w="9525">
            <a:solidFill>
              <a:srgbClr val="DBC89F"/>
            </a:solidFill>
            <a:prstDash val="solid"/>
          </a:ln>
        </p:spPr>
      </p:sp>
      <p:sp>
        <p:nvSpPr>
          <p:cNvPr id="27" name="Text 25"/>
          <p:cNvSpPr txBox="1"/>
          <p:nvPr/>
        </p:nvSpPr>
        <p:spPr>
          <a:xfrm>
            <a:off x="6732270" y="2331720"/>
            <a:ext cx="1954530" cy="512064"/>
          </a:xfrm>
          <a:prstGeom prst="rect">
            <a:avLst/>
          </a:prstGeom>
          <a:noFill/>
          <a:ln/>
        </p:spPr>
        <p:txBody>
          <a:bodyPr wrap="square" lIns="0" tIns="0" rIns="0" bIns="0" rtlCol="0" anchor="ctr"/>
          <a:lstStyle/>
          <a:p>
            <a:pPr algn="ctr" indent="0" marL="0">
              <a:buNone/>
            </a:pPr>
            <a:r>
              <a:rPr lang="en-US" sz="2800" b="1" dirty="0">
                <a:solidFill>
                  <a:srgbClr val="FF6652"/>
                </a:solidFill>
                <a:latin typeface="Lexend SemiBold" pitchFamily="34" charset="0"/>
                <a:ea typeface="Lexend SemiBold" pitchFamily="34" charset="-122"/>
                <a:cs typeface="Lexend SemiBold" pitchFamily="34" charset="-120"/>
              </a:rPr>
              <a:t>2</a:t>
            </a:r>
            <a:endParaRPr lang="en-US" sz="2800" dirty="0"/>
          </a:p>
        </p:txBody>
      </p:sp>
      <p:sp>
        <p:nvSpPr>
          <p:cNvPr id="28" name="Text 26"/>
          <p:cNvSpPr txBox="1"/>
          <p:nvPr/>
        </p:nvSpPr>
        <p:spPr>
          <a:xfrm>
            <a:off x="6732270" y="2862072"/>
            <a:ext cx="1954530" cy="274320"/>
          </a:xfrm>
          <a:prstGeom prst="rect">
            <a:avLst/>
          </a:prstGeom>
          <a:noFill/>
          <a:ln/>
        </p:spPr>
        <p:txBody>
          <a:bodyPr wrap="square" lIns="0" tIns="0" rIns="0" bIns="0" rtlCol="0" anchor="ctr"/>
          <a:lstStyle/>
          <a:p>
            <a:pPr algn="ctr" indent="0" marL="0">
              <a:buNone/>
            </a:pPr>
            <a:r>
              <a:rPr lang="en-US" sz="750" spc="100" kern="0" dirty="0">
                <a:solidFill>
                  <a:srgbClr val="76766B"/>
                </a:solidFill>
                <a:latin typeface="Lexend" pitchFamily="34" charset="0"/>
                <a:ea typeface="Lexend" pitchFamily="34" charset="-122"/>
                <a:cs typeface="Lexend" pitchFamily="34" charset="-120"/>
              </a:rPr>
              <a:t>DEVELOPERS</a:t>
            </a:r>
            <a:endParaRPr lang="en-US" sz="750" dirty="0"/>
          </a:p>
        </p:txBody>
      </p:sp>
      <p:sp>
        <p:nvSpPr>
          <p:cNvPr id="29" name="Shape 27"/>
          <p:cNvSpPr/>
          <p:nvPr/>
        </p:nvSpPr>
        <p:spPr>
          <a:xfrm>
            <a:off x="457200" y="3383280"/>
            <a:ext cx="8229600" cy="566928"/>
          </a:xfrm>
          <a:prstGeom prst="roundRect">
            <a:avLst>
              <a:gd name="adj" fmla="val 9677"/>
            </a:avLst>
          </a:prstGeom>
          <a:solidFill>
            <a:srgbClr val="D8E4D6"/>
          </a:solidFill>
          <a:ln w="9525">
            <a:solidFill>
              <a:srgbClr val="DBC89F"/>
            </a:solidFill>
            <a:prstDash val="solid"/>
          </a:ln>
        </p:spPr>
      </p:sp>
      <p:sp>
        <p:nvSpPr>
          <p:cNvPr id="30" name="Text 28"/>
          <p:cNvSpPr txBox="1"/>
          <p:nvPr/>
        </p:nvSpPr>
        <p:spPr>
          <a:xfrm>
            <a:off x="640080" y="3419856"/>
            <a:ext cx="7863840" cy="493776"/>
          </a:xfrm>
          <a:prstGeom prst="rect">
            <a:avLst/>
          </a:prstGeom>
          <a:noFill/>
          <a:ln/>
        </p:spPr>
        <p:txBody>
          <a:bodyPr wrap="square" lIns="0" tIns="0" rIns="0" bIns="0" rtlCol="0" anchor="ctr"/>
          <a:lstStyle/>
          <a:p>
            <a:pPr indent="0" marL="0">
              <a:buNone/>
            </a:pPr>
            <a:r>
              <a:rPr lang="en-US" sz="1150" b="1" dirty="0">
                <a:solidFill>
                  <a:srgbClr val="1D1D1D"/>
                </a:solidFill>
                <a:latin typeface="Lexend SemiBold" pitchFamily="34" charset="0"/>
                <a:ea typeface="Lexend SemiBold" pitchFamily="34" charset="-122"/>
                <a:cs typeface="Lexend SemiBold" pitchFamily="34" charset="-120"/>
              </a:rPr>
              <a:t>About thirty units of work every month, for twenty-nine months. Alongside our regular jobs.</a:t>
            </a:r>
            <a:endParaRPr lang="en-US" sz="1150" dirty="0"/>
          </a:p>
        </p:txBody>
      </p:sp>
      <p:sp>
        <p:nvSpPr>
          <p:cNvPr id="31" name="Text 29"/>
          <p:cNvSpPr txBox="1"/>
          <p:nvPr/>
        </p:nvSpPr>
        <p:spPr>
          <a:xfrm>
            <a:off x="457200" y="4059936"/>
            <a:ext cx="8229600" cy="219456"/>
          </a:xfrm>
          <a:prstGeom prst="rect">
            <a:avLst/>
          </a:prstGeom>
          <a:noFill/>
          <a:ln/>
        </p:spPr>
        <p:txBody>
          <a:bodyPr wrap="square" lIns="0" tIns="0" rIns="0" bIns="0" rtlCol="0" anchor="ctr"/>
          <a:lstStyle/>
          <a:p>
            <a:pPr indent="0" marL="0">
              <a:buNone/>
            </a:pPr>
            <a:r>
              <a:rPr lang="en-US" sz="850" i="1" dirty="0">
                <a:solidFill>
                  <a:srgbClr val="76766B"/>
                </a:solidFill>
                <a:latin typeface="Lexend" pitchFamily="34" charset="0"/>
                <a:ea typeface="Lexend" pitchFamily="34" charset="-122"/>
                <a:cs typeface="Lexend" pitchFamily="34" charset="-120"/>
              </a:rPr>
              <a:t>A “batch of work” is one recorded change — think of it as one entry in a very detailed lab notebook.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TEN STAGES</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How it was built</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502920"/>
                <a:gridCol w="4434840"/>
                <a:gridCol w="2148840"/>
                <a:gridCol w="1143000"/>
              </a:tblGrid>
              <a:tr h="251460">
                <a:tc>
                  <a:txBody>
                    <a:bodyPr/>
                    <a:lstStyle/>
                    <a:p>
                      <a:pPr indent="0" marL="0">
                        <a:buNone/>
                      </a:pP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indent="0" marL="0">
                        <a:buNone/>
                      </a:pPr>
                      <a:r>
                        <a:rPr lang="en-US" sz="950" b="1" dirty="0">
                          <a:solidFill>
                            <a:srgbClr val="FFFFF0"/>
                          </a:solidFill>
                          <a:latin typeface="Lexend SemiBold" pitchFamily="34" charset="0"/>
                          <a:ea typeface="Lexend SemiBold" pitchFamily="34" charset="-122"/>
                          <a:cs typeface="Lexend SemiBold" pitchFamily="34" charset="-120"/>
                        </a:rPr>
                        <a:t>Stage</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indent="0" marL="0">
                        <a:buNone/>
                      </a:pPr>
                      <a:r>
                        <a:rPr lang="en-US" sz="950" b="1" dirty="0">
                          <a:solidFill>
                            <a:srgbClr val="FFFFF0"/>
                          </a:solidFill>
                          <a:latin typeface="Lexend SemiBold" pitchFamily="34" charset="0"/>
                          <a:ea typeface="Lexend SemiBold" pitchFamily="34" charset="-122"/>
                          <a:cs typeface="Lexend SemiBold" pitchFamily="34" charset="-120"/>
                        </a:rPr>
                        <a:t>When</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c>
                  <a:txBody>
                    <a:bodyPr/>
                    <a:lstStyle/>
                    <a:p>
                      <a:pPr algn="ctr" indent="0" marL="0">
                        <a:buNone/>
                      </a:pPr>
                      <a:r>
                        <a:rPr lang="en-US" sz="950" b="1" dirty="0">
                          <a:solidFill>
                            <a:srgbClr val="FFFFF0"/>
                          </a:solidFill>
                          <a:latin typeface="Lexend SemiBold" pitchFamily="34" charset="0"/>
                          <a:ea typeface="Lexend SemiBold" pitchFamily="34" charset="-122"/>
                          <a:cs typeface="Lexend SemiBold" pitchFamily="34" charset="-120"/>
                        </a:rPr>
                        <a:t>Units</a:t>
                      </a:r>
                      <a:endParaRPr lang="en-US" sz="95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1D1D1D"/>
                    </a:solidFill>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1</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Foundations</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Mar – May 2024</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95</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2</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Accounts and sign-in</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May – Aug 2024</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90</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3</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The data model, and importing the old data</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Aug – Oct 2024</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50</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4</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The shared database lists; first admin tools</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Oct 2024 – Mar 2025</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110</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5</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The ten survey forms</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Apr – Aug 2025</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115</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6</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Getting ready to go live</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Sept 2025</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116</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b="1" dirty="0">
                          <a:solidFill>
                            <a:srgbClr val="FF6652"/>
                          </a:solidFill>
                          <a:latin typeface="Lexend SemiBold" pitchFamily="34" charset="0"/>
                          <a:ea typeface="Lexend SemiBold" pitchFamily="34" charset="-122"/>
                          <a:cs typeface="Lexend SemiBold" pitchFamily="34" charset="-120"/>
                        </a:rPr>
                        <a:t>7</a:t>
                      </a:r>
                      <a:endParaRPr lang="en-US" sz="90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D8E4D6"/>
                    </a:solidFill>
                  </a:tcPr>
                </a:tc>
                <a:tc>
                  <a:txBody>
                    <a:bodyPr/>
                    <a:lstStyle/>
                    <a:p>
                      <a:pPr indent="0" marL="0">
                        <a:buNone/>
                      </a:pPr>
                      <a:r>
                        <a:rPr lang="en-US" sz="900" b="1" dirty="0">
                          <a:solidFill>
                            <a:srgbClr val="FF6652"/>
                          </a:solidFill>
                          <a:latin typeface="Lexend SemiBold" pitchFamily="34" charset="0"/>
                          <a:ea typeface="Lexend SemiBold" pitchFamily="34" charset="-122"/>
                          <a:cs typeface="Lexend SemiBold" pitchFamily="34" charset="-120"/>
                        </a:rPr>
                        <a:t>The 2025 collection, live</a:t>
                      </a:r>
                      <a:endParaRPr lang="en-US" sz="90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D8E4D6"/>
                    </a:solidFill>
                  </a:tcPr>
                </a:tc>
                <a:tc>
                  <a:txBody>
                    <a:bodyPr/>
                    <a:lstStyle/>
                    <a:p>
                      <a:pPr indent="0" marL="0">
                        <a:buNone/>
                      </a:pPr>
                      <a:r>
                        <a:rPr lang="en-US" sz="900" b="1" dirty="0">
                          <a:solidFill>
                            <a:srgbClr val="FF6652"/>
                          </a:solidFill>
                          <a:latin typeface="Lexend SemiBold" pitchFamily="34" charset="0"/>
                          <a:ea typeface="Lexend SemiBold" pitchFamily="34" charset="-122"/>
                          <a:cs typeface="Lexend SemiBold" pitchFamily="34" charset="-120"/>
                        </a:rPr>
                        <a:t>Oct – Dec 2025</a:t>
                      </a:r>
                      <a:endParaRPr lang="en-US" sz="90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D8E4D6"/>
                    </a:solidFill>
                  </a:tcPr>
                </a:tc>
                <a:tc>
                  <a:txBody>
                    <a:bodyPr/>
                    <a:lstStyle/>
                    <a:p>
                      <a:pPr algn="ctr" indent="0" marL="0">
                        <a:buNone/>
                      </a:pPr>
                      <a:r>
                        <a:rPr lang="en-US" sz="900" b="1" dirty="0">
                          <a:solidFill>
                            <a:srgbClr val="FF6652"/>
                          </a:solidFill>
                          <a:latin typeface="Lexend SemiBold" pitchFamily="34" charset="0"/>
                          <a:ea typeface="Lexend SemiBold" pitchFamily="34" charset="-122"/>
                          <a:cs typeface="Lexend SemiBold" pitchFamily="34" charset="-120"/>
                        </a:rPr>
                        <a:t>218</a:t>
                      </a:r>
                      <a:endParaRPr lang="en-US" sz="900" dirty="0">
                        <a:latin typeface="Lexend SemiBold" charset="0"/>
                        <a:ea typeface="Lexend SemiBold" charset="0"/>
                        <a:cs typeface="Lexend SemiBol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solidFill>
                      <a:srgbClr val="D8E4D6"/>
                    </a:solidFill>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8</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Reports and exports</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Jan – Mar 2026</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55</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9</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The public statistics pages</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May – Jun 2026</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63</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r h="251460">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10</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Tightening security</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indent="0" marL="0">
                        <a:buNone/>
                      </a:pPr>
                      <a:r>
                        <a:rPr lang="en-US" sz="900" dirty="0">
                          <a:solidFill>
                            <a:srgbClr val="1D1D1D"/>
                          </a:solidFill>
                          <a:latin typeface="Lexend" pitchFamily="34" charset="0"/>
                          <a:ea typeface="Lexend" pitchFamily="34" charset="-122"/>
                          <a:cs typeface="Lexend" pitchFamily="34" charset="-120"/>
                        </a:rPr>
                        <a:t>Aug 2026</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c>
                  <a:txBody>
                    <a:bodyPr/>
                    <a:lstStyle/>
                    <a:p>
                      <a:pPr algn="ctr" indent="0" marL="0">
                        <a:buNone/>
                      </a:pPr>
                      <a:r>
                        <a:rPr lang="en-US" sz="900" dirty="0">
                          <a:solidFill>
                            <a:srgbClr val="1D1D1D"/>
                          </a:solidFill>
                          <a:latin typeface="Lexend" pitchFamily="34" charset="0"/>
                          <a:ea typeface="Lexend" pitchFamily="34" charset="-122"/>
                          <a:cs typeface="Lexend" pitchFamily="34" charset="-120"/>
                        </a:rPr>
                        <a:t>—</a:t>
                      </a:r>
                      <a:endParaRPr lang="en-US" sz="900" dirty="0">
                        <a:latin typeface="Lexend" charset="0"/>
                        <a:ea typeface="Lexend" charset="0"/>
                        <a:cs typeface="Lexend" charset="0"/>
                      </a:endParaRPr>
                    </a:p>
                  </a:txBody>
                  <a:tcPr marL="91440" marR="91440" marT="45720" marB="45720" anchor="ctr">
                    <a:lnL w="6350" cap="flat" cmpd="sng" algn="ctr">
                      <a:solidFill>
                        <a:srgbClr val="DBC89F"/>
                      </a:solidFill>
                      <a:prstDash val="solid"/>
                      <a:round/>
                      <a:headEnd type="none" w="med" len="med"/>
                      <a:tailEnd type="none" w="med" len="med"/>
                    </a:lnL>
                    <a:lnR w="6350" cap="flat" cmpd="sng" algn="ctr">
                      <a:solidFill>
                        <a:srgbClr val="DBC89F"/>
                      </a:solidFill>
                      <a:prstDash val="solid"/>
                      <a:round/>
                      <a:headEnd type="none" w="med" len="med"/>
                      <a:tailEnd type="none" w="med" len="med"/>
                    </a:lnR>
                    <a:lnT w="6350" cap="flat" cmpd="sng" algn="ctr">
                      <a:solidFill>
                        <a:srgbClr val="DBC89F"/>
                      </a:solidFill>
                      <a:prstDash val="solid"/>
                      <a:round/>
                      <a:headEnd type="none" w="med" len="med"/>
                      <a:tailEnd type="none" w="med" len="med"/>
                    </a:lnT>
                    <a:lnB w="6350" cap="flat" cmpd="sng" algn="ctr">
                      <a:solidFill>
                        <a:srgbClr val="DBC89F"/>
                      </a:solidFill>
                      <a:prstDash val="solid"/>
                      <a:round/>
                      <a:headEnd type="none" w="med" len="med"/>
                      <a:tailEnd type="none" w="med" len="med"/>
                    </a:lnB>
                  </a:tcPr>
                </a:tc>
              </a:tr>
            </a:tbl>
          </a:graphicData>
        </a:graphic>
      </p:graphicFrame>
      <p:sp>
        <p:nvSpPr>
          <p:cNvPr id="6" name="Shape 3"/>
          <p:cNvSpPr/>
          <p:nvPr/>
        </p:nvSpPr>
        <p:spPr>
          <a:xfrm>
            <a:off x="457200" y="3977640"/>
            <a:ext cx="8229600" cy="566928"/>
          </a:xfrm>
          <a:prstGeom prst="roundRect">
            <a:avLst>
              <a:gd name="adj" fmla="val 9677"/>
            </a:avLst>
          </a:prstGeom>
          <a:solidFill>
            <a:srgbClr val="D8E4D6"/>
          </a:solidFill>
          <a:ln w="9525">
            <a:solidFill>
              <a:srgbClr val="DBC89F"/>
            </a:solidFill>
            <a:prstDash val="solid"/>
          </a:ln>
        </p:spPr>
      </p:sp>
      <p:sp>
        <p:nvSpPr>
          <p:cNvPr id="7" name="Text 4"/>
          <p:cNvSpPr txBox="1"/>
          <p:nvPr/>
        </p:nvSpPr>
        <p:spPr>
          <a:xfrm>
            <a:off x="640080" y="4014216"/>
            <a:ext cx="7863840" cy="493776"/>
          </a:xfrm>
          <a:prstGeom prst="rect">
            <a:avLst/>
          </a:prstGeom>
          <a:noFill/>
          <a:ln/>
        </p:spPr>
        <p:txBody>
          <a:bodyPr wrap="square" lIns="0" tIns="0" rIns="0" bIns="0" rtlCol="0" anchor="ctr"/>
          <a:lstStyle/>
          <a:p>
            <a:pPr indent="0" marL="0">
              <a:buNone/>
            </a:pPr>
            <a:r>
              <a:rPr lang="en-US" sz="1150" b="1" dirty="0">
                <a:solidFill>
                  <a:srgbClr val="51BD85"/>
                </a:solidFill>
                <a:latin typeface="Lexend SemiBold" pitchFamily="34" charset="0"/>
                <a:ea typeface="Lexend SemiBold" pitchFamily="34" charset="-122"/>
                <a:cs typeface="Lexend SemiBold" pitchFamily="34" charset="-120"/>
              </a:rPr>
              <a:t>Stages one to five were building. Six to ten were keeping it alive.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STAGE SEVEN</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The 2025 collection ran, start to finish</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Shape 3"/>
          <p:cNvSpPr/>
          <p:nvPr/>
        </p:nvSpPr>
        <p:spPr>
          <a:xfrm>
            <a:off x="457200" y="1115568"/>
            <a:ext cx="2606040" cy="1051560"/>
          </a:xfrm>
          <a:prstGeom prst="roundRect">
            <a:avLst>
              <a:gd name="adj" fmla="val 5217"/>
            </a:avLst>
          </a:prstGeom>
          <a:solidFill>
            <a:srgbClr val="D8E4D6"/>
          </a:solidFill>
          <a:ln w="9525">
            <a:solidFill>
              <a:srgbClr val="DBC89F"/>
            </a:solidFill>
            <a:prstDash val="solid"/>
          </a:ln>
        </p:spPr>
      </p:sp>
      <p:sp>
        <p:nvSpPr>
          <p:cNvPr id="6" name="Text 4"/>
          <p:cNvSpPr txBox="1"/>
          <p:nvPr/>
        </p:nvSpPr>
        <p:spPr>
          <a:xfrm>
            <a:off x="457200" y="1207008"/>
            <a:ext cx="2606040" cy="868680"/>
          </a:xfrm>
          <a:prstGeom prst="rect">
            <a:avLst/>
          </a:prstGeom>
          <a:noFill/>
          <a:ln/>
        </p:spPr>
        <p:txBody>
          <a:bodyPr wrap="square" lIns="0" tIns="0" rIns="0" bIns="0" rtlCol="0" anchor="ctr"/>
          <a:lstStyle/>
          <a:p>
            <a:pPr algn="ctr" indent="0" marL="0">
              <a:buNone/>
            </a:pPr>
            <a:r>
              <a:rPr lang="en-US" sz="3000" b="1" dirty="0">
                <a:solidFill>
                  <a:srgbClr val="FF6652"/>
                </a:solidFill>
                <a:latin typeface="Lexend SemiBold" pitchFamily="34" charset="0"/>
                <a:ea typeface="Lexend SemiBold" pitchFamily="34" charset="-122"/>
                <a:cs typeface="Lexend SemiBold" pitchFamily="34" charset="-120"/>
              </a:rPr>
              <a:t>⅓</a:t>
            </a:r>
            <a:endParaRPr lang="en-US" sz="3000" dirty="0"/>
          </a:p>
          <a:p>
            <a:pPr algn="ctr" indent="0" marL="0">
              <a:buNone/>
            </a:pPr>
            <a:r>
              <a:rPr lang="en-US" sz="700" spc="80" kern="0" dirty="0">
                <a:solidFill>
                  <a:srgbClr val="76766B"/>
                </a:solidFill>
                <a:latin typeface="Lexend" pitchFamily="34" charset="0"/>
                <a:ea typeface="Lexend" pitchFamily="34" charset="-122"/>
                <a:cs typeface="Lexend" pitchFamily="34" charset="-120"/>
              </a:rPr>
              <a:t>OF THE PROJECT, IN TWO MONTHS</a:t>
            </a:r>
            <a:endParaRPr lang="en-US" sz="3000" dirty="0"/>
          </a:p>
        </p:txBody>
      </p:sp>
      <p:sp>
        <p:nvSpPr>
          <p:cNvPr id="7" name="Text 5"/>
          <p:cNvSpPr txBox="1"/>
          <p:nvPr/>
        </p:nvSpPr>
        <p:spPr>
          <a:xfrm>
            <a:off x="3291840" y="1170432"/>
            <a:ext cx="5394960" cy="960120"/>
          </a:xfrm>
          <a:prstGeom prst="rect">
            <a:avLst/>
          </a:prstGeom>
          <a:noFill/>
          <a:ln/>
        </p:spPr>
        <p:txBody>
          <a:bodyPr wrap="square" lIns="0" tIns="0" rIns="0" bIns="0" rtlCol="0" anchor="ctr"/>
          <a:lstStyle/>
          <a:p>
            <a:pPr indent="0" marL="0">
              <a:lnSpc>
                <a:spcPct val="110000"/>
              </a:lnSpc>
              <a:buNone/>
            </a:pPr>
            <a:r>
              <a:rPr lang="en-US" sz="1200" b="1" dirty="0">
                <a:solidFill>
                  <a:srgbClr val="1D1D1D"/>
                </a:solidFill>
                <a:latin typeface="Lexend SemiBold" pitchFamily="34" charset="0"/>
                <a:ea typeface="Lexend SemiBold" pitchFamily="34" charset="-122"/>
                <a:cs typeface="Lexend SemiBold" pitchFamily="34" charset="-120"/>
              </a:rPr>
              <a:t>That is what it looks like to support a survey while it is running — with your data in it.</a:t>
            </a:r>
            <a:endParaRPr lang="en-US" sz="1200" dirty="0"/>
          </a:p>
        </p:txBody>
      </p:sp>
      <p:sp>
        <p:nvSpPr>
          <p:cNvPr id="8" name="Text 6"/>
          <p:cNvSpPr txBox="1"/>
          <p:nvPr/>
        </p:nvSpPr>
        <p:spPr>
          <a:xfrm>
            <a:off x="457200" y="2331720"/>
            <a:ext cx="8229600" cy="1234440"/>
          </a:xfrm>
          <a:prstGeom prst="rect">
            <a:avLst/>
          </a:prstGeom>
          <a:noFill/>
          <a:ln/>
        </p:spPr>
        <p:txBody>
          <a:bodyPr wrap="square" lIns="0" tIns="0" rIns="0" bIns="0" rtlCol="0" anchor="t"/>
          <a:lstStyle/>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Set up the automatic opening and closing — and tuned it live</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Corrected the arithmetic on several forms against the real questionnaire</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Added “see your last five years” to all ten forms, mid-season, because people asked</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Fixed gaps in Save Draft; repaired East Asian text in the exports</a:t>
            </a:r>
            <a:endParaRPr lang="en-US" sz="1000" dirty="0"/>
          </a:p>
        </p:txBody>
      </p:sp>
      <p:sp>
        <p:nvSpPr>
          <p:cNvPr id="9" name="Shape 7"/>
          <p:cNvSpPr/>
          <p:nvPr/>
        </p:nvSpPr>
        <p:spPr>
          <a:xfrm>
            <a:off x="457200" y="3675888"/>
            <a:ext cx="8229600" cy="841248"/>
          </a:xfrm>
          <a:prstGeom prst="roundRect">
            <a:avLst>
              <a:gd name="adj" fmla="val 6522"/>
            </a:avLst>
          </a:prstGeom>
          <a:solidFill>
            <a:srgbClr val="FFFFFF"/>
          </a:solidFill>
          <a:ln w="9525">
            <a:solidFill>
              <a:srgbClr val="DBC89F"/>
            </a:solidFill>
            <a:prstDash val="solid"/>
          </a:ln>
        </p:spPr>
      </p:sp>
      <p:sp>
        <p:nvSpPr>
          <p:cNvPr id="10" name="Text 8"/>
          <p:cNvSpPr txBox="1"/>
          <p:nvPr/>
        </p:nvSpPr>
        <p:spPr>
          <a:xfrm>
            <a:off x="658368" y="3749040"/>
            <a:ext cx="7827264" cy="219456"/>
          </a:xfrm>
          <a:prstGeom prst="rect">
            <a:avLst/>
          </a:prstGeom>
          <a:noFill/>
          <a:ln/>
        </p:spPr>
        <p:txBody>
          <a:bodyPr wrap="square" lIns="0" tIns="0" rIns="0" bIns="0" rtlCol="0" anchor="ctr"/>
          <a:lstStyle/>
          <a:p>
            <a:pPr indent="0" marL="0">
              <a:buNone/>
            </a:pPr>
            <a:r>
              <a:rPr lang="en-US" sz="1050" b="1" dirty="0">
                <a:solidFill>
                  <a:srgbClr val="FF6652"/>
                </a:solidFill>
                <a:latin typeface="Lexend SemiBold" pitchFamily="34" charset="0"/>
                <a:ea typeface="Lexend SemiBold" pitchFamily="34" charset="-122"/>
                <a:cs typeface="Lexend SemiBold" pitchFamily="34" charset="-120"/>
              </a:rPr>
              <a:t>And one we are proud of</a:t>
            </a:r>
            <a:endParaRPr lang="en-US" sz="1050" dirty="0"/>
          </a:p>
        </p:txBody>
      </p:sp>
      <p:sp>
        <p:nvSpPr>
          <p:cNvPr id="11" name="Text 9"/>
          <p:cNvSpPr txBox="1"/>
          <p:nvPr/>
        </p:nvSpPr>
        <p:spPr>
          <a:xfrm>
            <a:off x="658368" y="3986784"/>
            <a:ext cx="7827264" cy="457200"/>
          </a:xfrm>
          <a:prstGeom prst="rect">
            <a:avLst/>
          </a:prstGeom>
          <a:noFill/>
          <a:ln/>
        </p:spPr>
        <p:txBody>
          <a:bodyPr wrap="square" lIns="0" tIns="0" rIns="0" bIns="0" rtlCol="0" anchor="t"/>
          <a:lstStyle/>
          <a:p>
            <a:pPr indent="0" marL="0">
              <a:buNone/>
            </a:pPr>
            <a:r>
              <a:rPr lang="en-US" sz="950" dirty="0">
                <a:solidFill>
                  <a:srgbClr val="1D1D1D"/>
                </a:solidFill>
                <a:latin typeface="Lexend" pitchFamily="34" charset="0"/>
                <a:ea typeface="Lexend" pitchFamily="34" charset="-122"/>
                <a:cs typeface="Lexend" pitchFamily="34" charset="-120"/>
              </a:rPr>
              <a:t>We tried a major upgrade in mid-October, saw it put the live season at risk, and undid it within the hour. We shipped it ten months later, when nobody’s data was on the line.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2026</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The same two people are still behind it</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Meng</a:t>
            </a:r>
            <a:endParaRPr lang="en-US" sz="850" dirty="0"/>
          </a:p>
        </p:txBody>
      </p:sp>
      <p:sp>
        <p:nvSpPr>
          <p:cNvPr id="5" name="Text 3"/>
          <p:cNvSpPr txBox="1"/>
          <p:nvPr/>
        </p:nvSpPr>
        <p:spPr>
          <a:xfrm>
            <a:off x="457200" y="1170432"/>
            <a:ext cx="8229600" cy="173736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The 2025 collection was completed successfully</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Yifan and I are watching the system through this year’s season</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Report a problem and we aim to fix it that week — not in the next release</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The documentation is kept current, in English and Chinese</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A written handover checklist lists every account a new maintainer would need</a:t>
            </a:r>
            <a:endParaRPr lang="en-US" sz="1100" dirty="0"/>
          </a:p>
        </p:txBody>
      </p:sp>
      <p:sp>
        <p:nvSpPr>
          <p:cNvPr id="6" name="Shape 4"/>
          <p:cNvSpPr/>
          <p:nvPr/>
        </p:nvSpPr>
        <p:spPr>
          <a:xfrm>
            <a:off x="457200" y="2999232"/>
            <a:ext cx="8229600" cy="566928"/>
          </a:xfrm>
          <a:prstGeom prst="roundRect">
            <a:avLst>
              <a:gd name="adj" fmla="val 9677"/>
            </a:avLst>
          </a:prstGeom>
          <a:solidFill>
            <a:srgbClr val="D8E4D6"/>
          </a:solidFill>
          <a:ln w="9525">
            <a:solidFill>
              <a:srgbClr val="DBC89F"/>
            </a:solidFill>
            <a:prstDash val="solid"/>
          </a:ln>
        </p:spPr>
      </p:sp>
      <p:sp>
        <p:nvSpPr>
          <p:cNvPr id="7" name="Text 5"/>
          <p:cNvSpPr txBox="1"/>
          <p:nvPr/>
        </p:nvSpPr>
        <p:spPr>
          <a:xfrm>
            <a:off x="640080" y="3035808"/>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A volunteer committee should not depend on any one person indefinitely — including me.</a:t>
            </a:r>
            <a:endParaRPr lang="en-US" sz="1150" dirty="0"/>
          </a:p>
        </p:txBody>
      </p:sp>
      <p:sp>
        <p:nvSpPr>
          <p:cNvPr id="8" name="Shape 6"/>
          <p:cNvSpPr/>
          <p:nvPr/>
        </p:nvSpPr>
        <p:spPr>
          <a:xfrm>
            <a:off x="457200" y="3749040"/>
            <a:ext cx="8229600" cy="749808"/>
          </a:xfrm>
          <a:prstGeom prst="roundRect">
            <a:avLst>
              <a:gd name="adj" fmla="val 7317"/>
            </a:avLst>
          </a:prstGeom>
          <a:solidFill>
            <a:srgbClr val="D8E4D6"/>
          </a:solidFill>
          <a:ln w="9525">
            <a:solidFill>
              <a:srgbClr val="DBC89F"/>
            </a:solidFill>
            <a:prstDash val="solid"/>
          </a:ln>
        </p:spPr>
      </p:sp>
      <p:sp>
        <p:nvSpPr>
          <p:cNvPr id="9" name="Text 7"/>
          <p:cNvSpPr txBox="1"/>
          <p:nvPr/>
        </p:nvSpPr>
        <p:spPr>
          <a:xfrm>
            <a:off x="658368" y="3803904"/>
            <a:ext cx="7827264" cy="640080"/>
          </a:xfrm>
          <a:prstGeom prst="rect">
            <a:avLst/>
          </a:prstGeom>
          <a:noFill/>
          <a:ln/>
        </p:spPr>
        <p:txBody>
          <a:bodyPr wrap="square" lIns="0" tIns="0" rIns="0" bIns="0" rtlCol="0" anchor="ctr"/>
          <a:lstStyle/>
          <a:p>
            <a:pPr indent="0" marL="0">
              <a:buNone/>
            </a:pPr>
            <a:r>
              <a:rPr lang="en-US" sz="1100" b="1" dirty="0">
                <a:solidFill>
                  <a:srgbClr val="51BD85"/>
                </a:solidFill>
                <a:latin typeface="Lexend SemiBold" pitchFamily="34" charset="0"/>
                <a:ea typeface="Lexend SemiBold" pitchFamily="34" charset="-122"/>
                <a:cs typeface="Lexend SemiBold" pitchFamily="34" charset="-120"/>
              </a:rPr>
              <a:t>Next: Yifan on what sits underneath — how twenty-five years of data got moved, and how it is kept safe.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D1D1D"/>
        </a:solidFill>
      </p:bgPr>
    </p:bg>
    <p:spTree>
      <p:nvGrpSpPr>
        <p:cNvPr id="1" name=""/>
        <p:cNvGrpSpPr/>
        <p:nvPr/>
      </p:nvGrpSpPr>
      <p:grpSpPr>
        <a:xfrm>
          <a:off x="0" y="0"/>
          <a:ext cx="0" cy="0"/>
          <a:chOff x="0" y="0"/>
          <a:chExt cx="0" cy="0"/>
        </a:xfrm>
      </p:grpSpPr>
      <p:sp>
        <p:nvSpPr>
          <p:cNvPr id="2" name="Text 0"/>
          <p:cNvSpPr txBox="1"/>
          <p:nvPr/>
        </p:nvSpPr>
        <p:spPr>
          <a:xfrm>
            <a:off x="457200" y="1417320"/>
            <a:ext cx="8229600" cy="384048"/>
          </a:xfrm>
          <a:prstGeom prst="rect">
            <a:avLst/>
          </a:prstGeom>
          <a:noFill/>
          <a:ln/>
        </p:spPr>
        <p:txBody>
          <a:bodyPr wrap="square" lIns="0" tIns="0" rIns="0" bIns="0" rtlCol="0" anchor="ctr"/>
          <a:lstStyle/>
          <a:p>
            <a:pPr indent="0" marL="0">
              <a:buNone/>
            </a:pPr>
            <a:r>
              <a:rPr lang="en-US" sz="1500" dirty="0">
                <a:solidFill>
                  <a:srgbClr val="FFE534"/>
                </a:solidFill>
                <a:latin typeface="Lexend" pitchFamily="34" charset="0"/>
                <a:ea typeface="Lexend" pitchFamily="34" charset="-122"/>
                <a:cs typeface="Lexend" pitchFamily="34" charset="-120"/>
              </a:rPr>
              <a:t>Part 2</a:t>
            </a:r>
            <a:endParaRPr lang="en-US" sz="1500" dirty="0"/>
          </a:p>
        </p:txBody>
      </p:sp>
      <p:sp>
        <p:nvSpPr>
          <p:cNvPr id="3" name="Text 1"/>
          <p:cNvSpPr txBox="1"/>
          <p:nvPr/>
        </p:nvSpPr>
        <p:spPr>
          <a:xfrm>
            <a:off x="457200" y="1810512"/>
            <a:ext cx="8229600" cy="777240"/>
          </a:xfrm>
          <a:prstGeom prst="rect">
            <a:avLst/>
          </a:prstGeom>
          <a:noFill/>
          <a:ln/>
        </p:spPr>
        <p:txBody>
          <a:bodyPr wrap="square" lIns="0" tIns="0" rIns="0" bIns="0" rtlCol="0" anchor="ctr"/>
          <a:lstStyle/>
          <a:p>
            <a:pPr indent="0" marL="0">
              <a:buNone/>
            </a:pPr>
            <a:r>
              <a:rPr lang="en-US" sz="3400" b="1" dirty="0">
                <a:solidFill>
                  <a:srgbClr val="FFFFF0"/>
                </a:solidFill>
                <a:latin typeface="Lexend SemiBold" pitchFamily="34" charset="0"/>
                <a:ea typeface="Lexend SemiBold" pitchFamily="34" charset="-122"/>
                <a:cs typeface="Lexend SemiBold" pitchFamily="34" charset="-120"/>
              </a:rPr>
              <a:t>Moving the Data, Safely</a:t>
            </a:r>
            <a:endParaRPr lang="en-US" sz="3400" dirty="0"/>
          </a:p>
        </p:txBody>
      </p:sp>
      <p:sp>
        <p:nvSpPr>
          <p:cNvPr id="4" name="Text 2"/>
          <p:cNvSpPr txBox="1"/>
          <p:nvPr/>
        </p:nvSpPr>
        <p:spPr>
          <a:xfrm>
            <a:off x="457200" y="2743200"/>
            <a:ext cx="6858000" cy="457200"/>
          </a:xfrm>
          <a:prstGeom prst="rect">
            <a:avLst/>
          </a:prstGeom>
          <a:noFill/>
          <a:ln/>
        </p:spPr>
        <p:txBody>
          <a:bodyPr wrap="square" lIns="0" tIns="0" rIns="0" bIns="0" rtlCol="0" anchor="ctr"/>
          <a:lstStyle/>
          <a:p>
            <a:pPr indent="0" marL="0">
              <a:buNone/>
            </a:pPr>
            <a:r>
              <a:rPr lang="en-US" sz="1150" dirty="0">
                <a:solidFill>
                  <a:srgbClr val="D8E4D6"/>
                </a:solidFill>
                <a:latin typeface="Lexend" pitchFamily="34" charset="0"/>
                <a:ea typeface="Lexend" pitchFamily="34" charset="-122"/>
                <a:cs typeface="Lexend" pitchFamily="34" charset="-120"/>
              </a:rPr>
              <a:t>How twenty-five years of records were migrated, and how they are kept.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THE MIGRATION PROBLEM</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Moving twenty-five years of data</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Text 3"/>
          <p:cNvSpPr txBox="1"/>
          <p:nvPr/>
        </p:nvSpPr>
        <p:spPr>
          <a:xfrm>
            <a:off x="457200" y="1170432"/>
            <a:ext cx="8229600" cy="146304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Decades of statistics, and the full structure of every form, had to arrive intact</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Two different database systems, with different rules about what a number is</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No downtime allowed — the historical record had to stay online</a:t>
            </a:r>
            <a:endParaRPr lang="en-US" sz="1100" dirty="0"/>
          </a:p>
          <a:p>
            <a:pPr marL="152400" indent="-152400">
              <a:spcAft>
                <a:spcPts val="600"/>
              </a:spcAft>
              <a:buSzPct val="100000"/>
              <a:buChar char="•"/>
            </a:pPr>
            <a:r>
              <a:rPr lang="en-US" sz="1100" dirty="0">
                <a:solidFill>
                  <a:srgbClr val="1D1D1D"/>
                </a:solidFill>
                <a:latin typeface="Lexend" pitchFamily="34" charset="0"/>
                <a:ea typeface="Lexend" pitchFamily="34" charset="-122"/>
                <a:cs typeface="Lexend" pitchFamily="34" charset="-120"/>
              </a:rPr>
              <a:t>Nothing could be quietly lost, rounded, or reinterpreted</a:t>
            </a:r>
            <a:endParaRPr lang="en-US" sz="1100" dirty="0"/>
          </a:p>
        </p:txBody>
      </p:sp>
      <p:sp>
        <p:nvSpPr>
          <p:cNvPr id="6" name="Shape 4"/>
          <p:cNvSpPr/>
          <p:nvPr/>
        </p:nvSpPr>
        <p:spPr>
          <a:xfrm>
            <a:off x="457200" y="2743200"/>
            <a:ext cx="8229600" cy="749808"/>
          </a:xfrm>
          <a:prstGeom prst="roundRect">
            <a:avLst>
              <a:gd name="adj" fmla="val 7317"/>
            </a:avLst>
          </a:prstGeom>
          <a:solidFill>
            <a:srgbClr val="D8E4D6"/>
          </a:solidFill>
          <a:ln w="9525">
            <a:solidFill>
              <a:srgbClr val="DBC89F"/>
            </a:solidFill>
            <a:prstDash val="solid"/>
          </a:ln>
        </p:spPr>
      </p:sp>
      <p:sp>
        <p:nvSpPr>
          <p:cNvPr id="7" name="Text 5"/>
          <p:cNvSpPr txBox="1"/>
          <p:nvPr/>
        </p:nvSpPr>
        <p:spPr>
          <a:xfrm>
            <a:off x="658368" y="2798064"/>
            <a:ext cx="7827264" cy="640080"/>
          </a:xfrm>
          <a:prstGeom prst="rect">
            <a:avLst/>
          </a:prstGeom>
          <a:noFill/>
          <a:ln/>
        </p:spPr>
        <p:txBody>
          <a:bodyPr wrap="square" lIns="0" tIns="0" rIns="0" bIns="0" rtlCol="0" anchor="ctr"/>
          <a:lstStyle/>
          <a:p>
            <a:pPr indent="0" marL="0">
              <a:buNone/>
            </a:pPr>
            <a:r>
              <a:rPr lang="en-US" sz="1300" b="1" dirty="0">
                <a:solidFill>
                  <a:srgbClr val="1D1D1D"/>
                </a:solidFill>
                <a:latin typeface="Lexend SemiBold" pitchFamily="34" charset="0"/>
                <a:ea typeface="Lexend SemiBold" pitchFamily="34" charset="-122"/>
                <a:cs typeface="Lexend SemiBold" pitchFamily="34" charset="-120"/>
              </a:rPr>
              <a:t>When people hear “we moved the database,” they picture copying files. It is not that.</a:t>
            </a:r>
            <a:endParaRPr lang="en-US" sz="1300" dirty="0"/>
          </a:p>
        </p:txBody>
      </p:sp>
      <p:sp>
        <p:nvSpPr>
          <p:cNvPr id="8" name="Text 6"/>
          <p:cNvSpPr txBox="1"/>
          <p:nvPr/>
        </p:nvSpPr>
        <p:spPr>
          <a:xfrm>
            <a:off x="457200" y="3675888"/>
            <a:ext cx="8229600" cy="292608"/>
          </a:xfrm>
          <a:prstGeom prst="rect">
            <a:avLst/>
          </a:prstGeom>
          <a:noFill/>
          <a:ln/>
        </p:spPr>
        <p:txBody>
          <a:bodyPr wrap="square" lIns="0" tIns="0" rIns="0" bIns="0" rtlCol="0" anchor="ctr"/>
          <a:lstStyle/>
          <a:p>
            <a:pPr indent="0" marL="0">
              <a:buNone/>
            </a:pPr>
            <a:r>
              <a:rPr lang="en-US" sz="1150" i="1" dirty="0">
                <a:solidFill>
                  <a:srgbClr val="51BD85"/>
                </a:solidFill>
                <a:latin typeface="Lexend" pitchFamily="34" charset="0"/>
                <a:ea typeface="Lexend" pitchFamily="34" charset="-122"/>
                <a:cs typeface="Lexend" pitchFamily="34" charset="-120"/>
              </a:rPr>
              <a:t>“We have already done the hardest possible migration once.”</a:t>
            </a:r>
            <a:endParaRPr lang="en-US" sz="1150" dirty="0"/>
          </a:p>
        </p:txBody>
      </p:sp>
      <p:sp>
        <p:nvSpPr>
          <p:cNvPr id="9" name="Text 7"/>
          <p:cNvSpPr txBox="1"/>
          <p:nvPr/>
        </p:nvSpPr>
        <p:spPr>
          <a:xfrm>
            <a:off x="457200" y="3950208"/>
            <a:ext cx="8229600" cy="219456"/>
          </a:xfrm>
          <a:prstGeom prst="rect">
            <a:avLst/>
          </a:prstGeom>
          <a:noFill/>
          <a:ln/>
        </p:spPr>
        <p:txBody>
          <a:bodyPr wrap="square" lIns="0" tIns="0" rIns="0" bIns="0" rtlCol="0" anchor="ctr"/>
          <a:lstStyle/>
          <a:p>
            <a:pPr indent="0" marL="0">
              <a:buNone/>
            </a:pPr>
            <a:r>
              <a:rPr lang="en-US" sz="850" dirty="0">
                <a:solidFill>
                  <a:srgbClr val="76766B"/>
                </a:solidFill>
                <a:latin typeface="Lexend" pitchFamily="34" charset="0"/>
                <a:ea typeface="Lexend" pitchFamily="34" charset="-122"/>
                <a:cs typeface="Lexend" pitchFamily="34" charset="-120"/>
              </a:rPr>
              <a:t>— from our own maintenance documentation</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AND HOW EACH WAS FIXED</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Three things went wrong</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Shape 3"/>
          <p:cNvSpPr/>
          <p:nvPr/>
        </p:nvSpPr>
        <p:spPr>
          <a:xfrm>
            <a:off x="457200" y="1133856"/>
            <a:ext cx="8229600" cy="969264"/>
          </a:xfrm>
          <a:prstGeom prst="roundRect">
            <a:avLst>
              <a:gd name="adj" fmla="val 5660"/>
            </a:avLst>
          </a:prstGeom>
          <a:solidFill>
            <a:srgbClr val="FFFFFF"/>
          </a:solidFill>
          <a:ln w="9525">
            <a:solidFill>
              <a:srgbClr val="DBC89F"/>
            </a:solidFill>
            <a:prstDash val="solid"/>
          </a:ln>
        </p:spPr>
      </p:sp>
      <p:sp>
        <p:nvSpPr>
          <p:cNvPr id="6" name="Shape 4"/>
          <p:cNvSpPr/>
          <p:nvPr/>
        </p:nvSpPr>
        <p:spPr>
          <a:xfrm>
            <a:off x="621792" y="1280160"/>
            <a:ext cx="256032" cy="256032"/>
          </a:xfrm>
          <a:prstGeom prst="ellipse">
            <a:avLst/>
          </a:prstGeom>
          <a:solidFill>
            <a:srgbClr val="FF6652"/>
          </a:solidFill>
          <a:ln w="12700">
            <a:solidFill>
              <a:srgbClr val="333333"/>
            </a:solidFill>
            <a:prstDash val="solid"/>
          </a:ln>
        </p:spPr>
      </p:sp>
      <p:sp>
        <p:nvSpPr>
          <p:cNvPr id="7" name="Text 5"/>
          <p:cNvSpPr txBox="1"/>
          <p:nvPr/>
        </p:nvSpPr>
        <p:spPr>
          <a:xfrm>
            <a:off x="621792" y="1280160"/>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Lexend SemiBold" pitchFamily="34" charset="0"/>
                <a:ea typeface="Lexend SemiBold" pitchFamily="34" charset="-122"/>
                <a:cs typeface="Lexend SemiBold" pitchFamily="34" charset="-120"/>
              </a:rPr>
              <a:t>1</a:t>
            </a:r>
            <a:endParaRPr lang="en-US" sz="950" dirty="0"/>
          </a:p>
        </p:txBody>
      </p:sp>
      <p:sp>
        <p:nvSpPr>
          <p:cNvPr id="8" name="Text 6"/>
          <p:cNvSpPr txBox="1"/>
          <p:nvPr/>
        </p:nvSpPr>
        <p:spPr>
          <a:xfrm>
            <a:off x="969264" y="1252728"/>
            <a:ext cx="1920240" cy="274320"/>
          </a:xfrm>
          <a:prstGeom prst="rect">
            <a:avLst/>
          </a:prstGeom>
          <a:noFill/>
          <a:ln/>
        </p:spPr>
        <p:txBody>
          <a:bodyPr wrap="square" lIns="0" tIns="0" rIns="0" bIns="0" rtlCol="0" anchor="t"/>
          <a:lstStyle/>
          <a:p>
            <a:pPr indent="0" marL="0">
              <a:buNone/>
            </a:pPr>
            <a:r>
              <a:rPr lang="en-US" sz="1100" b="1" dirty="0">
                <a:solidFill>
                  <a:srgbClr val="1D1D1D"/>
                </a:solidFill>
                <a:latin typeface="Lexend SemiBold" pitchFamily="34" charset="0"/>
                <a:ea typeface="Lexend SemiBold" pitchFamily="34" charset="-122"/>
                <a:cs typeface="Lexend SemiBold" pitchFamily="34" charset="-120"/>
              </a:rPr>
              <a:t>The counter problem</a:t>
            </a:r>
            <a:endParaRPr lang="en-US" sz="1100" dirty="0"/>
          </a:p>
        </p:txBody>
      </p:sp>
      <p:sp>
        <p:nvSpPr>
          <p:cNvPr id="9" name="Text 7"/>
          <p:cNvSpPr txBox="1"/>
          <p:nvPr/>
        </p:nvSpPr>
        <p:spPr>
          <a:xfrm>
            <a:off x="969264" y="1536192"/>
            <a:ext cx="3108960" cy="475488"/>
          </a:xfrm>
          <a:prstGeom prst="rect">
            <a:avLst/>
          </a:prstGeom>
          <a:noFill/>
          <a:ln/>
        </p:spPr>
        <p:txBody>
          <a:bodyPr wrap="square" lIns="0" tIns="0" rIns="0" bIns="0" rtlCol="0" anchor="t"/>
          <a:lstStyle/>
          <a:p>
            <a:pPr indent="0" marL="0">
              <a:buNone/>
            </a:pPr>
            <a:r>
              <a:rPr lang="en-US" sz="850" dirty="0">
                <a:solidFill>
                  <a:srgbClr val="1D1D1D"/>
                </a:solidFill>
                <a:latin typeface="Lexend" pitchFamily="34" charset="0"/>
                <a:ea typeface="Lexend" pitchFamily="34" charset="-122"/>
                <a:cs typeface="Lexend" pitchFamily="34" charset="-120"/>
              </a:rPr>
              <a:t>The database’s internal counter came across behind the data. The first new record collided with an existing one.</a:t>
            </a:r>
            <a:endParaRPr lang="en-US" sz="850" dirty="0"/>
          </a:p>
        </p:txBody>
      </p:sp>
      <p:sp>
        <p:nvSpPr>
          <p:cNvPr id="10" name="Text 8"/>
          <p:cNvSpPr txBox="1"/>
          <p:nvPr/>
        </p:nvSpPr>
        <p:spPr>
          <a:xfrm>
            <a:off x="4251960" y="1298448"/>
            <a:ext cx="4251960" cy="658368"/>
          </a:xfrm>
          <a:prstGeom prst="rect">
            <a:avLst/>
          </a:prstGeom>
          <a:noFill/>
          <a:ln/>
        </p:spPr>
        <p:txBody>
          <a:bodyPr wrap="square" lIns="0" tIns="0" rIns="0" bIns="0" rtlCol="0" anchor="ctr"/>
          <a:lstStyle/>
          <a:p>
            <a:pPr indent="0" marL="0">
              <a:buNone/>
            </a:pPr>
            <a:r>
              <a:rPr lang="en-US" sz="900" b="1" dirty="0">
                <a:solidFill>
                  <a:srgbClr val="FF6652"/>
                </a:solidFill>
                <a:latin typeface="Lexend SemiBold" pitchFamily="34" charset="0"/>
                <a:ea typeface="Lexend SemiBold" pitchFamily="34" charset="-122"/>
                <a:cs typeface="Lexend SemiBold" pitchFamily="34" charset="-120"/>
              </a:rPr>
              <a:t>→  </a:t>
            </a:r>
            <a:pPr indent="0" marL="0">
              <a:buNone/>
            </a:pPr>
            <a:r>
              <a:rPr lang="en-US" sz="900" dirty="0">
                <a:solidFill>
                  <a:srgbClr val="1D1D1D"/>
                </a:solidFill>
                <a:latin typeface="Lexend" pitchFamily="34" charset="0"/>
                <a:ea typeface="Lexend" pitchFamily="34" charset="-122"/>
                <a:cs typeface="Lexend" pitchFamily="34" charset="-120"/>
              </a:rPr>
              <a:t>We wrote a repair tool that resets every counter, and made it run automatically. It has not come back.</a:t>
            </a:r>
            <a:endParaRPr lang="en-US" sz="900" dirty="0"/>
          </a:p>
        </p:txBody>
      </p:sp>
      <p:sp>
        <p:nvSpPr>
          <p:cNvPr id="11" name="Shape 9"/>
          <p:cNvSpPr/>
          <p:nvPr/>
        </p:nvSpPr>
        <p:spPr>
          <a:xfrm>
            <a:off x="457200" y="2212848"/>
            <a:ext cx="8229600" cy="969264"/>
          </a:xfrm>
          <a:prstGeom prst="roundRect">
            <a:avLst>
              <a:gd name="adj" fmla="val 5660"/>
            </a:avLst>
          </a:prstGeom>
          <a:solidFill>
            <a:srgbClr val="D8E4D6"/>
          </a:solidFill>
          <a:ln w="9525">
            <a:solidFill>
              <a:srgbClr val="DBC89F"/>
            </a:solidFill>
            <a:prstDash val="solid"/>
          </a:ln>
        </p:spPr>
      </p:sp>
      <p:sp>
        <p:nvSpPr>
          <p:cNvPr id="12" name="Shape 10"/>
          <p:cNvSpPr/>
          <p:nvPr/>
        </p:nvSpPr>
        <p:spPr>
          <a:xfrm>
            <a:off x="621792" y="2359152"/>
            <a:ext cx="256032" cy="256032"/>
          </a:xfrm>
          <a:prstGeom prst="ellipse">
            <a:avLst/>
          </a:prstGeom>
          <a:solidFill>
            <a:srgbClr val="51BD85"/>
          </a:solidFill>
          <a:ln w="12700">
            <a:solidFill>
              <a:srgbClr val="333333"/>
            </a:solidFill>
            <a:prstDash val="solid"/>
          </a:ln>
        </p:spPr>
      </p:sp>
      <p:sp>
        <p:nvSpPr>
          <p:cNvPr id="13" name="Text 11"/>
          <p:cNvSpPr txBox="1"/>
          <p:nvPr/>
        </p:nvSpPr>
        <p:spPr>
          <a:xfrm>
            <a:off x="621792" y="2359152"/>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Lexend SemiBold" pitchFamily="34" charset="0"/>
                <a:ea typeface="Lexend SemiBold" pitchFamily="34" charset="-122"/>
                <a:cs typeface="Lexend SemiBold" pitchFamily="34" charset="-120"/>
              </a:rPr>
              <a:t>2</a:t>
            </a:r>
            <a:endParaRPr lang="en-US" sz="950" dirty="0"/>
          </a:p>
        </p:txBody>
      </p:sp>
      <p:sp>
        <p:nvSpPr>
          <p:cNvPr id="14" name="Text 12"/>
          <p:cNvSpPr txBox="1"/>
          <p:nvPr/>
        </p:nvSpPr>
        <p:spPr>
          <a:xfrm>
            <a:off x="969264" y="2331720"/>
            <a:ext cx="1920240" cy="274320"/>
          </a:xfrm>
          <a:prstGeom prst="rect">
            <a:avLst/>
          </a:prstGeom>
          <a:noFill/>
          <a:ln/>
        </p:spPr>
        <p:txBody>
          <a:bodyPr wrap="square" lIns="0" tIns="0" rIns="0" bIns="0" rtlCol="0" anchor="t"/>
          <a:lstStyle/>
          <a:p>
            <a:pPr indent="0" marL="0">
              <a:buNone/>
            </a:pPr>
            <a:r>
              <a:rPr lang="en-US" sz="1100" b="1" dirty="0">
                <a:solidFill>
                  <a:srgbClr val="1D1D1D"/>
                </a:solidFill>
                <a:latin typeface="Lexend SemiBold" pitchFamily="34" charset="0"/>
                <a:ea typeface="Lexend SemiBold" pitchFamily="34" charset="-122"/>
                <a:cs typeface="Lexend SemiBold" pitchFamily="34" charset="-120"/>
              </a:rPr>
              <a:t>Old passwords</a:t>
            </a:r>
            <a:endParaRPr lang="en-US" sz="1100" dirty="0"/>
          </a:p>
        </p:txBody>
      </p:sp>
      <p:sp>
        <p:nvSpPr>
          <p:cNvPr id="15" name="Text 13"/>
          <p:cNvSpPr txBox="1"/>
          <p:nvPr/>
        </p:nvSpPr>
        <p:spPr>
          <a:xfrm>
            <a:off x="969264" y="2615184"/>
            <a:ext cx="3108960" cy="475488"/>
          </a:xfrm>
          <a:prstGeom prst="rect">
            <a:avLst/>
          </a:prstGeom>
          <a:noFill/>
          <a:ln/>
        </p:spPr>
        <p:txBody>
          <a:bodyPr wrap="square" lIns="0" tIns="0" rIns="0" bIns="0" rtlCol="0" anchor="t"/>
          <a:lstStyle/>
          <a:p>
            <a:pPr indent="0" marL="0">
              <a:buNone/>
            </a:pPr>
            <a:r>
              <a:rPr lang="en-US" sz="850" dirty="0">
                <a:solidFill>
                  <a:srgbClr val="1D1D1D"/>
                </a:solidFill>
                <a:latin typeface="Lexend" pitchFamily="34" charset="0"/>
                <a:ea typeface="Lexend" pitchFamily="34" charset="-122"/>
                <a:cs typeface="Lexend" pitchFamily="34" charset="-120"/>
              </a:rPr>
              <a:t>Some accounts still carried credentials stored in a way that is no longer considered safe.</a:t>
            </a:r>
            <a:endParaRPr lang="en-US" sz="850" dirty="0"/>
          </a:p>
        </p:txBody>
      </p:sp>
      <p:sp>
        <p:nvSpPr>
          <p:cNvPr id="16" name="Text 14"/>
          <p:cNvSpPr txBox="1"/>
          <p:nvPr/>
        </p:nvSpPr>
        <p:spPr>
          <a:xfrm>
            <a:off x="4251960" y="2377440"/>
            <a:ext cx="4251960" cy="658368"/>
          </a:xfrm>
          <a:prstGeom prst="rect">
            <a:avLst/>
          </a:prstGeom>
          <a:noFill/>
          <a:ln/>
        </p:spPr>
        <p:txBody>
          <a:bodyPr wrap="square" lIns="0" tIns="0" rIns="0" bIns="0" rtlCol="0" anchor="ctr"/>
          <a:lstStyle/>
          <a:p>
            <a:pPr indent="0" marL="0">
              <a:buNone/>
            </a:pPr>
            <a:r>
              <a:rPr lang="en-US" sz="900" b="1" dirty="0">
                <a:solidFill>
                  <a:srgbClr val="51BD85"/>
                </a:solidFill>
                <a:latin typeface="Lexend SemiBold" pitchFamily="34" charset="0"/>
                <a:ea typeface="Lexend SemiBold" pitchFamily="34" charset="-122"/>
                <a:cs typeface="Lexend SemiBold" pitchFamily="34" charset="-120"/>
              </a:rPr>
              <a:t>→  </a:t>
            </a:r>
            <a:pPr indent="0" marL="0">
              <a:buNone/>
            </a:pPr>
            <a:r>
              <a:rPr lang="en-US" sz="900" dirty="0">
                <a:solidFill>
                  <a:srgbClr val="1D1D1D"/>
                </a:solidFill>
                <a:latin typeface="Lexend" pitchFamily="34" charset="0"/>
                <a:ea typeface="Lexend" pitchFamily="34" charset="-122"/>
                <a:cs typeface="Lexend" pitchFamily="34" charset="-120"/>
              </a:rPr>
              <a:t>We refused to weaken the new system. The site recognises the old format and emails that person a link to set a new password.</a:t>
            </a:r>
            <a:endParaRPr lang="en-US" sz="900" dirty="0"/>
          </a:p>
        </p:txBody>
      </p:sp>
      <p:sp>
        <p:nvSpPr>
          <p:cNvPr id="17" name="Shape 15"/>
          <p:cNvSpPr/>
          <p:nvPr/>
        </p:nvSpPr>
        <p:spPr>
          <a:xfrm>
            <a:off x="457200" y="3291840"/>
            <a:ext cx="8229600" cy="969264"/>
          </a:xfrm>
          <a:prstGeom prst="roundRect">
            <a:avLst>
              <a:gd name="adj" fmla="val 5660"/>
            </a:avLst>
          </a:prstGeom>
          <a:solidFill>
            <a:srgbClr val="FFFFFF"/>
          </a:solidFill>
          <a:ln w="9525">
            <a:solidFill>
              <a:srgbClr val="DBC89F"/>
            </a:solidFill>
            <a:prstDash val="solid"/>
          </a:ln>
        </p:spPr>
      </p:sp>
      <p:sp>
        <p:nvSpPr>
          <p:cNvPr id="18" name="Shape 16"/>
          <p:cNvSpPr/>
          <p:nvPr/>
        </p:nvSpPr>
        <p:spPr>
          <a:xfrm>
            <a:off x="621792" y="3438144"/>
            <a:ext cx="256032" cy="256032"/>
          </a:xfrm>
          <a:prstGeom prst="ellipse">
            <a:avLst/>
          </a:prstGeom>
          <a:solidFill>
            <a:srgbClr val="6AD2E6"/>
          </a:solidFill>
          <a:ln w="12700">
            <a:solidFill>
              <a:srgbClr val="333333"/>
            </a:solidFill>
            <a:prstDash val="solid"/>
          </a:ln>
        </p:spPr>
      </p:sp>
      <p:sp>
        <p:nvSpPr>
          <p:cNvPr id="19" name="Text 17"/>
          <p:cNvSpPr txBox="1"/>
          <p:nvPr/>
        </p:nvSpPr>
        <p:spPr>
          <a:xfrm>
            <a:off x="621792" y="343814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Lexend SemiBold" pitchFamily="34" charset="0"/>
                <a:ea typeface="Lexend SemiBold" pitchFamily="34" charset="-122"/>
                <a:cs typeface="Lexend SemiBold" pitchFamily="34" charset="-120"/>
              </a:rPr>
              <a:t>3</a:t>
            </a:r>
            <a:endParaRPr lang="en-US" sz="950" dirty="0"/>
          </a:p>
        </p:txBody>
      </p:sp>
      <p:sp>
        <p:nvSpPr>
          <p:cNvPr id="20" name="Text 18"/>
          <p:cNvSpPr txBox="1"/>
          <p:nvPr/>
        </p:nvSpPr>
        <p:spPr>
          <a:xfrm>
            <a:off x="969264" y="3410712"/>
            <a:ext cx="1920240" cy="274320"/>
          </a:xfrm>
          <a:prstGeom prst="rect">
            <a:avLst/>
          </a:prstGeom>
          <a:noFill/>
          <a:ln/>
        </p:spPr>
        <p:txBody>
          <a:bodyPr wrap="square" lIns="0" tIns="0" rIns="0" bIns="0" rtlCol="0" anchor="t"/>
          <a:lstStyle/>
          <a:p>
            <a:pPr indent="0" marL="0">
              <a:buNone/>
            </a:pPr>
            <a:r>
              <a:rPr lang="en-US" sz="1100" b="1" dirty="0">
                <a:solidFill>
                  <a:srgbClr val="1D1D1D"/>
                </a:solidFill>
                <a:latin typeface="Lexend SemiBold" pitchFamily="34" charset="0"/>
                <a:ea typeface="Lexend SemiBold" pitchFamily="34" charset="-122"/>
                <a:cs typeface="Lexend SemiBold" pitchFamily="34" charset="-120"/>
              </a:rPr>
              <a:t>Broken characters</a:t>
            </a:r>
            <a:endParaRPr lang="en-US" sz="1100" dirty="0"/>
          </a:p>
        </p:txBody>
      </p:sp>
      <p:sp>
        <p:nvSpPr>
          <p:cNvPr id="21" name="Text 19"/>
          <p:cNvSpPr txBox="1"/>
          <p:nvPr/>
        </p:nvSpPr>
        <p:spPr>
          <a:xfrm>
            <a:off x="969264" y="3694176"/>
            <a:ext cx="3108960" cy="475488"/>
          </a:xfrm>
          <a:prstGeom prst="rect">
            <a:avLst/>
          </a:prstGeom>
          <a:noFill/>
          <a:ln/>
        </p:spPr>
        <p:txBody>
          <a:bodyPr wrap="square" lIns="0" tIns="0" rIns="0" bIns="0" rtlCol="0" anchor="t"/>
          <a:lstStyle/>
          <a:p>
            <a:pPr indent="0" marL="0">
              <a:buNone/>
            </a:pPr>
            <a:r>
              <a:rPr lang="en-US" sz="850" dirty="0">
                <a:solidFill>
                  <a:srgbClr val="1D1D1D"/>
                </a:solidFill>
                <a:latin typeface="Lexend" pitchFamily="34" charset="0"/>
                <a:ea typeface="Lexend" pitchFamily="34" charset="-122"/>
                <a:cs typeface="Lexend" pitchFamily="34" charset="-120"/>
              </a:rPr>
              <a:t>Some Chinese, Japanese and Korean titles arrived damaged — the wrong bytes, so the wrong characters.</a:t>
            </a:r>
            <a:endParaRPr lang="en-US" sz="850" dirty="0"/>
          </a:p>
        </p:txBody>
      </p:sp>
      <p:sp>
        <p:nvSpPr>
          <p:cNvPr id="22" name="Text 20"/>
          <p:cNvSpPr txBox="1"/>
          <p:nvPr/>
        </p:nvSpPr>
        <p:spPr>
          <a:xfrm>
            <a:off x="4251960" y="3456432"/>
            <a:ext cx="4251960" cy="658368"/>
          </a:xfrm>
          <a:prstGeom prst="rect">
            <a:avLst/>
          </a:prstGeom>
          <a:noFill/>
          <a:ln/>
        </p:spPr>
        <p:txBody>
          <a:bodyPr wrap="square" lIns="0" tIns="0" rIns="0" bIns="0" rtlCol="0" anchor="ctr"/>
          <a:lstStyle/>
          <a:p>
            <a:pPr indent="0" marL="0">
              <a:buNone/>
            </a:pPr>
            <a:r>
              <a:rPr lang="en-US" sz="900" b="1" dirty="0">
                <a:solidFill>
                  <a:srgbClr val="6AD2E6"/>
                </a:solidFill>
                <a:latin typeface="Lexend SemiBold" pitchFamily="34" charset="0"/>
                <a:ea typeface="Lexend SemiBold" pitchFamily="34" charset="-122"/>
                <a:cs typeface="Lexend SemiBold" pitchFamily="34" charset="-120"/>
              </a:rPr>
              <a:t>→  </a:t>
            </a:r>
            <a:pPr indent="0" marL="0">
              <a:buNone/>
            </a:pPr>
            <a:r>
              <a:rPr lang="en-US" sz="900" dirty="0">
                <a:solidFill>
                  <a:srgbClr val="1D1D1D"/>
                </a:solidFill>
                <a:latin typeface="Lexend" pitchFamily="34" charset="0"/>
                <a:ea typeface="Lexend" pitchFamily="34" charset="-122"/>
                <a:cs typeface="Lexend" pitchFamily="34" charset="-120"/>
              </a:rPr>
              <a:t>Fixed where titles are displayed and where they are exported, then checked against the original records.</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ONE RECORD PER LIBRARY, PER YEAR</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One idea holds the whole thing together</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Shape 3"/>
          <p:cNvSpPr/>
          <p:nvPr/>
        </p:nvSpPr>
        <p:spPr>
          <a:xfrm>
            <a:off x="457200" y="1188720"/>
            <a:ext cx="3703320" cy="694944"/>
          </a:xfrm>
          <a:prstGeom prst="roundRect">
            <a:avLst>
              <a:gd name="adj" fmla="val 7895"/>
            </a:avLst>
          </a:prstGeom>
          <a:solidFill>
            <a:srgbClr val="FFFFFF"/>
          </a:solidFill>
          <a:ln w="9525">
            <a:solidFill>
              <a:srgbClr val="DBC89F"/>
            </a:solidFill>
            <a:prstDash val="solid"/>
          </a:ln>
        </p:spPr>
      </p:sp>
      <p:sp>
        <p:nvSpPr>
          <p:cNvPr id="6" name="Text 4"/>
          <p:cNvSpPr txBox="1"/>
          <p:nvPr/>
        </p:nvSpPr>
        <p:spPr>
          <a:xfrm>
            <a:off x="621792" y="1271016"/>
            <a:ext cx="3063240" cy="237744"/>
          </a:xfrm>
          <a:prstGeom prst="rect">
            <a:avLst/>
          </a:prstGeom>
          <a:noFill/>
          <a:ln/>
        </p:spPr>
        <p:txBody>
          <a:bodyPr wrap="square" lIns="0" tIns="0" rIns="0" bIns="0" rtlCol="0" anchor="ctr"/>
          <a:lstStyle/>
          <a:p>
            <a:pPr indent="0" marL="0">
              <a:buNone/>
            </a:pPr>
            <a:r>
              <a:rPr lang="en-US" sz="1200" b="1" dirty="0">
                <a:solidFill>
                  <a:srgbClr val="1D1D1D"/>
                </a:solidFill>
                <a:latin typeface="Lexend SemiBold" pitchFamily="34" charset="0"/>
                <a:ea typeface="Lexend SemiBold" pitchFamily="34" charset="-122"/>
                <a:cs typeface="Lexend SemiBold" pitchFamily="34" charset="-120"/>
              </a:rPr>
              <a:t>Library</a:t>
            </a:r>
            <a:endParaRPr lang="en-US" sz="1200" dirty="0"/>
          </a:p>
        </p:txBody>
      </p:sp>
      <p:sp>
        <p:nvSpPr>
          <p:cNvPr id="7" name="Text 5"/>
          <p:cNvSpPr txBox="1"/>
          <p:nvPr/>
        </p:nvSpPr>
        <p:spPr>
          <a:xfrm>
            <a:off x="621792" y="1527048"/>
            <a:ext cx="3063240" cy="237744"/>
          </a:xfrm>
          <a:prstGeom prst="rect">
            <a:avLst/>
          </a:prstGeom>
          <a:noFill/>
          <a:ln/>
        </p:spPr>
        <p:txBody>
          <a:bodyPr wrap="square" lIns="0" tIns="0" rIns="0" bIns="0" rtlCol="0" anchor="ctr"/>
          <a:lstStyle/>
          <a:p>
            <a:pPr indent="0" marL="0">
              <a:buNone/>
            </a:pPr>
            <a:r>
              <a:rPr lang="en-US" sz="850" dirty="0">
                <a:solidFill>
                  <a:srgbClr val="76766B"/>
                </a:solidFill>
                <a:latin typeface="Lexend" pitchFamily="34" charset="0"/>
                <a:ea typeface="Lexend" pitchFamily="34" charset="-122"/>
                <a:cs typeface="Lexend" pitchFamily="34" charset="-120"/>
              </a:rPr>
              <a:t>one for each institution</a:t>
            </a:r>
            <a:endParaRPr lang="en-US" sz="850" dirty="0"/>
          </a:p>
        </p:txBody>
      </p:sp>
      <p:sp>
        <p:nvSpPr>
          <p:cNvPr id="8" name="Text 6"/>
          <p:cNvSpPr txBox="1"/>
          <p:nvPr/>
        </p:nvSpPr>
        <p:spPr>
          <a:xfrm>
            <a:off x="621792" y="1847088"/>
            <a:ext cx="365760" cy="256032"/>
          </a:xfrm>
          <a:prstGeom prst="rect">
            <a:avLst/>
          </a:prstGeom>
          <a:noFill/>
          <a:ln/>
        </p:spPr>
        <p:txBody>
          <a:bodyPr wrap="square" lIns="0" tIns="0" rIns="0" bIns="0" rtlCol="0" anchor="ctr"/>
          <a:lstStyle/>
          <a:p>
            <a:pPr indent="0" marL="0">
              <a:buNone/>
            </a:pPr>
            <a:r>
              <a:rPr lang="en-US" sz="1300" b="1" dirty="0">
                <a:solidFill>
                  <a:srgbClr val="DBC89F"/>
                </a:solidFill>
                <a:latin typeface="Lexend" pitchFamily="34" charset="0"/>
                <a:ea typeface="Lexend" pitchFamily="34" charset="-122"/>
                <a:cs typeface="Lexend" pitchFamily="34" charset="-120"/>
              </a:rPr>
              <a:t>↓</a:t>
            </a:r>
            <a:endParaRPr lang="en-US" sz="1300" dirty="0"/>
          </a:p>
        </p:txBody>
      </p:sp>
      <p:sp>
        <p:nvSpPr>
          <p:cNvPr id="9" name="Shape 7"/>
          <p:cNvSpPr/>
          <p:nvPr/>
        </p:nvSpPr>
        <p:spPr>
          <a:xfrm>
            <a:off x="777240" y="2121408"/>
            <a:ext cx="3383280" cy="694944"/>
          </a:xfrm>
          <a:prstGeom prst="roundRect">
            <a:avLst>
              <a:gd name="adj" fmla="val 7895"/>
            </a:avLst>
          </a:prstGeom>
          <a:solidFill>
            <a:srgbClr val="D8E4D6"/>
          </a:solidFill>
          <a:ln w="9525">
            <a:solidFill>
              <a:srgbClr val="DBC89F"/>
            </a:solidFill>
            <a:prstDash val="solid"/>
          </a:ln>
        </p:spPr>
      </p:sp>
      <p:sp>
        <p:nvSpPr>
          <p:cNvPr id="10" name="Text 8"/>
          <p:cNvSpPr txBox="1"/>
          <p:nvPr/>
        </p:nvSpPr>
        <p:spPr>
          <a:xfrm>
            <a:off x="941832" y="2203704"/>
            <a:ext cx="3063240" cy="237744"/>
          </a:xfrm>
          <a:prstGeom prst="rect">
            <a:avLst/>
          </a:prstGeom>
          <a:noFill/>
          <a:ln/>
        </p:spPr>
        <p:txBody>
          <a:bodyPr wrap="square" lIns="0" tIns="0" rIns="0" bIns="0" rtlCol="0" anchor="ctr"/>
          <a:lstStyle/>
          <a:p>
            <a:pPr indent="0" marL="0">
              <a:buNone/>
            </a:pPr>
            <a:r>
              <a:rPr lang="en-US" sz="1200" b="1" dirty="0">
                <a:solidFill>
                  <a:srgbClr val="FF6652"/>
                </a:solidFill>
                <a:latin typeface="Lexend SemiBold" pitchFamily="34" charset="0"/>
                <a:ea typeface="Lexend SemiBold" pitchFamily="34" charset="-122"/>
                <a:cs typeface="Lexend SemiBold" pitchFamily="34" charset="-120"/>
              </a:rPr>
              <a:t>Library-Year</a:t>
            </a:r>
            <a:endParaRPr lang="en-US" sz="1200" dirty="0"/>
          </a:p>
        </p:txBody>
      </p:sp>
      <p:sp>
        <p:nvSpPr>
          <p:cNvPr id="11" name="Text 9"/>
          <p:cNvSpPr txBox="1"/>
          <p:nvPr/>
        </p:nvSpPr>
        <p:spPr>
          <a:xfrm>
            <a:off x="941832" y="2459736"/>
            <a:ext cx="3063240" cy="237744"/>
          </a:xfrm>
          <a:prstGeom prst="rect">
            <a:avLst/>
          </a:prstGeom>
          <a:noFill/>
          <a:ln/>
        </p:spPr>
        <p:txBody>
          <a:bodyPr wrap="square" lIns="0" tIns="0" rIns="0" bIns="0" rtlCol="0" anchor="ctr"/>
          <a:lstStyle/>
          <a:p>
            <a:pPr indent="0" marL="0">
              <a:buNone/>
            </a:pPr>
            <a:r>
              <a:rPr lang="en-US" sz="850" dirty="0">
                <a:solidFill>
                  <a:srgbClr val="76766B"/>
                </a:solidFill>
                <a:latin typeface="Lexend" pitchFamily="34" charset="0"/>
                <a:ea typeface="Lexend" pitchFamily="34" charset="-122"/>
                <a:cs typeface="Lexend" pitchFamily="34" charset="-120"/>
              </a:rPr>
              <a:t>one for each institution, each year</a:t>
            </a:r>
            <a:endParaRPr lang="en-US" sz="850" dirty="0"/>
          </a:p>
        </p:txBody>
      </p:sp>
      <p:sp>
        <p:nvSpPr>
          <p:cNvPr id="12" name="Text 10"/>
          <p:cNvSpPr txBox="1"/>
          <p:nvPr/>
        </p:nvSpPr>
        <p:spPr>
          <a:xfrm>
            <a:off x="941832" y="2779776"/>
            <a:ext cx="365760" cy="256032"/>
          </a:xfrm>
          <a:prstGeom prst="rect">
            <a:avLst/>
          </a:prstGeom>
          <a:noFill/>
          <a:ln/>
        </p:spPr>
        <p:txBody>
          <a:bodyPr wrap="square" lIns="0" tIns="0" rIns="0" bIns="0" rtlCol="0" anchor="ctr"/>
          <a:lstStyle/>
          <a:p>
            <a:pPr indent="0" marL="0">
              <a:buNone/>
            </a:pPr>
            <a:r>
              <a:rPr lang="en-US" sz="1300" b="1" dirty="0">
                <a:solidFill>
                  <a:srgbClr val="DBC89F"/>
                </a:solidFill>
                <a:latin typeface="Lexend" pitchFamily="34" charset="0"/>
                <a:ea typeface="Lexend" pitchFamily="34" charset="-122"/>
                <a:cs typeface="Lexend" pitchFamily="34" charset="-120"/>
              </a:rPr>
              <a:t>↓</a:t>
            </a:r>
            <a:endParaRPr lang="en-US" sz="1300" dirty="0"/>
          </a:p>
        </p:txBody>
      </p:sp>
      <p:sp>
        <p:nvSpPr>
          <p:cNvPr id="13" name="Shape 11"/>
          <p:cNvSpPr/>
          <p:nvPr/>
        </p:nvSpPr>
        <p:spPr>
          <a:xfrm>
            <a:off x="1097280" y="3054096"/>
            <a:ext cx="3063240" cy="694944"/>
          </a:xfrm>
          <a:prstGeom prst="roundRect">
            <a:avLst>
              <a:gd name="adj" fmla="val 7895"/>
            </a:avLst>
          </a:prstGeom>
          <a:solidFill>
            <a:srgbClr val="FFFFFF"/>
          </a:solidFill>
          <a:ln w="9525">
            <a:solidFill>
              <a:srgbClr val="DBC89F"/>
            </a:solidFill>
            <a:prstDash val="solid"/>
          </a:ln>
        </p:spPr>
      </p:sp>
      <p:sp>
        <p:nvSpPr>
          <p:cNvPr id="14" name="Text 12"/>
          <p:cNvSpPr txBox="1"/>
          <p:nvPr/>
        </p:nvSpPr>
        <p:spPr>
          <a:xfrm>
            <a:off x="1261872" y="3136392"/>
            <a:ext cx="3063240" cy="237744"/>
          </a:xfrm>
          <a:prstGeom prst="rect">
            <a:avLst/>
          </a:prstGeom>
          <a:noFill/>
          <a:ln/>
        </p:spPr>
        <p:txBody>
          <a:bodyPr wrap="square" lIns="0" tIns="0" rIns="0" bIns="0" rtlCol="0" anchor="ctr"/>
          <a:lstStyle/>
          <a:p>
            <a:pPr indent="0" marL="0">
              <a:buNone/>
            </a:pPr>
            <a:r>
              <a:rPr lang="en-US" sz="1200" b="1" dirty="0">
                <a:solidFill>
                  <a:srgbClr val="51BD85"/>
                </a:solidFill>
                <a:latin typeface="Lexend SemiBold" pitchFamily="34" charset="0"/>
                <a:ea typeface="Lexend SemiBold" pitchFamily="34" charset="-122"/>
                <a:cs typeface="Lexend SemiBold" pitchFamily="34" charset="-120"/>
              </a:rPr>
              <a:t>The ten forms</a:t>
            </a:r>
            <a:endParaRPr lang="en-US" sz="1200" dirty="0"/>
          </a:p>
        </p:txBody>
      </p:sp>
      <p:sp>
        <p:nvSpPr>
          <p:cNvPr id="15" name="Text 13"/>
          <p:cNvSpPr txBox="1"/>
          <p:nvPr/>
        </p:nvSpPr>
        <p:spPr>
          <a:xfrm>
            <a:off x="1261872" y="3392424"/>
            <a:ext cx="3063240" cy="237744"/>
          </a:xfrm>
          <a:prstGeom prst="rect">
            <a:avLst/>
          </a:prstGeom>
          <a:noFill/>
          <a:ln/>
        </p:spPr>
        <p:txBody>
          <a:bodyPr wrap="square" lIns="0" tIns="0" rIns="0" bIns="0" rtlCol="0" anchor="ctr"/>
          <a:lstStyle/>
          <a:p>
            <a:pPr indent="0" marL="0">
              <a:buNone/>
            </a:pPr>
            <a:r>
              <a:rPr lang="en-US" sz="850" dirty="0">
                <a:solidFill>
                  <a:srgbClr val="76766B"/>
                </a:solidFill>
                <a:latin typeface="Lexend" pitchFamily="34" charset="0"/>
                <a:ea typeface="Lexend" pitchFamily="34" charset="-122"/>
                <a:cs typeface="Lexend" pitchFamily="34" charset="-120"/>
              </a:rPr>
              <a:t>one of each, hanging off that year</a:t>
            </a:r>
            <a:endParaRPr lang="en-US" sz="850" dirty="0"/>
          </a:p>
        </p:txBody>
      </p:sp>
      <p:sp>
        <p:nvSpPr>
          <p:cNvPr id="16" name="Text 14"/>
          <p:cNvSpPr txBox="1"/>
          <p:nvPr/>
        </p:nvSpPr>
        <p:spPr>
          <a:xfrm>
            <a:off x="4617720" y="1188720"/>
            <a:ext cx="4069080" cy="2286000"/>
          </a:xfrm>
          <a:prstGeom prst="rect">
            <a:avLst/>
          </a:prstGeom>
          <a:noFill/>
          <a:ln/>
        </p:spPr>
        <p:txBody>
          <a:bodyPr wrap="square" lIns="0" tIns="0" rIns="0" bIns="0" rtlCol="0" anchor="t"/>
          <a:lstStyle/>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Every form you submit is attached to your library and that year</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A single switch on it decides whether you can edit that year</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That switch is what the opening and closing dates actually control</a:t>
            </a:r>
            <a:endParaRPr lang="en-US" sz="1000" dirty="0"/>
          </a:p>
          <a:p>
            <a:pPr marL="152400" indent="-152400">
              <a:spcAft>
                <a:spcPts val="600"/>
              </a:spcAft>
              <a:buSzPct val="100000"/>
              <a:buChar char="•"/>
            </a:pPr>
            <a:r>
              <a:rPr lang="en-US" sz="1000" dirty="0">
                <a:solidFill>
                  <a:srgbClr val="1D1D1D"/>
                </a:solidFill>
                <a:latin typeface="Lexend" pitchFamily="34" charset="0"/>
                <a:ea typeface="Lexend" pitchFamily="34" charset="-122"/>
                <a:cs typeface="Lexend" pitchFamily="34" charset="-120"/>
              </a:rPr>
              <a:t>Empty records are created in advance — a library that submits nothing still has a place</a:t>
            </a:r>
            <a:endParaRPr lang="en-US" sz="1000" dirty="0"/>
          </a:p>
        </p:txBody>
      </p:sp>
      <p:sp>
        <p:nvSpPr>
          <p:cNvPr id="17" name="Shape 15"/>
          <p:cNvSpPr/>
          <p:nvPr/>
        </p:nvSpPr>
        <p:spPr>
          <a:xfrm>
            <a:off x="457200" y="3749040"/>
            <a:ext cx="8229600" cy="566928"/>
          </a:xfrm>
          <a:prstGeom prst="roundRect">
            <a:avLst>
              <a:gd name="adj" fmla="val 9677"/>
            </a:avLst>
          </a:prstGeom>
          <a:solidFill>
            <a:srgbClr val="D8E4D6"/>
          </a:solidFill>
          <a:ln w="9525">
            <a:solidFill>
              <a:srgbClr val="DBC89F"/>
            </a:solidFill>
            <a:prstDash val="solid"/>
          </a:ln>
        </p:spPr>
      </p:sp>
      <p:sp>
        <p:nvSpPr>
          <p:cNvPr id="18" name="Text 16"/>
          <p:cNvSpPr txBox="1"/>
          <p:nvPr/>
        </p:nvSpPr>
        <p:spPr>
          <a:xfrm>
            <a:off x="640080" y="3785616"/>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So the Committee can reopen ONE library’s forms for a few more days, without reopening them for everybody.</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A DELIBERATE TRADE-OFF</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Why the tables are so wide</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Text 3"/>
          <p:cNvSpPr txBox="1"/>
          <p:nvPr/>
        </p:nvSpPr>
        <p:spPr>
          <a:xfrm>
            <a:off x="457200" y="1115568"/>
            <a:ext cx="8229600" cy="219456"/>
          </a:xfrm>
          <a:prstGeom prst="rect">
            <a:avLst/>
          </a:prstGeom>
          <a:noFill/>
          <a:ln/>
        </p:spPr>
        <p:txBody>
          <a:bodyPr wrap="square" lIns="0" tIns="0" rIns="0" bIns="0" rtlCol="0" anchor="ctr"/>
          <a:lstStyle/>
          <a:p>
            <a:pPr indent="0" marL="0">
              <a:buNone/>
            </a:pPr>
            <a:r>
              <a:rPr lang="en-US" sz="1050" dirty="0">
                <a:solidFill>
                  <a:srgbClr val="1D1D1D"/>
                </a:solidFill>
                <a:latin typeface="Lexend" pitchFamily="34" charset="0"/>
                <a:ea typeface="Lexend" pitchFamily="34" charset="-122"/>
                <a:cs typeface="Lexend" pitchFamily="34" charset="-120"/>
              </a:rPr>
              <a:t>Every measure is broken out the same way:</a:t>
            </a:r>
            <a:endParaRPr lang="en-US" sz="1050" dirty="0"/>
          </a:p>
        </p:txBody>
      </p:sp>
      <p:sp>
        <p:nvSpPr>
          <p:cNvPr id="6" name="Shape 4"/>
          <p:cNvSpPr/>
          <p:nvPr/>
        </p:nvSpPr>
        <p:spPr>
          <a:xfrm>
            <a:off x="457200" y="1417320"/>
            <a:ext cx="1536192" cy="475488"/>
          </a:xfrm>
          <a:prstGeom prst="roundRect">
            <a:avLst>
              <a:gd name="adj" fmla="val 11538"/>
            </a:avLst>
          </a:prstGeom>
          <a:solidFill>
            <a:srgbClr val="FFFFFF"/>
          </a:solidFill>
          <a:ln w="9525">
            <a:solidFill>
              <a:srgbClr val="DBC89F"/>
            </a:solidFill>
            <a:prstDash val="solid"/>
          </a:ln>
        </p:spPr>
      </p:sp>
      <p:sp>
        <p:nvSpPr>
          <p:cNvPr id="7" name="Text 5"/>
          <p:cNvSpPr txBox="1"/>
          <p:nvPr/>
        </p:nvSpPr>
        <p:spPr>
          <a:xfrm>
            <a:off x="457200" y="1417320"/>
            <a:ext cx="1536192" cy="475488"/>
          </a:xfrm>
          <a:prstGeom prst="rect">
            <a:avLst/>
          </a:prstGeom>
          <a:noFill/>
          <a:ln/>
        </p:spPr>
        <p:txBody>
          <a:bodyPr wrap="square" lIns="0" tIns="0" rIns="0" bIns="0" rtlCol="0" anchor="ctr"/>
          <a:lstStyle/>
          <a:p>
            <a:pPr algn="ctr" indent="0" marL="0">
              <a:buNone/>
            </a:pPr>
            <a:r>
              <a:rPr lang="en-US" sz="1100" b="1" dirty="0">
                <a:solidFill>
                  <a:srgbClr val="1D1D1D"/>
                </a:solidFill>
                <a:latin typeface="Lexend SemiBold" pitchFamily="34" charset="0"/>
                <a:ea typeface="Lexend SemiBold" pitchFamily="34" charset="-122"/>
                <a:cs typeface="Lexend SemiBold" pitchFamily="34" charset="-120"/>
              </a:rPr>
              <a:t>Chinese</a:t>
            </a:r>
            <a:endParaRPr lang="en-US" sz="1100" dirty="0"/>
          </a:p>
        </p:txBody>
      </p:sp>
      <p:sp>
        <p:nvSpPr>
          <p:cNvPr id="8" name="Shape 6"/>
          <p:cNvSpPr/>
          <p:nvPr/>
        </p:nvSpPr>
        <p:spPr>
          <a:xfrm>
            <a:off x="2130552" y="1417320"/>
            <a:ext cx="1536192" cy="475488"/>
          </a:xfrm>
          <a:prstGeom prst="roundRect">
            <a:avLst>
              <a:gd name="adj" fmla="val 11538"/>
            </a:avLst>
          </a:prstGeom>
          <a:solidFill>
            <a:srgbClr val="FFFFFF"/>
          </a:solidFill>
          <a:ln w="9525">
            <a:solidFill>
              <a:srgbClr val="DBC89F"/>
            </a:solidFill>
            <a:prstDash val="solid"/>
          </a:ln>
        </p:spPr>
      </p:sp>
      <p:sp>
        <p:nvSpPr>
          <p:cNvPr id="9" name="Text 7"/>
          <p:cNvSpPr txBox="1"/>
          <p:nvPr/>
        </p:nvSpPr>
        <p:spPr>
          <a:xfrm>
            <a:off x="2130552" y="1417320"/>
            <a:ext cx="1536192" cy="475488"/>
          </a:xfrm>
          <a:prstGeom prst="rect">
            <a:avLst/>
          </a:prstGeom>
          <a:noFill/>
          <a:ln/>
        </p:spPr>
        <p:txBody>
          <a:bodyPr wrap="square" lIns="0" tIns="0" rIns="0" bIns="0" rtlCol="0" anchor="ctr"/>
          <a:lstStyle/>
          <a:p>
            <a:pPr algn="ctr" indent="0" marL="0">
              <a:buNone/>
            </a:pPr>
            <a:r>
              <a:rPr lang="en-US" sz="1100" b="1" dirty="0">
                <a:solidFill>
                  <a:srgbClr val="1D1D1D"/>
                </a:solidFill>
                <a:latin typeface="Lexend SemiBold" pitchFamily="34" charset="0"/>
                <a:ea typeface="Lexend SemiBold" pitchFamily="34" charset="-122"/>
                <a:cs typeface="Lexend SemiBold" pitchFamily="34" charset="-120"/>
              </a:rPr>
              <a:t>Japanese</a:t>
            </a:r>
            <a:endParaRPr lang="en-US" sz="1100" dirty="0"/>
          </a:p>
        </p:txBody>
      </p:sp>
      <p:sp>
        <p:nvSpPr>
          <p:cNvPr id="10" name="Shape 8"/>
          <p:cNvSpPr/>
          <p:nvPr/>
        </p:nvSpPr>
        <p:spPr>
          <a:xfrm>
            <a:off x="3803904" y="1417320"/>
            <a:ext cx="1536192" cy="475488"/>
          </a:xfrm>
          <a:prstGeom prst="roundRect">
            <a:avLst>
              <a:gd name="adj" fmla="val 11538"/>
            </a:avLst>
          </a:prstGeom>
          <a:solidFill>
            <a:srgbClr val="FFFFFF"/>
          </a:solidFill>
          <a:ln w="9525">
            <a:solidFill>
              <a:srgbClr val="DBC89F"/>
            </a:solidFill>
            <a:prstDash val="solid"/>
          </a:ln>
        </p:spPr>
      </p:sp>
      <p:sp>
        <p:nvSpPr>
          <p:cNvPr id="11" name="Text 9"/>
          <p:cNvSpPr txBox="1"/>
          <p:nvPr/>
        </p:nvSpPr>
        <p:spPr>
          <a:xfrm>
            <a:off x="3803904" y="1417320"/>
            <a:ext cx="1536192" cy="475488"/>
          </a:xfrm>
          <a:prstGeom prst="rect">
            <a:avLst/>
          </a:prstGeom>
          <a:noFill/>
          <a:ln/>
        </p:spPr>
        <p:txBody>
          <a:bodyPr wrap="square" lIns="0" tIns="0" rIns="0" bIns="0" rtlCol="0" anchor="ctr"/>
          <a:lstStyle/>
          <a:p>
            <a:pPr algn="ctr" indent="0" marL="0">
              <a:buNone/>
            </a:pPr>
            <a:r>
              <a:rPr lang="en-US" sz="1100" b="1" dirty="0">
                <a:solidFill>
                  <a:srgbClr val="1D1D1D"/>
                </a:solidFill>
                <a:latin typeface="Lexend SemiBold" pitchFamily="34" charset="0"/>
                <a:ea typeface="Lexend SemiBold" pitchFamily="34" charset="-122"/>
                <a:cs typeface="Lexend SemiBold" pitchFamily="34" charset="-120"/>
              </a:rPr>
              <a:t>Korean</a:t>
            </a:r>
            <a:endParaRPr lang="en-US" sz="1100" dirty="0"/>
          </a:p>
        </p:txBody>
      </p:sp>
      <p:sp>
        <p:nvSpPr>
          <p:cNvPr id="12" name="Shape 10"/>
          <p:cNvSpPr/>
          <p:nvPr/>
        </p:nvSpPr>
        <p:spPr>
          <a:xfrm>
            <a:off x="5477256" y="1417320"/>
            <a:ext cx="1536192" cy="475488"/>
          </a:xfrm>
          <a:prstGeom prst="roundRect">
            <a:avLst>
              <a:gd name="adj" fmla="val 11538"/>
            </a:avLst>
          </a:prstGeom>
          <a:solidFill>
            <a:srgbClr val="FFFFFF"/>
          </a:solidFill>
          <a:ln w="9525">
            <a:solidFill>
              <a:srgbClr val="DBC89F"/>
            </a:solidFill>
            <a:prstDash val="solid"/>
          </a:ln>
        </p:spPr>
      </p:sp>
      <p:sp>
        <p:nvSpPr>
          <p:cNvPr id="13" name="Text 11"/>
          <p:cNvSpPr txBox="1"/>
          <p:nvPr/>
        </p:nvSpPr>
        <p:spPr>
          <a:xfrm>
            <a:off x="5477256" y="1417320"/>
            <a:ext cx="1536192" cy="475488"/>
          </a:xfrm>
          <a:prstGeom prst="rect">
            <a:avLst/>
          </a:prstGeom>
          <a:noFill/>
          <a:ln/>
        </p:spPr>
        <p:txBody>
          <a:bodyPr wrap="square" lIns="0" tIns="0" rIns="0" bIns="0" rtlCol="0" anchor="ctr"/>
          <a:lstStyle/>
          <a:p>
            <a:pPr algn="ctr" indent="0" marL="0">
              <a:buNone/>
            </a:pPr>
            <a:r>
              <a:rPr lang="en-US" sz="1100" b="1" dirty="0">
                <a:solidFill>
                  <a:srgbClr val="1D1D1D"/>
                </a:solidFill>
                <a:latin typeface="Lexend SemiBold" pitchFamily="34" charset="0"/>
                <a:ea typeface="Lexend SemiBold" pitchFamily="34" charset="-122"/>
                <a:cs typeface="Lexend SemiBold" pitchFamily="34" charset="-120"/>
              </a:rPr>
              <a:t>Non-CJK</a:t>
            </a:r>
            <a:endParaRPr lang="en-US" sz="1100" dirty="0"/>
          </a:p>
        </p:txBody>
      </p:sp>
      <p:sp>
        <p:nvSpPr>
          <p:cNvPr id="14" name="Shape 12"/>
          <p:cNvSpPr/>
          <p:nvPr/>
        </p:nvSpPr>
        <p:spPr>
          <a:xfrm>
            <a:off x="7150608" y="1417320"/>
            <a:ext cx="1536192" cy="475488"/>
          </a:xfrm>
          <a:prstGeom prst="roundRect">
            <a:avLst>
              <a:gd name="adj" fmla="val 11538"/>
            </a:avLst>
          </a:prstGeom>
          <a:solidFill>
            <a:srgbClr val="D8E4D6"/>
          </a:solidFill>
          <a:ln w="9525">
            <a:solidFill>
              <a:srgbClr val="DBC89F"/>
            </a:solidFill>
            <a:prstDash val="solid"/>
          </a:ln>
        </p:spPr>
      </p:sp>
      <p:sp>
        <p:nvSpPr>
          <p:cNvPr id="15" name="Text 13"/>
          <p:cNvSpPr txBox="1"/>
          <p:nvPr/>
        </p:nvSpPr>
        <p:spPr>
          <a:xfrm>
            <a:off x="7150608" y="1417320"/>
            <a:ext cx="1536192" cy="475488"/>
          </a:xfrm>
          <a:prstGeom prst="rect">
            <a:avLst/>
          </a:prstGeom>
          <a:noFill/>
          <a:ln/>
        </p:spPr>
        <p:txBody>
          <a:bodyPr wrap="square" lIns="0" tIns="0" rIns="0" bIns="0" rtlCol="0" anchor="ctr"/>
          <a:lstStyle/>
          <a:p>
            <a:pPr algn="ctr" indent="0" marL="0">
              <a:buNone/>
            </a:pPr>
            <a:r>
              <a:rPr lang="en-US" sz="1100" b="1" dirty="0">
                <a:solidFill>
                  <a:srgbClr val="FF6652"/>
                </a:solidFill>
                <a:latin typeface="Lexend SemiBold" pitchFamily="34" charset="0"/>
                <a:ea typeface="Lexend SemiBold" pitchFamily="34" charset="-122"/>
                <a:cs typeface="Lexend SemiBold" pitchFamily="34" charset="-120"/>
              </a:rPr>
              <a:t>Subtotal</a:t>
            </a:r>
            <a:endParaRPr lang="en-US" sz="1100" dirty="0"/>
          </a:p>
        </p:txBody>
      </p:sp>
      <p:sp>
        <p:nvSpPr>
          <p:cNvPr id="16" name="Text 14"/>
          <p:cNvSpPr txBox="1"/>
          <p:nvPr/>
        </p:nvSpPr>
        <p:spPr>
          <a:xfrm>
            <a:off x="457200" y="2011680"/>
            <a:ext cx="8229600" cy="237744"/>
          </a:xfrm>
          <a:prstGeom prst="rect">
            <a:avLst/>
          </a:prstGeom>
          <a:noFill/>
          <a:ln/>
        </p:spPr>
        <p:txBody>
          <a:bodyPr wrap="square" lIns="0" tIns="0" rIns="0" bIns="0" rtlCol="0" anchor="ctr"/>
          <a:lstStyle/>
          <a:p>
            <a:pPr indent="0" marL="0">
              <a:buNone/>
            </a:pPr>
            <a:r>
              <a:rPr lang="en-US" sz="1050" i="1" dirty="0">
                <a:solidFill>
                  <a:srgbClr val="1D1D1D"/>
                </a:solidFill>
                <a:latin typeface="Lexend" pitchFamily="34" charset="0"/>
                <a:ea typeface="Lexend" pitchFamily="34" charset="-122"/>
                <a:cs typeface="Lexend" pitchFamily="34" charset="-120"/>
              </a:rPr>
              <a:t>…repeated for every question on the form. One form has around 110 columns because of it.</a:t>
            </a:r>
            <a:endParaRPr lang="en-US" sz="1050" dirty="0"/>
          </a:p>
        </p:txBody>
      </p:sp>
      <p:sp>
        <p:nvSpPr>
          <p:cNvPr id="17" name="Shape 15"/>
          <p:cNvSpPr/>
          <p:nvPr/>
        </p:nvSpPr>
        <p:spPr>
          <a:xfrm>
            <a:off x="457200" y="2359152"/>
            <a:ext cx="8229600" cy="713232"/>
          </a:xfrm>
          <a:prstGeom prst="roundRect">
            <a:avLst>
              <a:gd name="adj" fmla="val 7692"/>
            </a:avLst>
          </a:prstGeom>
          <a:solidFill>
            <a:srgbClr val="D8E4D6"/>
          </a:solidFill>
          <a:ln w="9525">
            <a:solidFill>
              <a:srgbClr val="DBC89F"/>
            </a:solidFill>
            <a:prstDash val="solid"/>
          </a:ln>
        </p:spPr>
      </p:sp>
      <p:sp>
        <p:nvSpPr>
          <p:cNvPr id="18" name="Text 16"/>
          <p:cNvSpPr txBox="1"/>
          <p:nvPr/>
        </p:nvSpPr>
        <p:spPr>
          <a:xfrm>
            <a:off x="658368" y="2414016"/>
            <a:ext cx="7827264" cy="603504"/>
          </a:xfrm>
          <a:prstGeom prst="rect">
            <a:avLst/>
          </a:prstGeom>
          <a:noFill/>
          <a:ln/>
        </p:spPr>
        <p:txBody>
          <a:bodyPr wrap="square" lIns="0" tIns="0" rIns="0" bIns="0" rtlCol="0" anchor="ctr"/>
          <a:lstStyle/>
          <a:p>
            <a:pPr indent="0" marL="0">
              <a:buNone/>
            </a:pPr>
            <a:r>
              <a:rPr lang="en-US" sz="1250" b="1" dirty="0">
                <a:solidFill>
                  <a:srgbClr val="51BD85"/>
                </a:solidFill>
                <a:latin typeface="Lexend SemiBold" pitchFamily="34" charset="0"/>
                <a:ea typeface="Lexend SemiBold" pitchFamily="34" charset="-122"/>
                <a:cs typeface="Lexend SemiBold" pitchFamily="34" charset="-120"/>
              </a:rPr>
              <a:t>A database designer would tell you that is untidy. They would be right.</a:t>
            </a:r>
            <a:endParaRPr lang="en-US" sz="1250" dirty="0"/>
          </a:p>
        </p:txBody>
      </p:sp>
      <p:sp>
        <p:nvSpPr>
          <p:cNvPr id="19" name="Text 17"/>
          <p:cNvSpPr txBox="1"/>
          <p:nvPr/>
        </p:nvSpPr>
        <p:spPr>
          <a:xfrm>
            <a:off x="457200" y="3200400"/>
            <a:ext cx="8229600" cy="512064"/>
          </a:xfrm>
          <a:prstGeom prst="rect">
            <a:avLst/>
          </a:prstGeom>
          <a:noFill/>
          <a:ln/>
        </p:spPr>
        <p:txBody>
          <a:bodyPr wrap="square" lIns="0" tIns="0" rIns="0" bIns="0" rtlCol="0" anchor="t"/>
          <a:lstStyle/>
          <a:p>
            <a:pPr indent="0" marL="0">
              <a:buNone/>
            </a:pPr>
            <a:r>
              <a:rPr lang="en-US" sz="1050" dirty="0">
                <a:solidFill>
                  <a:srgbClr val="1D1D1D"/>
                </a:solidFill>
                <a:latin typeface="Lexend" pitchFamily="34" charset="0"/>
                <a:ea typeface="Lexend" pitchFamily="34" charset="-122"/>
                <a:cs typeface="Lexend" pitchFamily="34" charset="-120"/>
              </a:rPr>
              <a:t>We chose not to collapse them. The moment you do, the numbers in the database stop lining up with the numbers on the questionnaire — and nobody can tell which question produced a figure.</a:t>
            </a:r>
            <a:endParaRPr lang="en-US" sz="1050" dirty="0"/>
          </a:p>
        </p:txBody>
      </p:sp>
      <p:sp>
        <p:nvSpPr>
          <p:cNvPr id="20" name="Shape 18"/>
          <p:cNvSpPr/>
          <p:nvPr/>
        </p:nvSpPr>
        <p:spPr>
          <a:xfrm>
            <a:off x="457200" y="3803904"/>
            <a:ext cx="8229600" cy="566928"/>
          </a:xfrm>
          <a:prstGeom prst="roundRect">
            <a:avLst>
              <a:gd name="adj" fmla="val 9677"/>
            </a:avLst>
          </a:prstGeom>
          <a:solidFill>
            <a:srgbClr val="D8E4D6"/>
          </a:solidFill>
          <a:ln w="9525">
            <a:solidFill>
              <a:srgbClr val="DBC89F"/>
            </a:solidFill>
            <a:prstDash val="solid"/>
          </a:ln>
        </p:spPr>
      </p:sp>
      <p:sp>
        <p:nvSpPr>
          <p:cNvPr id="21" name="Text 19"/>
          <p:cNvSpPr txBox="1"/>
          <p:nvPr/>
        </p:nvSpPr>
        <p:spPr>
          <a:xfrm>
            <a:off x="640080" y="3840480"/>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Any number in the system traces back to the exact question that produced it. That was worth more than elegance.</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SHARED TITLE LISTS</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Describe a database once, not fifty times</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Shape 3"/>
          <p:cNvSpPr/>
          <p:nvPr/>
        </p:nvSpPr>
        <p:spPr>
          <a:xfrm>
            <a:off x="457200" y="1143000"/>
            <a:ext cx="4000500" cy="1234440"/>
          </a:xfrm>
          <a:prstGeom prst="roundRect">
            <a:avLst>
              <a:gd name="adj" fmla="val 4444"/>
            </a:avLst>
          </a:prstGeom>
          <a:solidFill>
            <a:srgbClr val="FFFFFF"/>
          </a:solidFill>
          <a:ln w="9525">
            <a:solidFill>
              <a:srgbClr val="DBC89F"/>
            </a:solidFill>
            <a:prstDash val="solid"/>
          </a:ln>
        </p:spPr>
      </p:sp>
      <p:sp>
        <p:nvSpPr>
          <p:cNvPr id="6" name="Text 4"/>
          <p:cNvSpPr txBox="1"/>
          <p:nvPr/>
        </p:nvSpPr>
        <p:spPr>
          <a:xfrm>
            <a:off x="640080" y="1243584"/>
            <a:ext cx="3634740" cy="219456"/>
          </a:xfrm>
          <a:prstGeom prst="rect">
            <a:avLst/>
          </a:prstGeom>
          <a:noFill/>
          <a:ln/>
        </p:spPr>
        <p:txBody>
          <a:bodyPr wrap="square" lIns="0" tIns="0" rIns="0" bIns="0" rtlCol="0" anchor="ctr"/>
          <a:lstStyle/>
          <a:p>
            <a:pPr indent="0" marL="0">
              <a:buNone/>
            </a:pPr>
            <a:r>
              <a:rPr lang="en-US" sz="1100" b="1" dirty="0">
                <a:solidFill>
                  <a:srgbClr val="76766B"/>
                </a:solidFill>
                <a:latin typeface="Lexend SemiBold" pitchFamily="34" charset="0"/>
                <a:ea typeface="Lexend SemiBold" pitchFamily="34" charset="-122"/>
                <a:cs typeface="Lexend SemiBold" pitchFamily="34" charset="-120"/>
              </a:rPr>
              <a:t>Before</a:t>
            </a:r>
            <a:endParaRPr lang="en-US" sz="1100" dirty="0"/>
          </a:p>
        </p:txBody>
      </p:sp>
      <p:sp>
        <p:nvSpPr>
          <p:cNvPr id="7" name="Text 5"/>
          <p:cNvSpPr txBox="1"/>
          <p:nvPr/>
        </p:nvSpPr>
        <p:spPr>
          <a:xfrm>
            <a:off x="640080" y="1499616"/>
            <a:ext cx="3634740" cy="804672"/>
          </a:xfrm>
          <a:prstGeom prst="rect">
            <a:avLst/>
          </a:prstGeom>
          <a:noFill/>
          <a:ln/>
        </p:spPr>
        <p:txBody>
          <a:bodyPr wrap="square" lIns="0" tIns="0" rIns="0" bIns="0" rtlCol="0" anchor="t"/>
          <a:lstStyle/>
          <a:p>
            <a:pPr indent="0" marL="0">
              <a:buNone/>
            </a:pPr>
            <a:r>
              <a:rPr lang="en-US" sz="950" dirty="0">
                <a:solidFill>
                  <a:srgbClr val="1D1D1D"/>
                </a:solidFill>
                <a:latin typeface="Lexend" pitchFamily="34" charset="0"/>
                <a:ea typeface="Lexend" pitchFamily="34" charset="-122"/>
                <a:cs typeface="Lexend" pitchFamily="34" charset="-120"/>
              </a:rPr>
              <a:t>One e-journal package that thirty libraries subscribe to was written down thirty separate times. Change the publisher’s name and someone had to find and fix thirty entries.</a:t>
            </a:r>
            <a:endParaRPr lang="en-US" sz="950" dirty="0"/>
          </a:p>
        </p:txBody>
      </p:sp>
      <p:sp>
        <p:nvSpPr>
          <p:cNvPr id="8" name="Shape 6"/>
          <p:cNvSpPr/>
          <p:nvPr/>
        </p:nvSpPr>
        <p:spPr>
          <a:xfrm>
            <a:off x="4686300" y="1143000"/>
            <a:ext cx="4000500" cy="1234440"/>
          </a:xfrm>
          <a:prstGeom prst="roundRect">
            <a:avLst>
              <a:gd name="adj" fmla="val 4444"/>
            </a:avLst>
          </a:prstGeom>
          <a:solidFill>
            <a:srgbClr val="D8E4D6"/>
          </a:solidFill>
          <a:ln w="9525">
            <a:solidFill>
              <a:srgbClr val="DBC89F"/>
            </a:solidFill>
            <a:prstDash val="solid"/>
          </a:ln>
        </p:spPr>
      </p:sp>
      <p:sp>
        <p:nvSpPr>
          <p:cNvPr id="9" name="Text 7"/>
          <p:cNvSpPr txBox="1"/>
          <p:nvPr/>
        </p:nvSpPr>
        <p:spPr>
          <a:xfrm>
            <a:off x="4869180" y="1243584"/>
            <a:ext cx="3634740" cy="219456"/>
          </a:xfrm>
          <a:prstGeom prst="rect">
            <a:avLst/>
          </a:prstGeom>
          <a:noFill/>
          <a:ln/>
        </p:spPr>
        <p:txBody>
          <a:bodyPr wrap="square" lIns="0" tIns="0" rIns="0" bIns="0" rtlCol="0" anchor="ctr"/>
          <a:lstStyle/>
          <a:p>
            <a:pPr indent="0" marL="0">
              <a:buNone/>
            </a:pPr>
            <a:r>
              <a:rPr lang="en-US" sz="1100" b="1" dirty="0">
                <a:solidFill>
                  <a:srgbClr val="FF6652"/>
                </a:solidFill>
                <a:latin typeface="Lexend SemiBold" pitchFamily="34" charset="0"/>
                <a:ea typeface="Lexend SemiBold" pitchFamily="34" charset="-122"/>
                <a:cs typeface="Lexend SemiBold" pitchFamily="34" charset="-120"/>
              </a:rPr>
              <a:t>Now</a:t>
            </a:r>
            <a:endParaRPr lang="en-US" sz="1100" dirty="0"/>
          </a:p>
        </p:txBody>
      </p:sp>
      <p:sp>
        <p:nvSpPr>
          <p:cNvPr id="10" name="Text 8"/>
          <p:cNvSpPr txBox="1"/>
          <p:nvPr/>
        </p:nvSpPr>
        <p:spPr>
          <a:xfrm>
            <a:off x="4869180" y="1499616"/>
            <a:ext cx="3634740" cy="804672"/>
          </a:xfrm>
          <a:prstGeom prst="rect">
            <a:avLst/>
          </a:prstGeom>
          <a:noFill/>
          <a:ln/>
        </p:spPr>
        <p:txBody>
          <a:bodyPr wrap="square" lIns="0" tIns="0" rIns="0" bIns="0" rtlCol="0" anchor="t"/>
          <a:lstStyle/>
          <a:p>
            <a:pPr indent="0" marL="0">
              <a:buNone/>
            </a:pPr>
            <a:r>
              <a:rPr lang="en-US" sz="950" dirty="0">
                <a:solidFill>
                  <a:srgbClr val="1D1D1D"/>
                </a:solidFill>
                <a:latin typeface="Lexend" pitchFamily="34" charset="0"/>
                <a:ea typeface="Lexend" pitchFamily="34" charset="-122"/>
                <a:cs typeface="Lexend" pitchFamily="34" charset="-120"/>
              </a:rPr>
              <a:t>The package is described once, in a shared list. Each library records its own counts, and whether it had access that year, separately.</a:t>
            </a:r>
            <a:endParaRPr lang="en-US" sz="950" dirty="0"/>
          </a:p>
        </p:txBody>
      </p:sp>
      <p:sp>
        <p:nvSpPr>
          <p:cNvPr id="11" name="Shape 9"/>
          <p:cNvSpPr/>
          <p:nvPr/>
        </p:nvSpPr>
        <p:spPr>
          <a:xfrm>
            <a:off x="457200" y="2542032"/>
            <a:ext cx="2651760" cy="749808"/>
          </a:xfrm>
          <a:prstGeom prst="roundRect">
            <a:avLst>
              <a:gd name="adj" fmla="val 7317"/>
            </a:avLst>
          </a:prstGeom>
          <a:solidFill>
            <a:srgbClr val="FFFFFF"/>
          </a:solidFill>
          <a:ln w="9525">
            <a:solidFill>
              <a:srgbClr val="DBC89F"/>
            </a:solidFill>
            <a:prstDash val="solid"/>
          </a:ln>
        </p:spPr>
      </p:sp>
      <p:sp>
        <p:nvSpPr>
          <p:cNvPr id="12" name="Text 10"/>
          <p:cNvSpPr txBox="1"/>
          <p:nvPr/>
        </p:nvSpPr>
        <p:spPr>
          <a:xfrm>
            <a:off x="603504" y="2651760"/>
            <a:ext cx="2359152" cy="256032"/>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One entry per title</a:t>
            </a:r>
            <a:endParaRPr lang="en-US" sz="1000" dirty="0"/>
          </a:p>
        </p:txBody>
      </p:sp>
      <p:sp>
        <p:nvSpPr>
          <p:cNvPr id="13" name="Text 11"/>
          <p:cNvSpPr txBox="1"/>
          <p:nvPr/>
        </p:nvSpPr>
        <p:spPr>
          <a:xfrm>
            <a:off x="603504" y="2907792"/>
            <a:ext cx="2359152" cy="256032"/>
          </a:xfrm>
          <a:prstGeom prst="rect">
            <a:avLst/>
          </a:prstGeom>
          <a:noFill/>
          <a:ln/>
        </p:spPr>
        <p:txBody>
          <a:bodyPr wrap="square" lIns="0" tIns="0" rIns="0" bIns="0" rtlCol="0" anchor="ctr"/>
          <a:lstStyle/>
          <a:p>
            <a:pPr indent="0" marL="0">
              <a:buNone/>
            </a:pPr>
            <a:r>
              <a:rPr lang="en-US" sz="850" dirty="0">
                <a:solidFill>
                  <a:srgbClr val="76766B"/>
                </a:solidFill>
                <a:latin typeface="Lexend" pitchFamily="34" charset="0"/>
                <a:ea typeface="Lexend" pitchFamily="34" charset="-122"/>
                <a:cs typeface="Lexend" pitchFamily="34" charset="-120"/>
              </a:rPr>
              <a:t>shared by every library</a:t>
            </a:r>
            <a:endParaRPr lang="en-US" sz="850" dirty="0"/>
          </a:p>
        </p:txBody>
      </p:sp>
      <p:sp>
        <p:nvSpPr>
          <p:cNvPr id="14" name="Shape 12"/>
          <p:cNvSpPr/>
          <p:nvPr/>
        </p:nvSpPr>
        <p:spPr>
          <a:xfrm>
            <a:off x="3246120" y="2542032"/>
            <a:ext cx="2651760" cy="749808"/>
          </a:xfrm>
          <a:prstGeom prst="roundRect">
            <a:avLst>
              <a:gd name="adj" fmla="val 7317"/>
            </a:avLst>
          </a:prstGeom>
          <a:solidFill>
            <a:srgbClr val="FFFFFF"/>
          </a:solidFill>
          <a:ln w="9525">
            <a:solidFill>
              <a:srgbClr val="DBC89F"/>
            </a:solidFill>
            <a:prstDash val="solid"/>
          </a:ln>
        </p:spPr>
      </p:sp>
      <p:sp>
        <p:nvSpPr>
          <p:cNvPr id="15" name="Text 13"/>
          <p:cNvSpPr txBox="1"/>
          <p:nvPr/>
        </p:nvSpPr>
        <p:spPr>
          <a:xfrm>
            <a:off x="3392424" y="2651760"/>
            <a:ext cx="2359152" cy="256032"/>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Counts recorded separately</a:t>
            </a:r>
            <a:endParaRPr lang="en-US" sz="1000" dirty="0"/>
          </a:p>
        </p:txBody>
      </p:sp>
      <p:sp>
        <p:nvSpPr>
          <p:cNvPr id="16" name="Text 14"/>
          <p:cNvSpPr txBox="1"/>
          <p:nvPr/>
        </p:nvSpPr>
        <p:spPr>
          <a:xfrm>
            <a:off x="3392424" y="2907792"/>
            <a:ext cx="2359152" cy="256032"/>
          </a:xfrm>
          <a:prstGeom prst="rect">
            <a:avLst/>
          </a:prstGeom>
          <a:noFill/>
          <a:ln/>
        </p:spPr>
        <p:txBody>
          <a:bodyPr wrap="square" lIns="0" tIns="0" rIns="0" bIns="0" rtlCol="0" anchor="ctr"/>
          <a:lstStyle/>
          <a:p>
            <a:pPr indent="0" marL="0">
              <a:buNone/>
            </a:pPr>
            <a:r>
              <a:rPr lang="en-US" sz="850" dirty="0">
                <a:solidFill>
                  <a:srgbClr val="76766B"/>
                </a:solidFill>
                <a:latin typeface="Lexend" pitchFamily="34" charset="0"/>
                <a:ea typeface="Lexend" pitchFamily="34" charset="-122"/>
                <a:cs typeface="Lexend" pitchFamily="34" charset="-120"/>
              </a:rPr>
              <a:t>per library, per year</a:t>
            </a:r>
            <a:endParaRPr lang="en-US" sz="850" dirty="0"/>
          </a:p>
        </p:txBody>
      </p:sp>
      <p:sp>
        <p:nvSpPr>
          <p:cNvPr id="17" name="Shape 15"/>
          <p:cNvSpPr/>
          <p:nvPr/>
        </p:nvSpPr>
        <p:spPr>
          <a:xfrm>
            <a:off x="6035040" y="2542032"/>
            <a:ext cx="2651760" cy="749808"/>
          </a:xfrm>
          <a:prstGeom prst="roundRect">
            <a:avLst>
              <a:gd name="adj" fmla="val 7317"/>
            </a:avLst>
          </a:prstGeom>
          <a:solidFill>
            <a:srgbClr val="FFFFFF"/>
          </a:solidFill>
          <a:ln w="9525">
            <a:solidFill>
              <a:srgbClr val="DBC89F"/>
            </a:solidFill>
            <a:prstDash val="solid"/>
          </a:ln>
        </p:spPr>
      </p:sp>
      <p:sp>
        <p:nvSpPr>
          <p:cNvPr id="18" name="Text 16"/>
          <p:cNvSpPr txBox="1"/>
          <p:nvPr/>
        </p:nvSpPr>
        <p:spPr>
          <a:xfrm>
            <a:off x="6181344" y="2651760"/>
            <a:ext cx="2359152" cy="256032"/>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Access recorded separately</a:t>
            </a:r>
            <a:endParaRPr lang="en-US" sz="1000" dirty="0"/>
          </a:p>
        </p:txBody>
      </p:sp>
      <p:sp>
        <p:nvSpPr>
          <p:cNvPr id="19" name="Text 17"/>
          <p:cNvSpPr txBox="1"/>
          <p:nvPr/>
        </p:nvSpPr>
        <p:spPr>
          <a:xfrm>
            <a:off x="6181344" y="2907792"/>
            <a:ext cx="2359152" cy="256032"/>
          </a:xfrm>
          <a:prstGeom prst="rect">
            <a:avLst/>
          </a:prstGeom>
          <a:noFill/>
          <a:ln/>
        </p:spPr>
        <p:txBody>
          <a:bodyPr wrap="square" lIns="0" tIns="0" rIns="0" bIns="0" rtlCol="0" anchor="ctr"/>
          <a:lstStyle/>
          <a:p>
            <a:pPr indent="0" marL="0">
              <a:buNone/>
            </a:pPr>
            <a:r>
              <a:rPr lang="en-US" sz="850" dirty="0">
                <a:solidFill>
                  <a:srgbClr val="76766B"/>
                </a:solidFill>
                <a:latin typeface="Lexend" pitchFamily="34" charset="0"/>
                <a:ea typeface="Lexend" pitchFamily="34" charset="-122"/>
                <a:cs typeface="Lexend" pitchFamily="34" charset="-120"/>
              </a:rPr>
              <a:t>who had it, in which year</a:t>
            </a:r>
            <a:endParaRPr lang="en-US" sz="850" dirty="0"/>
          </a:p>
        </p:txBody>
      </p:sp>
      <p:sp>
        <p:nvSpPr>
          <p:cNvPr id="20" name="Shape 18"/>
          <p:cNvSpPr/>
          <p:nvPr/>
        </p:nvSpPr>
        <p:spPr>
          <a:xfrm>
            <a:off x="457200" y="3474720"/>
            <a:ext cx="8229600" cy="566928"/>
          </a:xfrm>
          <a:prstGeom prst="roundRect">
            <a:avLst>
              <a:gd name="adj" fmla="val 9677"/>
            </a:avLst>
          </a:prstGeom>
          <a:solidFill>
            <a:srgbClr val="D8E4D6"/>
          </a:solidFill>
          <a:ln w="9525">
            <a:solidFill>
              <a:srgbClr val="DBC89F"/>
            </a:solidFill>
            <a:prstDash val="solid"/>
          </a:ln>
        </p:spPr>
      </p:sp>
      <p:sp>
        <p:nvSpPr>
          <p:cNvPr id="21" name="Text 19"/>
          <p:cNvSpPr txBox="1"/>
          <p:nvPr/>
        </p:nvSpPr>
        <p:spPr>
          <a:xfrm>
            <a:off x="640080" y="3511296"/>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Correct a title once, and every library’s record is corrected with it.</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FOUR PROMISES ABOUT YOUR DATA</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Never losing your work</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Shape 3"/>
          <p:cNvSpPr/>
          <p:nvPr/>
        </p:nvSpPr>
        <p:spPr>
          <a:xfrm>
            <a:off x="457200" y="1165860"/>
            <a:ext cx="274320" cy="274320"/>
          </a:xfrm>
          <a:prstGeom prst="ellipse">
            <a:avLst/>
          </a:prstGeom>
          <a:solidFill>
            <a:srgbClr val="FF6652"/>
          </a:solidFill>
          <a:ln w="12700">
            <a:solidFill>
              <a:srgbClr val="333333"/>
            </a:solidFill>
            <a:prstDash val="solid"/>
          </a:ln>
        </p:spPr>
      </p:sp>
      <p:sp>
        <p:nvSpPr>
          <p:cNvPr id="6" name="Text 4"/>
          <p:cNvSpPr txBox="1"/>
          <p:nvPr/>
        </p:nvSpPr>
        <p:spPr>
          <a:xfrm>
            <a:off x="457200" y="116586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1</a:t>
            </a:r>
            <a:endParaRPr lang="en-US" sz="1000" dirty="0"/>
          </a:p>
        </p:txBody>
      </p:sp>
      <p:sp>
        <p:nvSpPr>
          <p:cNvPr id="7" name="Text 5"/>
          <p:cNvSpPr txBox="1"/>
          <p:nvPr/>
        </p:nvSpPr>
        <p:spPr>
          <a:xfrm>
            <a:off x="877824" y="1152144"/>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Your draft is safe</a:t>
            </a:r>
            <a:endParaRPr lang="en-US" sz="1250" dirty="0"/>
          </a:p>
        </p:txBody>
      </p:sp>
      <p:sp>
        <p:nvSpPr>
          <p:cNvPr id="8" name="Text 6"/>
          <p:cNvSpPr txBox="1"/>
          <p:nvPr/>
        </p:nvSpPr>
        <p:spPr>
          <a:xfrm>
            <a:off x="877824" y="1380744"/>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Saving updates the same record. Come back in three days and it is exactly where you left it.</a:t>
            </a:r>
            <a:endParaRPr lang="en-US" sz="1000" dirty="0"/>
          </a:p>
        </p:txBody>
      </p:sp>
      <p:sp>
        <p:nvSpPr>
          <p:cNvPr id="9" name="Shape 7"/>
          <p:cNvSpPr/>
          <p:nvPr/>
        </p:nvSpPr>
        <p:spPr>
          <a:xfrm>
            <a:off x="457200" y="1915668"/>
            <a:ext cx="274320" cy="274320"/>
          </a:xfrm>
          <a:prstGeom prst="ellipse">
            <a:avLst/>
          </a:prstGeom>
          <a:solidFill>
            <a:srgbClr val="51BD85"/>
          </a:solidFill>
          <a:ln w="12700">
            <a:solidFill>
              <a:srgbClr val="333333"/>
            </a:solidFill>
            <a:prstDash val="solid"/>
          </a:ln>
        </p:spPr>
      </p:sp>
      <p:sp>
        <p:nvSpPr>
          <p:cNvPr id="10" name="Text 8"/>
          <p:cNvSpPr txBox="1"/>
          <p:nvPr/>
        </p:nvSpPr>
        <p:spPr>
          <a:xfrm>
            <a:off x="457200" y="191566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2</a:t>
            </a:r>
            <a:endParaRPr lang="en-US" sz="1000" dirty="0"/>
          </a:p>
        </p:txBody>
      </p:sp>
      <p:sp>
        <p:nvSpPr>
          <p:cNvPr id="11" name="Text 9"/>
          <p:cNvSpPr txBox="1"/>
          <p:nvPr/>
        </p:nvSpPr>
        <p:spPr>
          <a:xfrm>
            <a:off x="877824" y="1901952"/>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Submitting is recorded separately</a:t>
            </a:r>
            <a:endParaRPr lang="en-US" sz="1250" dirty="0"/>
          </a:p>
        </p:txBody>
      </p:sp>
      <p:sp>
        <p:nvSpPr>
          <p:cNvPr id="12" name="Text 10"/>
          <p:cNvSpPr txBox="1"/>
          <p:nvPr/>
        </p:nvSpPr>
        <p:spPr>
          <a:xfrm>
            <a:off x="877824" y="2130552"/>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From the numbers themselves — per form, per year.</a:t>
            </a:r>
            <a:endParaRPr lang="en-US" sz="1000" dirty="0"/>
          </a:p>
        </p:txBody>
      </p:sp>
      <p:sp>
        <p:nvSpPr>
          <p:cNvPr id="13" name="Shape 11"/>
          <p:cNvSpPr/>
          <p:nvPr/>
        </p:nvSpPr>
        <p:spPr>
          <a:xfrm>
            <a:off x="457200" y="2665476"/>
            <a:ext cx="274320" cy="274320"/>
          </a:xfrm>
          <a:prstGeom prst="ellipse">
            <a:avLst/>
          </a:prstGeom>
          <a:solidFill>
            <a:srgbClr val="6AD2E6"/>
          </a:solidFill>
          <a:ln w="12700">
            <a:solidFill>
              <a:srgbClr val="333333"/>
            </a:solidFill>
            <a:prstDash val="solid"/>
          </a:ln>
        </p:spPr>
      </p:sp>
      <p:sp>
        <p:nvSpPr>
          <p:cNvPr id="14" name="Text 12"/>
          <p:cNvSpPr txBox="1"/>
          <p:nvPr/>
        </p:nvSpPr>
        <p:spPr>
          <a:xfrm>
            <a:off x="457200" y="266547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3</a:t>
            </a:r>
            <a:endParaRPr lang="en-US" sz="1000" dirty="0"/>
          </a:p>
        </p:txBody>
      </p:sp>
      <p:sp>
        <p:nvSpPr>
          <p:cNvPr id="15" name="Text 13"/>
          <p:cNvSpPr txBox="1"/>
          <p:nvPr/>
        </p:nvSpPr>
        <p:spPr>
          <a:xfrm>
            <a:off x="877824" y="2651760"/>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A form of all zeros is not real data</a:t>
            </a:r>
            <a:endParaRPr lang="en-US" sz="1250" dirty="0"/>
          </a:p>
        </p:txBody>
      </p:sp>
      <p:sp>
        <p:nvSpPr>
          <p:cNvPr id="16" name="Text 14"/>
          <p:cNvSpPr txBox="1"/>
          <p:nvPr/>
        </p:nvSpPr>
        <p:spPr>
          <a:xfrm>
            <a:off x="877824" y="2880360"/>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The system reads that as “did not participate”. This is a rule the Committee gave us — not one we invented.</a:t>
            </a:r>
            <a:endParaRPr lang="en-US" sz="1000" dirty="0"/>
          </a:p>
        </p:txBody>
      </p:sp>
      <p:sp>
        <p:nvSpPr>
          <p:cNvPr id="17" name="Shape 15"/>
          <p:cNvSpPr/>
          <p:nvPr/>
        </p:nvSpPr>
        <p:spPr>
          <a:xfrm>
            <a:off x="457200" y="3415284"/>
            <a:ext cx="274320" cy="274320"/>
          </a:xfrm>
          <a:prstGeom prst="ellipse">
            <a:avLst/>
          </a:prstGeom>
          <a:solidFill>
            <a:srgbClr val="1D1D1D"/>
          </a:solidFill>
          <a:ln w="12700">
            <a:solidFill>
              <a:srgbClr val="333333"/>
            </a:solidFill>
            <a:prstDash val="solid"/>
          </a:ln>
        </p:spPr>
      </p:sp>
      <p:sp>
        <p:nvSpPr>
          <p:cNvPr id="18" name="Text 16"/>
          <p:cNvSpPr txBox="1"/>
          <p:nvPr/>
        </p:nvSpPr>
        <p:spPr>
          <a:xfrm>
            <a:off x="457200" y="341528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4</a:t>
            </a:r>
            <a:endParaRPr lang="en-US" sz="1000" dirty="0"/>
          </a:p>
        </p:txBody>
      </p:sp>
      <p:sp>
        <p:nvSpPr>
          <p:cNvPr id="19" name="Text 17"/>
          <p:cNvSpPr txBox="1"/>
          <p:nvPr/>
        </p:nvSpPr>
        <p:spPr>
          <a:xfrm>
            <a:off x="877824" y="3401568"/>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Every change is written down</a:t>
            </a:r>
            <a:endParaRPr lang="en-US" sz="1250" dirty="0"/>
          </a:p>
        </p:txBody>
      </p:sp>
      <p:sp>
        <p:nvSpPr>
          <p:cNvPr id="20" name="Text 18"/>
          <p:cNvSpPr txBox="1"/>
          <p:nvPr/>
        </p:nvSpPr>
        <p:spPr>
          <a:xfrm>
            <a:off x="877824" y="3630168"/>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Who, when, and what the value was before. Changes after the deadline are marked, field by field.</a:t>
            </a:r>
            <a:endParaRPr lang="en-US" sz="1000" dirty="0"/>
          </a:p>
        </p:txBody>
      </p:sp>
      <p:sp>
        <p:nvSpPr>
          <p:cNvPr id="21" name="Shape 19"/>
          <p:cNvSpPr/>
          <p:nvPr/>
        </p:nvSpPr>
        <p:spPr>
          <a:xfrm>
            <a:off x="457200" y="4169664"/>
            <a:ext cx="8229600" cy="566928"/>
          </a:xfrm>
          <a:prstGeom prst="roundRect">
            <a:avLst>
              <a:gd name="adj" fmla="val 9677"/>
            </a:avLst>
          </a:prstGeom>
          <a:solidFill>
            <a:srgbClr val="D8E4D6"/>
          </a:solidFill>
          <a:ln w="9525">
            <a:solidFill>
              <a:srgbClr val="DBC89F"/>
            </a:solidFill>
            <a:prstDash val="solid"/>
          </a:ln>
        </p:spPr>
      </p:sp>
      <p:sp>
        <p:nvSpPr>
          <p:cNvPr id="22" name="Text 20"/>
          <p:cNvSpPr txBox="1"/>
          <p:nvPr/>
        </p:nvSpPr>
        <p:spPr>
          <a:xfrm>
            <a:off x="640080" y="4206240"/>
            <a:ext cx="7863840" cy="493776"/>
          </a:xfrm>
          <a:prstGeom prst="rect">
            <a:avLst/>
          </a:prstGeom>
          <a:noFill/>
          <a:ln/>
        </p:spPr>
        <p:txBody>
          <a:bodyPr wrap="square" lIns="0" tIns="0" rIns="0" bIns="0" rtlCol="0" anchor="ctr"/>
          <a:lstStyle/>
          <a:p>
            <a:pPr indent="0" marL="0">
              <a:buNone/>
            </a:pPr>
            <a:r>
              <a:rPr lang="en-US" sz="1150" b="1" dirty="0">
                <a:solidFill>
                  <a:srgbClr val="FF6652"/>
                </a:solidFill>
                <a:latin typeface="Lexend SemiBold" pitchFamily="34" charset="0"/>
                <a:ea typeface="Lexend SemiBold" pitchFamily="34" charset="-122"/>
                <a:cs typeface="Lexend SemiBold" pitchFamily="34" charset="-120"/>
              </a:rPr>
              <a:t>Press Save Draft as often as you like. Nothing is lost, and nobody else sees it.</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BRING LAST YEAR FORWARD, IN ONE CLICK</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Not typing the same thing twice</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Shape 3"/>
          <p:cNvSpPr/>
          <p:nvPr/>
        </p:nvSpPr>
        <p:spPr>
          <a:xfrm>
            <a:off x="457200" y="1115568"/>
            <a:ext cx="8229600" cy="694944"/>
          </a:xfrm>
          <a:prstGeom prst="roundRect">
            <a:avLst>
              <a:gd name="adj" fmla="val 7895"/>
            </a:avLst>
          </a:prstGeom>
          <a:solidFill>
            <a:srgbClr val="D8E4D6"/>
          </a:solidFill>
          <a:ln w="9525">
            <a:solidFill>
              <a:srgbClr val="DBC89F"/>
            </a:solidFill>
            <a:prstDash val="solid"/>
          </a:ln>
        </p:spPr>
      </p:sp>
      <p:sp>
        <p:nvSpPr>
          <p:cNvPr id="6" name="Text 4"/>
          <p:cNvSpPr txBox="1"/>
          <p:nvPr/>
        </p:nvSpPr>
        <p:spPr>
          <a:xfrm>
            <a:off x="658368" y="1161288"/>
            <a:ext cx="7827264" cy="603504"/>
          </a:xfrm>
          <a:prstGeom prst="rect">
            <a:avLst/>
          </a:prstGeom>
          <a:noFill/>
          <a:ln/>
        </p:spPr>
        <p:txBody>
          <a:bodyPr wrap="square" lIns="0" tIns="0" rIns="0" bIns="0" rtlCol="0" anchor="ctr"/>
          <a:lstStyle/>
          <a:p>
            <a:pPr indent="0" marL="0">
              <a:buNone/>
            </a:pPr>
            <a:r>
              <a:rPr lang="en-US" sz="1350" b="1" dirty="0">
                <a:solidFill>
                  <a:srgbClr val="1D1D1D"/>
                </a:solidFill>
                <a:latin typeface="Lexend SemiBold" pitchFamily="34" charset="0"/>
                <a:ea typeface="Lexend SemiBold" pitchFamily="34" charset="-122"/>
                <a:cs typeface="Lexend SemiBold" pitchFamily="34" charset="-120"/>
              </a:rPr>
              <a:t>You should never have to type in something the system already knows.</a:t>
            </a:r>
            <a:endParaRPr lang="en-US" sz="1350" dirty="0"/>
          </a:p>
        </p:txBody>
      </p:sp>
      <p:sp>
        <p:nvSpPr>
          <p:cNvPr id="7" name="Shape 5"/>
          <p:cNvSpPr/>
          <p:nvPr/>
        </p:nvSpPr>
        <p:spPr>
          <a:xfrm>
            <a:off x="457200" y="1970532"/>
            <a:ext cx="274320" cy="274320"/>
          </a:xfrm>
          <a:prstGeom prst="ellipse">
            <a:avLst/>
          </a:prstGeom>
          <a:solidFill>
            <a:srgbClr val="FF6652"/>
          </a:solidFill>
          <a:ln w="12700">
            <a:solidFill>
              <a:srgbClr val="333333"/>
            </a:solidFill>
            <a:prstDash val="solid"/>
          </a:ln>
        </p:spPr>
      </p:sp>
      <p:sp>
        <p:nvSpPr>
          <p:cNvPr id="8" name="Text 6"/>
          <p:cNvSpPr txBox="1"/>
          <p:nvPr/>
        </p:nvSpPr>
        <p:spPr>
          <a:xfrm>
            <a:off x="457200" y="197053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1</a:t>
            </a:r>
            <a:endParaRPr lang="en-US" sz="1000" dirty="0"/>
          </a:p>
        </p:txBody>
      </p:sp>
      <p:sp>
        <p:nvSpPr>
          <p:cNvPr id="9" name="Text 7"/>
          <p:cNvSpPr txBox="1"/>
          <p:nvPr/>
        </p:nvSpPr>
        <p:spPr>
          <a:xfrm>
            <a:off x="877824" y="1956816"/>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Copy last year’s databases into this year</a:t>
            </a:r>
            <a:endParaRPr lang="en-US" sz="1250" dirty="0"/>
          </a:p>
        </p:txBody>
      </p:sp>
      <p:sp>
        <p:nvSpPr>
          <p:cNvPr id="10" name="Text 8"/>
          <p:cNvSpPr txBox="1"/>
          <p:nvPr/>
        </p:nvSpPr>
        <p:spPr>
          <a:xfrm>
            <a:off x="877824" y="2185416"/>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One action — and it tells you exactly what was copied and what was skipped.</a:t>
            </a:r>
            <a:endParaRPr lang="en-US" sz="1000" dirty="0"/>
          </a:p>
        </p:txBody>
      </p:sp>
      <p:sp>
        <p:nvSpPr>
          <p:cNvPr id="11" name="Shape 9"/>
          <p:cNvSpPr/>
          <p:nvPr/>
        </p:nvSpPr>
        <p:spPr>
          <a:xfrm>
            <a:off x="457200" y="2683764"/>
            <a:ext cx="274320" cy="274320"/>
          </a:xfrm>
          <a:prstGeom prst="ellipse">
            <a:avLst/>
          </a:prstGeom>
          <a:solidFill>
            <a:srgbClr val="51BD85"/>
          </a:solidFill>
          <a:ln w="12700">
            <a:solidFill>
              <a:srgbClr val="333333"/>
            </a:solidFill>
            <a:prstDash val="solid"/>
          </a:ln>
        </p:spPr>
      </p:sp>
      <p:sp>
        <p:nvSpPr>
          <p:cNvPr id="12" name="Text 10"/>
          <p:cNvSpPr txBox="1"/>
          <p:nvPr/>
        </p:nvSpPr>
        <p:spPr>
          <a:xfrm>
            <a:off x="457200" y="268376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2</a:t>
            </a:r>
            <a:endParaRPr lang="en-US" sz="1000" dirty="0"/>
          </a:p>
        </p:txBody>
      </p:sp>
      <p:sp>
        <p:nvSpPr>
          <p:cNvPr id="13" name="Text 11"/>
          <p:cNvSpPr txBox="1"/>
          <p:nvPr/>
        </p:nvSpPr>
        <p:spPr>
          <a:xfrm>
            <a:off x="877824" y="2670048"/>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It refuses to overwrite</a:t>
            </a:r>
            <a:endParaRPr lang="en-US" sz="1250" dirty="0"/>
          </a:p>
        </p:txBody>
      </p:sp>
      <p:sp>
        <p:nvSpPr>
          <p:cNvPr id="14" name="Text 12"/>
          <p:cNvSpPr txBox="1"/>
          <p:nvPr/>
        </p:nvSpPr>
        <p:spPr>
          <a:xfrm>
            <a:off x="877824" y="2898648"/>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If this year already has records, it stops and shows you the conflict rather than replacing your work.</a:t>
            </a:r>
            <a:endParaRPr lang="en-US" sz="1000" dirty="0"/>
          </a:p>
        </p:txBody>
      </p:sp>
      <p:sp>
        <p:nvSpPr>
          <p:cNvPr id="15" name="Shape 13"/>
          <p:cNvSpPr/>
          <p:nvPr/>
        </p:nvSpPr>
        <p:spPr>
          <a:xfrm>
            <a:off x="457200" y="3396996"/>
            <a:ext cx="274320" cy="274320"/>
          </a:xfrm>
          <a:prstGeom prst="ellipse">
            <a:avLst/>
          </a:prstGeom>
          <a:solidFill>
            <a:srgbClr val="6AD2E6"/>
          </a:solidFill>
          <a:ln w="12700">
            <a:solidFill>
              <a:srgbClr val="333333"/>
            </a:solidFill>
            <a:prstDash val="solid"/>
          </a:ln>
        </p:spPr>
      </p:sp>
      <p:sp>
        <p:nvSpPr>
          <p:cNvPr id="16" name="Text 14"/>
          <p:cNvSpPr txBox="1"/>
          <p:nvPr/>
        </p:nvSpPr>
        <p:spPr>
          <a:xfrm>
            <a:off x="457200" y="339699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3</a:t>
            </a:r>
            <a:endParaRPr lang="en-US" sz="1000" dirty="0"/>
          </a:p>
        </p:txBody>
      </p:sp>
      <p:sp>
        <p:nvSpPr>
          <p:cNvPr id="17" name="Text 15"/>
          <p:cNvSpPr txBox="1"/>
          <p:nvPr/>
        </p:nvSpPr>
        <p:spPr>
          <a:xfrm>
            <a:off x="877824" y="3383280"/>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Eight import buttons</a:t>
            </a:r>
            <a:endParaRPr lang="en-US" sz="1250" dirty="0"/>
          </a:p>
        </p:txBody>
      </p:sp>
      <p:sp>
        <p:nvSpPr>
          <p:cNvPr id="18" name="Text 16"/>
          <p:cNvSpPr txBox="1"/>
          <p:nvPr/>
        </p:nvSpPr>
        <p:spPr>
          <a:xfrm>
            <a:off x="877824" y="3611880"/>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Pull figures the system already holds into the form you are filling in.</a:t>
            </a:r>
            <a:endParaRPr lang="en-US" sz="1000" dirty="0"/>
          </a:p>
        </p:txBody>
      </p:sp>
      <p:sp>
        <p:nvSpPr>
          <p:cNvPr id="19" name="Shape 17"/>
          <p:cNvSpPr/>
          <p:nvPr/>
        </p:nvSpPr>
        <p:spPr>
          <a:xfrm>
            <a:off x="457200" y="4110228"/>
            <a:ext cx="274320" cy="274320"/>
          </a:xfrm>
          <a:prstGeom prst="ellipse">
            <a:avLst/>
          </a:prstGeom>
          <a:solidFill>
            <a:srgbClr val="1D1D1D"/>
          </a:solidFill>
          <a:ln w="12700">
            <a:solidFill>
              <a:srgbClr val="333333"/>
            </a:solidFill>
            <a:prstDash val="solid"/>
          </a:ln>
        </p:spPr>
      </p:sp>
      <p:sp>
        <p:nvSpPr>
          <p:cNvPr id="20" name="Text 18"/>
          <p:cNvSpPr txBox="1"/>
          <p:nvPr/>
        </p:nvSpPr>
        <p:spPr>
          <a:xfrm>
            <a:off x="457200" y="411022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Lexend SemiBold" pitchFamily="34" charset="0"/>
                <a:ea typeface="Lexend SemiBold" pitchFamily="34" charset="-122"/>
                <a:cs typeface="Lexend SemiBold" pitchFamily="34" charset="-120"/>
              </a:rPr>
              <a:t>4</a:t>
            </a:r>
            <a:endParaRPr lang="en-US" sz="1000" dirty="0"/>
          </a:p>
        </p:txBody>
      </p:sp>
      <p:sp>
        <p:nvSpPr>
          <p:cNvPr id="21" name="Text 19"/>
          <p:cNvSpPr txBox="1"/>
          <p:nvPr/>
        </p:nvSpPr>
        <p:spPr>
          <a:xfrm>
            <a:off x="877824" y="4096512"/>
            <a:ext cx="7808976" cy="219456"/>
          </a:xfrm>
          <a:prstGeom prst="rect">
            <a:avLst/>
          </a:prstGeom>
          <a:noFill/>
          <a:ln/>
        </p:spPr>
        <p:txBody>
          <a:bodyPr wrap="square" lIns="0" tIns="0" rIns="0" bIns="0" rtlCol="0" anchor="ctr"/>
          <a:lstStyle/>
          <a:p>
            <a:pPr indent="0" marL="0">
              <a:buNone/>
            </a:pPr>
            <a:r>
              <a:rPr lang="en-US" sz="1250" b="1" dirty="0">
                <a:solidFill>
                  <a:srgbClr val="1D1D1D"/>
                </a:solidFill>
                <a:latin typeface="Lexend SemiBold" pitchFamily="34" charset="0"/>
                <a:ea typeface="Lexend SemiBold" pitchFamily="34" charset="-122"/>
                <a:cs typeface="Lexend SemiBold" pitchFamily="34" charset="-120"/>
              </a:rPr>
              <a:t>One button for the electronic form</a:t>
            </a:r>
            <a:endParaRPr lang="en-US" sz="1250" dirty="0"/>
          </a:p>
        </p:txBody>
      </p:sp>
      <p:sp>
        <p:nvSpPr>
          <p:cNvPr id="22" name="Text 20"/>
          <p:cNvSpPr txBox="1"/>
          <p:nvPr/>
        </p:nvSpPr>
        <p:spPr>
          <a:xfrm>
            <a:off x="877824" y="4325112"/>
            <a:ext cx="7808976" cy="420624"/>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Fills it from all three shared lists at once.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SECURITY, IN PLAIN TERMS</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Keeping it safe</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Shape 3"/>
          <p:cNvSpPr/>
          <p:nvPr/>
        </p:nvSpPr>
        <p:spPr>
          <a:xfrm>
            <a:off x="457200" y="1115568"/>
            <a:ext cx="8229600" cy="841248"/>
          </a:xfrm>
          <a:prstGeom prst="roundRect">
            <a:avLst>
              <a:gd name="adj" fmla="val 6522"/>
            </a:avLst>
          </a:prstGeom>
          <a:solidFill>
            <a:srgbClr val="D8E4D6"/>
          </a:solidFill>
          <a:ln w="9525">
            <a:solidFill>
              <a:srgbClr val="DBC89F"/>
            </a:solidFill>
            <a:prstDash val="solid"/>
          </a:ln>
        </p:spPr>
      </p:sp>
      <p:sp>
        <p:nvSpPr>
          <p:cNvPr id="6" name="Text 4"/>
          <p:cNvSpPr txBox="1"/>
          <p:nvPr/>
        </p:nvSpPr>
        <p:spPr>
          <a:xfrm>
            <a:off x="658368" y="1179576"/>
            <a:ext cx="2011680" cy="274320"/>
          </a:xfrm>
          <a:prstGeom prst="rect">
            <a:avLst/>
          </a:prstGeom>
          <a:noFill/>
          <a:ln/>
        </p:spPr>
        <p:txBody>
          <a:bodyPr wrap="square" lIns="0" tIns="0" rIns="0" bIns="0" rtlCol="0" anchor="ctr"/>
          <a:lstStyle/>
          <a:p>
            <a:pPr indent="0" marL="0">
              <a:buNone/>
            </a:pPr>
            <a:r>
              <a:rPr lang="en-US" sz="1500" b="1" dirty="0">
                <a:solidFill>
                  <a:srgbClr val="FF6652"/>
                </a:solidFill>
                <a:latin typeface="Lexend SemiBold" pitchFamily="34" charset="0"/>
                <a:ea typeface="Lexend SemiBold" pitchFamily="34" charset="-122"/>
                <a:cs typeface="Lexend SemiBold" pitchFamily="34" charset="-120"/>
              </a:rPr>
              <a:t>Two locks, not one.</a:t>
            </a:r>
            <a:endParaRPr lang="en-US" sz="1500" dirty="0"/>
          </a:p>
        </p:txBody>
      </p:sp>
      <p:sp>
        <p:nvSpPr>
          <p:cNvPr id="7" name="Text 5"/>
          <p:cNvSpPr txBox="1"/>
          <p:nvPr/>
        </p:nvSpPr>
        <p:spPr>
          <a:xfrm>
            <a:off x="658368" y="1463040"/>
            <a:ext cx="7827264" cy="438912"/>
          </a:xfrm>
          <a:prstGeom prst="rect">
            <a:avLst/>
          </a:prstGeom>
          <a:noFill/>
          <a:ln/>
        </p:spPr>
        <p:txBody>
          <a:bodyPr wrap="square" lIns="0" tIns="0" rIns="0" bIns="0" rtlCol="0" anchor="t"/>
          <a:lstStyle/>
          <a:p>
            <a:pPr indent="0" marL="0">
              <a:buNone/>
            </a:pPr>
            <a:r>
              <a:rPr lang="en-US" sz="1000" dirty="0">
                <a:solidFill>
                  <a:srgbClr val="1D1D1D"/>
                </a:solidFill>
                <a:latin typeface="Lexend" pitchFamily="34" charset="0"/>
                <a:ea typeface="Lexend" pitchFamily="34" charset="-122"/>
                <a:cs typeface="Lexend" pitchFamily="34" charset="-120"/>
              </a:rPr>
              <a:t>The door checks who you are. Then every sensitive action asks the database again. Editing something in your own browser to pretend you are an administrator does not work.</a:t>
            </a:r>
            <a:endParaRPr lang="en-US" sz="1000" dirty="0"/>
          </a:p>
        </p:txBody>
      </p:sp>
      <p:sp>
        <p:nvSpPr>
          <p:cNvPr id="8" name="Shape 6"/>
          <p:cNvSpPr/>
          <p:nvPr/>
        </p:nvSpPr>
        <p:spPr>
          <a:xfrm>
            <a:off x="457200" y="2135124"/>
            <a:ext cx="237744" cy="237744"/>
          </a:xfrm>
          <a:prstGeom prst="ellipse">
            <a:avLst/>
          </a:prstGeom>
          <a:solidFill>
            <a:srgbClr val="1D1D1D"/>
          </a:solidFill>
          <a:ln w="12700">
            <a:solidFill>
              <a:srgbClr val="333333"/>
            </a:solidFill>
            <a:prstDash val="solid"/>
          </a:ln>
        </p:spPr>
      </p:sp>
      <p:sp>
        <p:nvSpPr>
          <p:cNvPr id="9" name="Text 7"/>
          <p:cNvSpPr txBox="1"/>
          <p:nvPr/>
        </p:nvSpPr>
        <p:spPr>
          <a:xfrm>
            <a:off x="457200" y="213512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Lexend SemiBold" pitchFamily="34" charset="0"/>
                <a:ea typeface="Lexend SemiBold" pitchFamily="34" charset="-122"/>
                <a:cs typeface="Lexend SemiBold" pitchFamily="34" charset="-120"/>
              </a:rPr>
              <a:t>1</a:t>
            </a:r>
            <a:endParaRPr lang="en-US" sz="900" dirty="0"/>
          </a:p>
        </p:txBody>
      </p:sp>
      <p:sp>
        <p:nvSpPr>
          <p:cNvPr id="10" name="Text 8"/>
          <p:cNvSpPr txBox="1"/>
          <p:nvPr/>
        </p:nvSpPr>
        <p:spPr>
          <a:xfrm>
            <a:off x="822960" y="2121408"/>
            <a:ext cx="7863840" cy="402336"/>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Tampered sessions are detected  </a:t>
            </a:r>
            <a:pPr indent="0" marL="0">
              <a:buNone/>
            </a:pPr>
            <a:r>
              <a:rPr lang="en-US" sz="1000" dirty="0">
                <a:solidFill>
                  <a:srgbClr val="1D1D1D"/>
                </a:solidFill>
                <a:latin typeface="Lexend" pitchFamily="34" charset="0"/>
                <a:ea typeface="Lexend" pitchFamily="34" charset="-122"/>
                <a:cs typeface="Lexend" pitchFamily="34" charset="-120"/>
              </a:rPr>
              <a:t>You are signed out immediately.</a:t>
            </a:r>
            <a:endParaRPr lang="en-US" sz="1000" dirty="0"/>
          </a:p>
        </p:txBody>
      </p:sp>
      <p:sp>
        <p:nvSpPr>
          <p:cNvPr id="11" name="Shape 9"/>
          <p:cNvSpPr/>
          <p:nvPr/>
        </p:nvSpPr>
        <p:spPr>
          <a:xfrm>
            <a:off x="457200" y="2610612"/>
            <a:ext cx="237744" cy="237744"/>
          </a:xfrm>
          <a:prstGeom prst="ellipse">
            <a:avLst/>
          </a:prstGeom>
          <a:solidFill>
            <a:srgbClr val="FF6652"/>
          </a:solidFill>
          <a:ln w="12700">
            <a:solidFill>
              <a:srgbClr val="333333"/>
            </a:solidFill>
            <a:prstDash val="solid"/>
          </a:ln>
        </p:spPr>
      </p:sp>
      <p:sp>
        <p:nvSpPr>
          <p:cNvPr id="12" name="Text 10"/>
          <p:cNvSpPr txBox="1"/>
          <p:nvPr/>
        </p:nvSpPr>
        <p:spPr>
          <a:xfrm>
            <a:off x="457200"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Lexend SemiBold" pitchFamily="34" charset="0"/>
                <a:ea typeface="Lexend SemiBold" pitchFamily="34" charset="-122"/>
                <a:cs typeface="Lexend SemiBold" pitchFamily="34" charset="-120"/>
              </a:rPr>
              <a:t>2</a:t>
            </a:r>
            <a:endParaRPr lang="en-US" sz="900" dirty="0"/>
          </a:p>
        </p:txBody>
      </p:sp>
      <p:sp>
        <p:nvSpPr>
          <p:cNvPr id="13" name="Text 11"/>
          <p:cNvSpPr txBox="1"/>
          <p:nvPr/>
        </p:nvSpPr>
        <p:spPr>
          <a:xfrm>
            <a:off x="822960" y="2596896"/>
            <a:ext cx="7863840" cy="402336"/>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Passwords cannot be read back  </a:t>
            </a:r>
            <a:pPr indent="0" marL="0">
              <a:buNone/>
            </a:pPr>
            <a:r>
              <a:rPr lang="en-US" sz="1000" dirty="0">
                <a:solidFill>
                  <a:srgbClr val="1D1D1D"/>
                </a:solidFill>
                <a:latin typeface="Lexend" pitchFamily="34" charset="0"/>
                <a:ea typeface="Lexend" pitchFamily="34" charset="-122"/>
                <a:cs typeface="Lexend" pitchFamily="34" charset="-120"/>
              </a:rPr>
              <a:t>Stored so they cannot be turned back into your password. Not by us either.</a:t>
            </a:r>
            <a:endParaRPr lang="en-US" sz="1000" dirty="0"/>
          </a:p>
        </p:txBody>
      </p:sp>
      <p:sp>
        <p:nvSpPr>
          <p:cNvPr id="14" name="Shape 12"/>
          <p:cNvSpPr/>
          <p:nvPr/>
        </p:nvSpPr>
        <p:spPr>
          <a:xfrm>
            <a:off x="457200" y="3086100"/>
            <a:ext cx="237744" cy="237744"/>
          </a:xfrm>
          <a:prstGeom prst="ellipse">
            <a:avLst/>
          </a:prstGeom>
          <a:solidFill>
            <a:srgbClr val="51BD85"/>
          </a:solidFill>
          <a:ln w="12700">
            <a:solidFill>
              <a:srgbClr val="333333"/>
            </a:solidFill>
            <a:prstDash val="solid"/>
          </a:ln>
        </p:spPr>
      </p:sp>
      <p:sp>
        <p:nvSpPr>
          <p:cNvPr id="15" name="Text 13"/>
          <p:cNvSpPr txBox="1"/>
          <p:nvPr/>
        </p:nvSpPr>
        <p:spPr>
          <a:xfrm>
            <a:off x="457200" y="308610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Lexend SemiBold" pitchFamily="34" charset="0"/>
                <a:ea typeface="Lexend SemiBold" pitchFamily="34" charset="-122"/>
                <a:cs typeface="Lexend SemiBold" pitchFamily="34" charset="-120"/>
              </a:rPr>
              <a:t>3</a:t>
            </a:r>
            <a:endParaRPr lang="en-US" sz="900" dirty="0"/>
          </a:p>
        </p:txBody>
      </p:sp>
      <p:sp>
        <p:nvSpPr>
          <p:cNvPr id="16" name="Text 14"/>
          <p:cNvSpPr txBox="1"/>
          <p:nvPr/>
        </p:nvSpPr>
        <p:spPr>
          <a:xfrm>
            <a:off x="822960" y="3072384"/>
            <a:ext cx="7863840" cy="402336"/>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The scheduled task is locked too  </a:t>
            </a:r>
            <a:pPr indent="0" marL="0">
              <a:buNone/>
            </a:pPr>
            <a:r>
              <a:rPr lang="en-US" sz="1000" dirty="0">
                <a:solidFill>
                  <a:srgbClr val="1D1D1D"/>
                </a:solidFill>
                <a:latin typeface="Lexend" pitchFamily="34" charset="0"/>
                <a:ea typeface="Lexend" pitchFamily="34" charset="-122"/>
                <a:cs typeface="Lexend" pitchFamily="34" charset="-120"/>
              </a:rPr>
              <a:t>The part that opens and closes the survey will not answer a stranger.</a:t>
            </a:r>
            <a:endParaRPr lang="en-US" sz="1000" dirty="0"/>
          </a:p>
        </p:txBody>
      </p:sp>
      <p:sp>
        <p:nvSpPr>
          <p:cNvPr id="17" name="Shape 15"/>
          <p:cNvSpPr/>
          <p:nvPr/>
        </p:nvSpPr>
        <p:spPr>
          <a:xfrm>
            <a:off x="457200" y="3561588"/>
            <a:ext cx="237744" cy="237744"/>
          </a:xfrm>
          <a:prstGeom prst="ellipse">
            <a:avLst/>
          </a:prstGeom>
          <a:solidFill>
            <a:srgbClr val="6AD2E6"/>
          </a:solidFill>
          <a:ln w="12700">
            <a:solidFill>
              <a:srgbClr val="333333"/>
            </a:solidFill>
            <a:prstDash val="solid"/>
          </a:ln>
        </p:spPr>
      </p:sp>
      <p:sp>
        <p:nvSpPr>
          <p:cNvPr id="18" name="Text 16"/>
          <p:cNvSpPr txBox="1"/>
          <p:nvPr/>
        </p:nvSpPr>
        <p:spPr>
          <a:xfrm>
            <a:off x="457200" y="356158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Lexend SemiBold" pitchFamily="34" charset="0"/>
                <a:ea typeface="Lexend SemiBold" pitchFamily="34" charset="-122"/>
                <a:cs typeface="Lexend SemiBold" pitchFamily="34" charset="-120"/>
              </a:rPr>
              <a:t>4</a:t>
            </a:r>
            <a:endParaRPr lang="en-US" sz="900" dirty="0"/>
          </a:p>
        </p:txBody>
      </p:sp>
      <p:sp>
        <p:nvSpPr>
          <p:cNvPr id="19" name="Text 17"/>
          <p:cNvSpPr txBox="1"/>
          <p:nvPr/>
        </p:nvSpPr>
        <p:spPr>
          <a:xfrm>
            <a:off x="822960" y="3547872"/>
            <a:ext cx="7863840" cy="402336"/>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The database connection is encrypted  </a:t>
            </a:r>
            <a:pPr indent="0" marL="0">
              <a:buNone/>
            </a:pPr>
            <a:r>
              <a:rPr lang="en-US" sz="1000" dirty="0">
                <a:solidFill>
                  <a:srgbClr val="1D1D1D"/>
                </a:solidFill>
                <a:latin typeface="Lexend" pitchFamily="34" charset="0"/>
                <a:ea typeface="Lexend" pitchFamily="34" charset="-122"/>
                <a:cs typeface="Lexend" pitchFamily="34" charset="-120"/>
              </a:rPr>
              <a:t>And verified at both ends.</a:t>
            </a:r>
            <a:endParaRPr lang="en-US" sz="1000" dirty="0"/>
          </a:p>
        </p:txBody>
      </p:sp>
      <p:sp>
        <p:nvSpPr>
          <p:cNvPr id="20" name="Shape 18"/>
          <p:cNvSpPr/>
          <p:nvPr/>
        </p:nvSpPr>
        <p:spPr>
          <a:xfrm>
            <a:off x="457200" y="4037076"/>
            <a:ext cx="237744" cy="237744"/>
          </a:xfrm>
          <a:prstGeom prst="ellipse">
            <a:avLst/>
          </a:prstGeom>
          <a:solidFill>
            <a:srgbClr val="1D1D1D"/>
          </a:solidFill>
          <a:ln w="12700">
            <a:solidFill>
              <a:srgbClr val="333333"/>
            </a:solidFill>
            <a:prstDash val="solid"/>
          </a:ln>
        </p:spPr>
      </p:sp>
      <p:sp>
        <p:nvSpPr>
          <p:cNvPr id="21" name="Text 19"/>
          <p:cNvSpPr txBox="1"/>
          <p:nvPr/>
        </p:nvSpPr>
        <p:spPr>
          <a:xfrm>
            <a:off x="457200" y="40370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Lexend SemiBold" pitchFamily="34" charset="0"/>
                <a:ea typeface="Lexend SemiBold" pitchFamily="34" charset="-122"/>
                <a:cs typeface="Lexend SemiBold" pitchFamily="34" charset="-120"/>
              </a:rPr>
              <a:t>5</a:t>
            </a:r>
            <a:endParaRPr lang="en-US" sz="900" dirty="0"/>
          </a:p>
        </p:txBody>
      </p:sp>
      <p:sp>
        <p:nvSpPr>
          <p:cNvPr id="22" name="Text 20"/>
          <p:cNvSpPr txBox="1"/>
          <p:nvPr/>
        </p:nvSpPr>
        <p:spPr>
          <a:xfrm>
            <a:off x="822960" y="4023360"/>
            <a:ext cx="7863840" cy="402336"/>
          </a:xfrm>
          <a:prstGeom prst="rect">
            <a:avLst/>
          </a:prstGeom>
          <a:noFill/>
          <a:ln/>
        </p:spPr>
        <p:txBody>
          <a:bodyPr wrap="square" lIns="0" tIns="0" rIns="0" bIns="0" rtlCol="0" anchor="t"/>
          <a:lstStyle/>
          <a:p>
            <a:pPr indent="0" marL="0">
              <a:buNone/>
            </a:pPr>
            <a:r>
              <a:rPr lang="en-US" sz="1000" b="1" dirty="0">
                <a:solidFill>
                  <a:srgbClr val="1D1D1D"/>
                </a:solidFill>
                <a:latin typeface="Lexend SemiBold" pitchFamily="34" charset="0"/>
                <a:ea typeface="Lexend SemiBold" pitchFamily="34" charset="-122"/>
                <a:cs typeface="Lexend SemiBold" pitchFamily="34" charset="-120"/>
              </a:rPr>
              <a:t>Every sensitive action is recorded  </a:t>
            </a:r>
            <a:pPr indent="0" marL="0">
              <a:buNone/>
            </a:pPr>
            <a:r>
              <a:rPr lang="en-US" sz="1000" dirty="0">
                <a:solidFill>
                  <a:srgbClr val="1D1D1D"/>
                </a:solidFill>
                <a:latin typeface="Lexend" pitchFamily="34" charset="0"/>
                <a:ea typeface="Lexend" pitchFamily="34" charset="-122"/>
                <a:cs typeface="Lexend" pitchFamily="34" charset="-120"/>
              </a:rPr>
              <a:t>Including exports of contact details.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0"/>
        </a:solidFill>
      </p:bgPr>
    </p:bg>
    <p:spTree>
      <p:nvGrpSpPr>
        <p:cNvPr id="1" name=""/>
        <p:cNvGrpSpPr/>
        <p:nvPr/>
      </p:nvGrpSpPr>
      <p:grpSpPr>
        <a:xfrm>
          <a:off x="0" y="0"/>
          <a:ext cx="0" cy="0"/>
          <a:chOff x="0" y="0"/>
          <a:chExt cx="0" cy="0"/>
        </a:xfrm>
      </p:grpSpPr>
      <p:sp>
        <p:nvSpPr>
          <p:cNvPr id="2" name="Text 0"/>
          <p:cNvSpPr txBox="1"/>
          <p:nvPr/>
        </p:nvSpPr>
        <p:spPr>
          <a:xfrm>
            <a:off x="457200" y="274320"/>
            <a:ext cx="6858000" cy="182880"/>
          </a:xfrm>
          <a:prstGeom prst="rect">
            <a:avLst/>
          </a:prstGeom>
          <a:noFill/>
          <a:ln/>
        </p:spPr>
        <p:txBody>
          <a:bodyPr wrap="square" lIns="0" tIns="0" rIns="0" bIns="0" rtlCol="0" anchor="ctr"/>
          <a:lstStyle/>
          <a:p>
            <a:pPr indent="0" marL="0">
              <a:buNone/>
            </a:pPr>
            <a:r>
              <a:rPr lang="en-US" sz="850" b="1" spc="120" kern="0" dirty="0">
                <a:solidFill>
                  <a:srgbClr val="51BD85"/>
                </a:solidFill>
                <a:latin typeface="Lexend" pitchFamily="34" charset="0"/>
                <a:ea typeface="Lexend" pitchFamily="34" charset="-122"/>
                <a:cs typeface="Lexend" pitchFamily="34" charset="-120"/>
              </a:rPr>
              <a:t>BACKUP, RESTORE, AND THE WAY OUT</a:t>
            </a:r>
            <a:endParaRPr lang="en-US" sz="850" dirty="0"/>
          </a:p>
        </p:txBody>
      </p:sp>
      <p:sp>
        <p:nvSpPr>
          <p:cNvPr id="3" name="Text 1"/>
          <p:cNvSpPr txBox="1"/>
          <p:nvPr/>
        </p:nvSpPr>
        <p:spPr>
          <a:xfrm>
            <a:off x="457200" y="457200"/>
            <a:ext cx="6858000" cy="566928"/>
          </a:xfrm>
          <a:prstGeom prst="rect">
            <a:avLst/>
          </a:prstGeom>
          <a:noFill/>
          <a:ln/>
        </p:spPr>
        <p:txBody>
          <a:bodyPr wrap="square" lIns="0" tIns="0" rIns="0" bIns="0" rtlCol="0" anchor="t"/>
          <a:lstStyle/>
          <a:p>
            <a:pPr indent="0" marL="0">
              <a:buNone/>
            </a:pPr>
            <a:r>
              <a:rPr lang="en-US" sz="2500" b="1" dirty="0">
                <a:solidFill>
                  <a:srgbClr val="1D1D1D"/>
                </a:solidFill>
                <a:latin typeface="Lexend SemiBold" pitchFamily="34" charset="0"/>
                <a:ea typeface="Lexend SemiBold" pitchFamily="34" charset="-122"/>
                <a:cs typeface="Lexend SemiBold" pitchFamily="34" charset="-120"/>
              </a:rPr>
              <a:t>If something goes badly wrong</a:t>
            </a:r>
            <a:endParaRPr lang="en-US" sz="2500" dirty="0"/>
          </a:p>
        </p:txBody>
      </p:sp>
      <p:sp>
        <p:nvSpPr>
          <p:cNvPr id="4" name="Text 2"/>
          <p:cNvSpPr txBox="1"/>
          <p:nvPr/>
        </p:nvSpPr>
        <p:spPr>
          <a:xfrm>
            <a:off x="7452360" y="283464"/>
            <a:ext cx="1234440" cy="219456"/>
          </a:xfrm>
          <a:prstGeom prst="rect">
            <a:avLst/>
          </a:prstGeom>
          <a:noFill/>
          <a:ln/>
        </p:spPr>
        <p:txBody>
          <a:bodyPr wrap="square" lIns="0" tIns="0" rIns="0" bIns="0" rtlCol="0" anchor="ctr"/>
          <a:lstStyle/>
          <a:p>
            <a:pPr algn="r" indent="0" marL="0">
              <a:buNone/>
            </a:pPr>
            <a:r>
              <a:rPr lang="en-US" sz="850" dirty="0">
                <a:solidFill>
                  <a:srgbClr val="76766B"/>
                </a:solidFill>
                <a:latin typeface="Lexend" pitchFamily="34" charset="0"/>
                <a:ea typeface="Lexend" pitchFamily="34" charset="-122"/>
                <a:cs typeface="Lexend" pitchFamily="34" charset="-120"/>
              </a:rPr>
              <a:t>Yifan</a:t>
            </a:r>
            <a:endParaRPr lang="en-US" sz="850" dirty="0"/>
          </a:p>
        </p:txBody>
      </p:sp>
      <p:sp>
        <p:nvSpPr>
          <p:cNvPr id="5" name="Shape 3"/>
          <p:cNvSpPr/>
          <p:nvPr/>
        </p:nvSpPr>
        <p:spPr>
          <a:xfrm>
            <a:off x="457200" y="1143000"/>
            <a:ext cx="4000500" cy="1325880"/>
          </a:xfrm>
          <a:prstGeom prst="roundRect">
            <a:avLst>
              <a:gd name="adj" fmla="val 4138"/>
            </a:avLst>
          </a:prstGeom>
          <a:solidFill>
            <a:srgbClr val="FFFFFF"/>
          </a:solidFill>
          <a:ln w="9525">
            <a:solidFill>
              <a:srgbClr val="DBC89F"/>
            </a:solidFill>
            <a:prstDash val="solid"/>
          </a:ln>
        </p:spPr>
      </p:sp>
      <p:sp>
        <p:nvSpPr>
          <p:cNvPr id="6" name="Text 4"/>
          <p:cNvSpPr txBox="1"/>
          <p:nvPr/>
        </p:nvSpPr>
        <p:spPr>
          <a:xfrm>
            <a:off x="640080" y="1243584"/>
            <a:ext cx="3634740" cy="237744"/>
          </a:xfrm>
          <a:prstGeom prst="rect">
            <a:avLst/>
          </a:prstGeom>
          <a:noFill/>
          <a:ln/>
        </p:spPr>
        <p:txBody>
          <a:bodyPr wrap="square" lIns="0" tIns="0" rIns="0" bIns="0" rtlCol="0" anchor="ctr"/>
          <a:lstStyle/>
          <a:p>
            <a:pPr indent="0" marL="0">
              <a:buNone/>
            </a:pPr>
            <a:r>
              <a:rPr lang="en-US" sz="1200" b="1" dirty="0">
                <a:solidFill>
                  <a:srgbClr val="FF6652"/>
                </a:solidFill>
                <a:latin typeface="Lexend SemiBold" pitchFamily="34" charset="0"/>
                <a:ea typeface="Lexend SemiBold" pitchFamily="34" charset="-122"/>
                <a:cs typeface="Lexend SemiBold" pitchFamily="34" charset="-120"/>
              </a:rPr>
              <a:t>Restore</a:t>
            </a:r>
            <a:endParaRPr lang="en-US" sz="1200" dirty="0"/>
          </a:p>
        </p:txBody>
      </p:sp>
      <p:sp>
        <p:nvSpPr>
          <p:cNvPr id="7" name="Text 5"/>
          <p:cNvSpPr txBox="1"/>
          <p:nvPr/>
        </p:nvSpPr>
        <p:spPr>
          <a:xfrm>
            <a:off x="640080" y="1517904"/>
            <a:ext cx="3634740" cy="868680"/>
          </a:xfrm>
          <a:prstGeom prst="rect">
            <a:avLst/>
          </a:prstGeom>
          <a:noFill/>
          <a:ln/>
        </p:spPr>
        <p:txBody>
          <a:bodyPr wrap="square" lIns="0" tIns="0" rIns="0" bIns="0" rtlCol="0" anchor="t"/>
          <a:lstStyle/>
          <a:p>
            <a:pPr marL="152400" indent="-152400">
              <a:spcAft>
                <a:spcPts val="600"/>
              </a:spcAft>
              <a:buSzPct val="100000"/>
              <a:buChar char="•"/>
            </a:pPr>
            <a:r>
              <a:rPr lang="en-US" sz="900" dirty="0">
                <a:solidFill>
                  <a:srgbClr val="1D1D1D"/>
                </a:solidFill>
                <a:latin typeface="Lexend" pitchFamily="34" charset="0"/>
                <a:ea typeface="Lexend" pitchFamily="34" charset="-122"/>
                <a:cs typeface="Lexend" pitchFamily="34" charset="-120"/>
              </a:rPr>
              <a:t>The whole database can be copied back to how it looked at a chosen moment, without touching the live site</a:t>
            </a:r>
            <a:endParaRPr lang="en-US" sz="900" dirty="0"/>
          </a:p>
          <a:p>
            <a:pPr marL="152400" indent="-152400">
              <a:spcAft>
                <a:spcPts val="600"/>
              </a:spcAft>
              <a:buSzPct val="100000"/>
              <a:buChar char="•"/>
            </a:pPr>
            <a:r>
              <a:rPr lang="en-US" sz="900" dirty="0">
                <a:solidFill>
                  <a:srgbClr val="1D1D1D"/>
                </a:solidFill>
                <a:latin typeface="Lexend" pitchFamily="34" charset="0"/>
                <a:ea typeface="Lexend" pitchFamily="34" charset="-122"/>
                <a:cs typeface="Lexend" pitchFamily="34" charset="-120"/>
              </a:rPr>
              <a:t>Full copies are kept away from the database provider</a:t>
            </a:r>
            <a:endParaRPr lang="en-US" sz="900" dirty="0"/>
          </a:p>
        </p:txBody>
      </p:sp>
      <p:sp>
        <p:nvSpPr>
          <p:cNvPr id="8" name="Shape 6"/>
          <p:cNvSpPr/>
          <p:nvPr/>
        </p:nvSpPr>
        <p:spPr>
          <a:xfrm>
            <a:off x="4686300" y="1143000"/>
            <a:ext cx="4000500" cy="1325880"/>
          </a:xfrm>
          <a:prstGeom prst="roundRect">
            <a:avLst>
              <a:gd name="adj" fmla="val 4138"/>
            </a:avLst>
          </a:prstGeom>
          <a:solidFill>
            <a:srgbClr val="D8E4D6"/>
          </a:solidFill>
          <a:ln w="9525">
            <a:solidFill>
              <a:srgbClr val="DBC89F"/>
            </a:solidFill>
            <a:prstDash val="solid"/>
          </a:ln>
        </p:spPr>
      </p:sp>
      <p:sp>
        <p:nvSpPr>
          <p:cNvPr id="9" name="Text 7"/>
          <p:cNvSpPr txBox="1"/>
          <p:nvPr/>
        </p:nvSpPr>
        <p:spPr>
          <a:xfrm>
            <a:off x="4869180" y="1243584"/>
            <a:ext cx="3634740" cy="237744"/>
          </a:xfrm>
          <a:prstGeom prst="rect">
            <a:avLst/>
          </a:prstGeom>
          <a:noFill/>
          <a:ln/>
        </p:spPr>
        <p:txBody>
          <a:bodyPr wrap="square" lIns="0" tIns="0" rIns="0" bIns="0" rtlCol="0" anchor="ctr"/>
          <a:lstStyle/>
          <a:p>
            <a:pPr indent="0" marL="0">
              <a:buNone/>
            </a:pPr>
            <a:r>
              <a:rPr lang="en-US" sz="1200" b="1" dirty="0">
                <a:solidFill>
                  <a:srgbClr val="51BD85"/>
                </a:solidFill>
                <a:latin typeface="Lexend SemiBold" pitchFamily="34" charset="0"/>
                <a:ea typeface="Lexend SemiBold" pitchFamily="34" charset="-122"/>
                <a:cs typeface="Lexend SemiBold" pitchFamily="34" charset="-120"/>
              </a:rPr>
              <a:t>The way out — four documented routes</a:t>
            </a:r>
            <a:endParaRPr lang="en-US" sz="1200" dirty="0"/>
          </a:p>
        </p:txBody>
      </p:sp>
      <p:sp>
        <p:nvSpPr>
          <p:cNvPr id="10" name="Text 8"/>
          <p:cNvSpPr txBox="1"/>
          <p:nvPr/>
        </p:nvSpPr>
        <p:spPr>
          <a:xfrm>
            <a:off x="4869180" y="1517904"/>
            <a:ext cx="3634740" cy="868680"/>
          </a:xfrm>
          <a:prstGeom prst="rect">
            <a:avLst/>
          </a:prstGeom>
          <a:noFill/>
          <a:ln/>
        </p:spPr>
        <p:txBody>
          <a:bodyPr wrap="square" lIns="0" tIns="0" rIns="0" bIns="0" rtlCol="0" anchor="t"/>
          <a:lstStyle/>
          <a:p>
            <a:pPr marL="152400" indent="-152400">
              <a:spcAft>
                <a:spcPts val="600"/>
              </a:spcAft>
              <a:buSzPct val="100000"/>
              <a:buChar char="•"/>
            </a:pPr>
            <a:r>
              <a:rPr lang="en-US" sz="900" dirty="0">
                <a:solidFill>
                  <a:srgbClr val="1D1D1D"/>
                </a:solidFill>
                <a:latin typeface="Lexend" pitchFamily="34" charset="0"/>
                <a:ea typeface="Lexend" pitchFamily="34" charset="-122"/>
                <a:cs typeface="Lexend" pitchFamily="34" charset="-120"/>
              </a:rPr>
              <a:t>Move the database to a different provider</a:t>
            </a:r>
            <a:endParaRPr lang="en-US" sz="900" dirty="0"/>
          </a:p>
          <a:p>
            <a:pPr marL="152400" indent="-152400">
              <a:spcAft>
                <a:spcPts val="600"/>
              </a:spcAft>
              <a:buSzPct val="100000"/>
              <a:buChar char="•"/>
            </a:pPr>
            <a:r>
              <a:rPr lang="en-US" sz="900" dirty="0">
                <a:solidFill>
                  <a:srgbClr val="1D1D1D"/>
                </a:solidFill>
                <a:latin typeface="Lexend" pitchFamily="34" charset="0"/>
                <a:ea typeface="Lexend" pitchFamily="34" charset="-122"/>
                <a:cs typeface="Lexend" pitchFamily="34" charset="-120"/>
              </a:rPr>
              <a:t>Move the website to a different host</a:t>
            </a:r>
            <a:endParaRPr lang="en-US" sz="900" dirty="0"/>
          </a:p>
          <a:p>
            <a:pPr marL="152400" indent="-152400">
              <a:spcAft>
                <a:spcPts val="600"/>
              </a:spcAft>
              <a:buSzPct val="100000"/>
              <a:buChar char="•"/>
            </a:pPr>
            <a:r>
              <a:rPr lang="en-US" sz="900" dirty="0">
                <a:solidFill>
                  <a:srgbClr val="1D1D1D"/>
                </a:solidFill>
                <a:latin typeface="Lexend" pitchFamily="34" charset="0"/>
                <a:ea typeface="Lexend" pitchFamily="34" charset="-122"/>
                <a:cs typeface="Lexend" pitchFamily="34" charset="-120"/>
              </a:rPr>
              <a:t>Move the email to a different provider</a:t>
            </a:r>
            <a:endParaRPr lang="en-US" sz="900" dirty="0"/>
          </a:p>
          <a:p>
            <a:pPr marL="152400" indent="-152400">
              <a:spcAft>
                <a:spcPts val="600"/>
              </a:spcAft>
              <a:buSzPct val="100000"/>
              <a:buChar char="•"/>
            </a:pPr>
            <a:r>
              <a:rPr lang="en-US" sz="900" dirty="0">
                <a:solidFill>
                  <a:srgbClr val="1D1D1D"/>
                </a:solidFill>
                <a:latin typeface="Lexend" pitchFamily="34" charset="0"/>
                <a:ea typeface="Lexend" pitchFamily="34" charset="-122"/>
                <a:cs typeface="Lexend" pitchFamily="34" charset="-120"/>
              </a:rPr>
              <a:t>Move all of it onto a university server</a:t>
            </a:r>
            <a:endParaRPr lang="en-US" sz="900" dirty="0"/>
          </a:p>
        </p:txBody>
      </p:sp>
      <p:sp>
        <p:nvSpPr>
          <p:cNvPr id="11" name="Shape 9"/>
          <p:cNvSpPr/>
          <p:nvPr/>
        </p:nvSpPr>
        <p:spPr>
          <a:xfrm>
            <a:off x="457200" y="2615184"/>
            <a:ext cx="8229600" cy="566928"/>
          </a:xfrm>
          <a:prstGeom prst="roundRect">
            <a:avLst>
              <a:gd name="adj" fmla="val 9677"/>
            </a:avLst>
          </a:prstGeom>
          <a:solidFill>
            <a:srgbClr val="D8E4D6"/>
          </a:solidFill>
          <a:ln w="9525">
            <a:solidFill>
              <a:srgbClr val="DBC89F"/>
            </a:solidFill>
            <a:prstDash val="solid"/>
          </a:ln>
        </p:spPr>
      </p:sp>
      <p:sp>
        <p:nvSpPr>
          <p:cNvPr id="12" name="Text 10"/>
          <p:cNvSpPr txBox="1"/>
          <p:nvPr/>
        </p:nvSpPr>
        <p:spPr>
          <a:xfrm>
            <a:off x="640080" y="2651760"/>
            <a:ext cx="7863840" cy="493776"/>
          </a:xfrm>
          <a:prstGeom prst="rect">
            <a:avLst/>
          </a:prstGeom>
          <a:noFill/>
          <a:ln/>
        </p:spPr>
        <p:txBody>
          <a:bodyPr wrap="square" lIns="0" tIns="0" rIns="0" bIns="0" rtlCol="0" anchor="ctr"/>
          <a:lstStyle/>
          <a:p>
            <a:pPr indent="0" marL="0">
              <a:buNone/>
            </a:pPr>
            <a:r>
              <a:rPr lang="en-US" sz="1150" b="1" dirty="0">
                <a:solidFill>
                  <a:srgbClr val="51BD85"/>
                </a:solidFill>
                <a:latin typeface="Lexend SemiBold" pitchFamily="34" charset="0"/>
                <a:ea typeface="Lexend SemiBold" pitchFamily="34" charset="-122"/>
                <a:cs typeface="Lexend SemiBold" pitchFamily="34" charset="-120"/>
              </a:rPr>
              <a:t>A backup stored with the thing you are backing up is not a backup.</a:t>
            </a:r>
            <a:endParaRPr lang="en-US" sz="1150" dirty="0"/>
          </a:p>
        </p:txBody>
      </p:sp>
      <p:sp>
        <p:nvSpPr>
          <p:cNvPr id="13" name="Shape 11"/>
          <p:cNvSpPr/>
          <p:nvPr/>
        </p:nvSpPr>
        <p:spPr>
          <a:xfrm>
            <a:off x="457200" y="3310128"/>
            <a:ext cx="8229600" cy="914400"/>
          </a:xfrm>
          <a:prstGeom prst="roundRect">
            <a:avLst>
              <a:gd name="adj" fmla="val 6000"/>
            </a:avLst>
          </a:prstGeom>
          <a:solidFill>
            <a:srgbClr val="FFFFFF"/>
          </a:solidFill>
          <a:ln w="9525">
            <a:solidFill>
              <a:srgbClr val="DBC89F"/>
            </a:solidFill>
            <a:prstDash val="solid"/>
          </a:ln>
        </p:spPr>
      </p:sp>
      <p:sp>
        <p:nvSpPr>
          <p:cNvPr id="14" name="Text 12"/>
          <p:cNvSpPr txBox="1"/>
          <p:nvPr/>
        </p:nvSpPr>
        <p:spPr>
          <a:xfrm>
            <a:off x="658368" y="3383280"/>
            <a:ext cx="7827264" cy="420624"/>
          </a:xfrm>
          <a:prstGeom prst="rect">
            <a:avLst/>
          </a:prstGeom>
          <a:noFill/>
          <a:ln/>
        </p:spPr>
        <p:txBody>
          <a:bodyPr wrap="square" lIns="0" tIns="0" rIns="0" bIns="0" rtlCol="0" anchor="t"/>
          <a:lstStyle/>
          <a:p>
            <a:pPr indent="0" marL="0">
              <a:buNone/>
            </a:pPr>
            <a:r>
              <a:rPr lang="en-US" sz="1200" b="1" dirty="0">
                <a:solidFill>
                  <a:srgbClr val="1D1D1D"/>
                </a:solidFill>
                <a:latin typeface="Lexend SemiBold" pitchFamily="34" charset="0"/>
                <a:ea typeface="Lexend SemiBold" pitchFamily="34" charset="-122"/>
                <a:cs typeface="Lexend SemiBold" pitchFamily="34" charset="-120"/>
              </a:rPr>
              <a:t>The Committee is not locked in to any company — and the instructions do not depend on us being reachable.</a:t>
            </a:r>
            <a:endParaRPr lang="en-US" sz="1200" dirty="0"/>
          </a:p>
        </p:txBody>
      </p:sp>
      <p:sp>
        <p:nvSpPr>
          <p:cNvPr id="15" name="Text 13"/>
          <p:cNvSpPr txBox="1"/>
          <p:nvPr/>
        </p:nvSpPr>
        <p:spPr>
          <a:xfrm>
            <a:off x="658368" y="3803904"/>
            <a:ext cx="7827264" cy="347472"/>
          </a:xfrm>
          <a:prstGeom prst="rect">
            <a:avLst/>
          </a:prstGeom>
          <a:noFill/>
          <a:ln/>
        </p:spPr>
        <p:txBody>
          <a:bodyPr wrap="square" lIns="0" tIns="0" rIns="0" bIns="0" rtlCol="0" anchor="t"/>
          <a:lstStyle/>
          <a:p>
            <a:pPr indent="0" marL="0">
              <a:buNone/>
            </a:pPr>
            <a:r>
              <a:rPr lang="en-US" sz="950" dirty="0">
                <a:solidFill>
                  <a:srgbClr val="1D1D1D"/>
                </a:solidFill>
                <a:latin typeface="Lexend" pitchFamily="34" charset="0"/>
                <a:ea typeface="Lexend" pitchFamily="34" charset="-122"/>
                <a:cs typeface="Lexend" pitchFamily="34" charset="-120"/>
              </a:rPr>
              <a:t>If both of us disappeared tomorrow, someone competent could read that document and keep this service running.</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CEAL Statistics Database — Parts 1 &amp; 2</dc:title>
  <dc:subject>PptxGenJS Presentation</dc:subject>
  <dc:creator>CEAL Statistics Committee</dc:creator>
  <cp:lastModifiedBy>CEAL Statistics Committee</cp:lastModifiedBy>
  <cp:revision>1</cp:revision>
  <dcterms:created xsi:type="dcterms:W3CDTF">2026-09-11T18:50:58Z</dcterms:created>
  <dcterms:modified xsi:type="dcterms:W3CDTF">2026-09-11T18:50:58Z</dcterms:modified>
</cp:coreProperties>
</file>