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MENG — ~30 seconds. No technical content here.
Good afternoon, everyone. Thank you for making time for this.
I am Meng Qu, Web Service Librarian at Miami University. With me are Yifan Huang, who built the back end of this system, and Anlin Yang, the Chair of the CEAL Statistics Committee.
Here is how the next forty-five minutes will go. I will start with why we rebuilt the statistics database, and what changed. Yifan will then explain how we moved twenty-five years of data without losing any of it. Anlin will finish by showing you how to actually use the new site, and what the Committee needs from your library this fall.
We will take questions at the end. If something is unclear along the way, please put it in the chat and we will pick it up.
导演提示: 30 秒之内说完,说完直接切下一页。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MENG — ~1.5 min
First, a sentence about what this system is, because not everyone in this room uses it the same way.
The CEAL Statistics Database is where about fifty libraries in North America report their East Asian collections every year. Those numbers become the annual report in the Journal of East Asian Libraries. They also become the benchmark you use when you need to make a case to your dean.
The record goes back a long way. Some of the digitised reports contain data from eighteen sixty-nine. The online database itself opened in nineteen ninety-nine.
So this is not a new project. It is a twenty-five year old service that needed a new home.
导演提示: 最后那句是整场的定调,说慢一点。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MENG — ~1.5 min
Let me start with the old site, and let me start by being fair to it.
That site did its job for two decades. Every number was in there. Every form was in there. It never lost anyone's data. Whoever built it deserves credit, and some of them may be on this call.
[可删] But it was built for a desktop computer in the early two thousands. If you opened it on your phone, you had to pinch and scroll sideways to read a table. The page had a fixed width, so on a large monitor most of your screen was empty. The colours were hard on the eyes.
And there was a bigger problem, one you would only notice if you were on the Committee. Almost nothing could be changed without a developer. Opening the survey, sending the announcement, adding a new library — all of it meant emailing someone technical and waiting.
That is the situation we were asked to fix.
导演提示: 必须先夸旧站再说问题,语气是"它老了",不是"它很差"。
需要两张截图:旧站首页 + 旧站 390px 宽的样子。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MENG — ~1 min
So we wrote ourselves a brief, and it fits on one line. Keep every function. Replace the experience.
Four parts to that.
First, match the old site feature for feature. Nothing gets dropped because it was inconvenient to rebuild.
Second, once we had parity, give the Committee the controls. If the Chair wants to open the survey a week late, that should be a button, not an email to me.
[可删] Third, make it work on whatever screen you happen to have. And make it render Chinese, Japanese and Korean properly, which the old site did not always do.
Fourth, and this is the one I care most about: write everything down. Not just code comments. Real documentation, so that when Yifan and I are no longer the people doing this, the next person can pick it up.
导演提示: 第四条是委员会最在意的,说完停半秒。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MENG — ~1.5 min
The old site had four kinds of visitor, and so does the new one.
A guest is anyone who has not signed in. Guests can see the statistics, the charts and the published reports. That is deliberate. Most of this data is meant to be public.
A member is your library's delegate. You submit your own library's forms, and you can pull your own multi-year reports.
[可删] An editor maintains the shared lists of electronic databases that everyone selects from, and can see across libraries.
A super administrator is the Committee. They manage people, set the dates, send the announcements, and they are the only ones who can change data after the deadline.
One thing worth saying about that table. On the old site, a lot of permission was really just a hidden menu item. If you knew the address, you could sometimes get further than you should. On the new site every one of those checks happens in the database, every time. Hiding a button is not security, and we did not treat it as security.
导演提示: 最后一段是重点,但不要提中间件、cookie、token 这些词。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MENG — ~2 min ⭐ THE MOST IMPORTANT SLIDE. This is the thank-you to Anlin.
I want to spend a minute on something that is not code.
When you rebuild a survey like this, the hard part is not the software. The hard part is understanding what every single field on the form actually means. What counts as a volume. What belongs in one column and not another. Why two questions that look similar are counted differently.
None of that is written in the old database. It lives in the practice of this community. And the person who translated it for us was Anlin.
Over the past two and a half years, Anlin has explained fields to us question by question. She put us in touch with the right person at each library when we needed to check something. She coordinated the deadlines. She checked our migrated numbers against the historical record. And when we were stuck on a decision that was not ours to make, she made it, usually within a day.
That is roughly N separate email threads across M months.
So I want to say this plainly, and in front of all of you. This system is accurate because the Committee kept us accurate. Anlin, thank you.
导演提示: 两层意思 — (1) 真诚感谢她; (2) 向委员会证明每个字段定义都跟委员会确认过。
因为 Anlin 排在最后讲,这页还能提前把她捧起来。说完看一眼镜头里的她再切页。
需要你补:去邮箱数 thread 数和月数,填进 N 和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MENG — ~1 min
If you used the site last fall, you already noticed some of this.
Signing in now happens in two steps. You type your email address first, and the site checks you before asking for anything else. If you have never set a password, it tells you that instead of just saying "wrong password" — which is what the old site did, and which sent a lot of email to Anlin.
When you need a password, we email you a one-time link that works for twenty-four hours. We do not put passwords in email any more. Ever.
You can change your own password from inside the site. You do not have to ask anyone.
And if you cover more than one library, which a few of you do, you can now switch between them without signing out and back in.
导演提示: ⚠️ 不要说"15 分钟"。系统实际是 24 小时。那条 15 分钟的路径是死代码,没有任何地方在调用。
听众关心的是"不再明文发密码",不是几小时。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MENG — ~2 min
Now the part I am most pleased about, and the part that matters most to the Committee.
On the old site, running the survey meant asking a developer. Opening the forms was a developer task. Sending the announcement was a developer task. Changing a date was a developer task.
All of that is now a page on the site.
The Chair sets the opening and closing dates herself. Opening a new survey year creates the records for all fifty libraries in one action. If a date needs to slip, there is a button for that. The announcement email can be previewed, then sent now or scheduled for later. And the wording of every automatic message can be edited right in the browser — no developer, no waiting.
I want to point out the last item on that list, because it came directly out of last year's collection. A library joined partway through the season. The announcement had already gone out weeks earlier, so their delegate never got it. Under the old system, the fix was to email me.
Now the Chair opens the user list, finds that one person, and clicks a button that sends them their own copy of the announcement. That is it.
导演提示: 最后那个例子是真事,讲具体故事比列功能有效。
反复回到一句话:"以前这些都得找开发者,现在委员会自己就能做。"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MENG — ~1.5 min
[可删] The second half of the toolkit is about people, data and publication.
The Chair can search the whole user list, move someone to a different library, change what they are allowed to do, and export the roster.
Adding a new member library used to mean someone editing the database directly. It is now a guided six-step form.
Then there is the part I would point to if you asked me what makes this system trustworthy. Every change to every number is recorded. Who made it. When. And what the value was before they changed it. If a number in the published report is ever questioned, we can show you exactly where it came from and who touched it.
The Committee can see who has submitted and who has not, for any year. Year-end reports export as Excel, Word or PDF — one library, or all of them in a single download. When the report is published in the journal, the Chair uploads the PDF and the public page updates immediately.
And there are rankings going back to nineteen seventy, for any measure you like.
导演提示: 审计记录那段是核心,讲慢一点。对委员会来说这是"数据可信"的保证。
可以随口带一句:系统拒绝删除最后一个超级管理员。听众会笑。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MENG — ~1 min
A word on how it looks, and then I will get to the numbers.
There is one layout, and it adapts to whatever screen you are on. Let me just show you rather than describe it.
[DRAG THE BROWSER WINDOW NARROW, THEN WIDE]
That is the same page. Nothing is hidden from you on a phone.
The second point matters more than it sounds. Chinese, Japanese and Korean titles now render in proper typefaces for each language. On the old site they sometimes came out as empty boxes, or in a font that was technically Chinese but wrong for a Japanese title. For a database about East Asian collections, that was not acceptable.
And there are two full guides built into the site itself. One for member libraries, one for the Committee. Both are in English and Chinese, both are searchable, and both print cleanly if you want them on paper. If you take one thing away from my part today, make it this address: cealstats.org slash help.
导演提示: 拖窗口这个演示效果最好,提前把浏览器准备好。
⚠️ 不要提暗色模式 — 配置开了但没做完。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MENG — ~1 min
One slide on what it runs on. I will keep this short, because the names do not matter much to you.
Everything you see is built on current, mainstream, well-supported software. The data lives in a standard database that any developer would recognise, and that can be copied out in one command. The site and the database are hosted by two companies, and the email goes through a third.
The line that matters is the last one. All three of those companies are replaceable, and the step-by-step instructions for replacing each of them are written down in our documentation. There are four of them: move the database, move the website, move the email, or move the whole thing onto a university server.
I mention that because it is the question a committee should ask. You are not locked in to anybody. Including us.
导演提示: 不要念表格。挑两句说,重点全在最后那句。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MENG — ~2 min ⭐ The core evidence slide. Go slowly; let them read the numbers.
Now the part I was asked to be specific about.
We started in March of twenty twenty-four. That is twenty-nine months ago.
Let me explain one word on this slide first. A commit is one recorded batch of work — you finish something, you write down what you did, and it goes into the record. Think of it as one entry in a very detailed lab notebook.
There are eight hundred and eighty-six of those. That is roughly thirty a month, every month, for twenty-nine months.
[可删] A hundred and fifty-four separate change sets were reviewed before they went anywhere near the live site. Around a hundred thousand lines of code written by hand. Seventy-two pages. Forty-one tables in the database.
And three thousand seven hundred lines of documentation, in English and Chinese.
Two of us. Alongside our regular jobs.
I am not showing you this to complain. I am showing you this because when a committee approves a rebuild, it is very hard to see what it costs. This is what it cost.
导演提示: 可口头补 — 886 次里我提交 693 次,奕帆 111 次。
⚠️ 若被问"总共改了多少行":照实说没有可靠数字。宁可说没有,也不要报虚的。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MENG — ~0.5 min. Move fast; this slide exists only to set up the next one.
Very quickly, the shape of the work.
[可删] The first five stages were building. Foundations, then accounts, then the data, then the shared lists, then the ten forms themselves.
Stage six was getting ready to go live, last September.
And then look at stage seven. Two hundred and eighteen units of work, between October and December of last year. That is more than any other stage in the project.
That is not building. That is the collection season, running live, with your data in it. I want to spend a moment on that.
导演提示: 快速带过,唯一目的是引出第 7 阶段的 218。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MENG — ~1.5 min ⭐ The emotional high point. Worth an extra 30 seconds.
A third of this entire project happened in two months. September and October of last year.
That is what it looks like to support a survey while it is actually running, with real libraries entering real numbers.
Some of what we did in those weeks. We set up the automatic opening and closing of the forms, and then tuned it while it was live. We found and corrected the arithmetic on several forms, by checking it against the actual paper questionnaire. We repaired the handling of Chinese, Japanese and Korean text in the exports.
And we added a feature we had never planned. Several of you asked whether you could see your own library's last five years while filling in a form, so you had something to compare against. That was a fair request. We added it to all ten forms, in the middle of the season.
One more, and then I will hand over.
In mid-October we attempted a major upgrade to the software underneath the site. Within an hour we could see it created a risk to the live season. So we undid it, completely, and left it alone. We came back and did that upgrade ten months later, in the summer, when nobody's data was on the line.
I mention it because I think knowing when not to touch something is part of the job. Your collection season is not the time to be clever.
导演提示: 回滚的故事一定要讲 — 不是失败,是判断力。管理者会记住"这两个人知道什么时候不该动"。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MENG — ~0.75 min
Last slide from me.
The twenty twenty-five collection finished successfully. Every library that submitted, submitted through this system.
For this year, Yifan and I are still here, and still watching. If you find something broken during the season, tell us. Our aim is to fix it that week, not to put it on a list for next year.
And for the longer term: the documentation is kept up to date, in both languages, and there is a written handover checklist. It lists every account that would need to transfer to a new maintainer. That is deliberate. A volunteer committee should not depend on any one person indefinitely, including me.
Now — I have talked about what you can see. Yifan is going to tell you about what sits underneath. How twenty-five years of data got moved without losing any of it, and how it is kept safe. Yifan.
导演提示: 应该在 0:19 左右。如果已过 0:21,提醒奕帆压到 10 分钟。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YIFAN — ~1.5 min
Thank you, Meng. Good afternoon.
My part is about what happened to your data.
When people hear "we moved the database," they picture copying files. It is not that. The old system and the new system store numbers differently. They disagree about what an empty field means. They disagree about how text in Chinese, Japanese and Korean is encoded. They even number their own records differently.
So every single value had to be carried across, and then checked.
And we could not take the site down to do it. The historical record had to stay available the whole time.
导演提示: 开场别急。"人们以为搬数据库就是复制文件,其实不是"是给非技术听众的入口。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YIFAN — ~2 min
Three things went wrong. I want to walk through them, because how a team handles the things that go wrong tells you more than a feature list.
The first we called the counter problem. A database keeps its own internal count of how many records it has, so it knows what number to give the next one. When we loaded the old data in, that counter did not come with it. So the database thought it was empty, and the first new record anyone created collided with a record that was already there.
[可删] We could have fixed that by hand, once. Instead we wrote a small tool that resets every counter in every table, and we made it run automatically whenever data is loaded. It has not come back.
The second was old passwords. Some accounts still had credentials from the old system, stored using a method that is no longer considered safe. We had a choice. We could accept the old method, which would have meant carrying a known weakness forever. Or we could refuse it.
We refused it. If your account still had an old credential, the site recognises that and emails you a link to set a new one. It was slightly inconvenient for a few people last year. It was the right call.
The third was broken characters. Some East Asian titles came through the migration damaged. We fixed that both where titles are displayed and where they are exported, and then checked them against the original records.
导演提示: 不要说 sequence、serial、primary key。密码那段重点是"我们选择了不妥协"。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YIFAN — ~2 min
Now the design idea at the centre of the new database. There is only one, and if you follow this slide you will understand how the whole system behaves.
For each library, for each year, there is exactly one record. We call it a library-year. Everything else hangs off it. All ten of your forms attach to your library and that specific year.
Here is why that matters to you.
On that library-year record there is a single switch: can this library edit this year, yes or no. That switch is what the opening and closing dates actually control.
Because the switch is per library and per year, and not one global setting, the Committee can reopen the forms for one library that needs a few more days, without reopening them for everybody. On the old system that was awkward. Now it is one library, one year, one switch.
[可删] One more detail. We create these records in advance, empty, for every library. So a library that reports nothing in a given year still has a place in the record, rather than simply being missing.
导演提示: 讲的时候用手在屏幕上指那个图。"可以只为一家图书馆重开表单"是委员会最有感的。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YIFAN — ~1 min
A short one, but it is a decision worth explaining.
Every measure in this database is broken out the same way: Chinese, Japanese, Korean, non-CJK, and a subtotal. That pattern repeats for every question on the form. One of our forms has about a hundred and ten columns because of it.
A database designer would tell you that is untidy, and they would be right. There is a more elegant way to store this.
We chose not to. Because the moment you collapse those columns, the numbers in the database stop lining up with the numbers on the questionnaire. And then when the Committee needs to check a figure, nobody can tell which question produced it.
So we kept it wide. Every number traces back to one specific question. That was worth more to us than elegance.
导演提示: 这是"诚实的取舍"页。主动承认"设计师会说这不优雅,他说得对",反而更可信。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YIFAN — ~1 min
Here is a small thing that saves a lot of trouble.
Take an e-journal package that thirty of your libraries subscribe to. On the old system, that package was written down thirty separate times — once in each library's record. If the publisher changed its name, someone had to find and fix thirty entries. In practice, they did not all get fixed, so the same package appeared under three different spellings.
Now the package is described once, in a shared list. Each library records its own counts, and whether it had access that year, separately. Correct the title once and every library's record is corrected with it.
导演提示: 用具体例子讲,不要讲结构。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YIFAN — ~1.5 min
Four promises about your data.
First, your draft is safe. When you press Save Draft, we update the same record rather than creating a second one. You can leave it for three days and come back to exactly what you left.
Second, whether you have submitted is recorded separately from the numbers themselves, for each form and each year. So the system always knows the difference between "she has not started" and "she started and saved nothing".
Third, and this one came from the Committee. If a form comes in as all zeros, the system does not treat that as a real report of zero. It reads it as a library that did not participate that year. That distinction matters for the published statistics, and it is a rule the Committee gave us — not one we invented.
Fourth, every change is written down. Who made it, when, and what the number was before. If a change is made after the deadline, it is marked as such, field by field.
导演提示: 第三条一定要说"这是委员会给我们的规则,不是我们自己定的"。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YIFAN — ~1 min
This was one of the most popular additions last year, and it is a simple idea. You should never have to type in something the system already knows.
If your library's database subscriptions are mostly the same as last year, there is one action that brings last year's forward into this year. It then tells you exactly what it copied and what it skipped.
And it will not overwrite. If this year already has records, it stops and shows you the conflict rather than quietly replacing your work. We were careful about that one.
[可删] There are also eight import buttons across the forms, which pull figures the system already holds into the form you are filling in. And one button that fills the electronic form from all three shared lists at once.
导演提示: "拒绝覆盖"这条要强调 — 去年有人担心一键复制会盖掉已填数据。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YIFAN — ~1.5 min
A minute on security, in plain terms.
The important idea is two locks, not one. When you sign in, the site checks who you are — that is the front door. But then, every time you try to do something sensitive, the site asks the database again: who is this person, and are they allowed to do this?
That sounds redundant. It is not. It means that editing something in your own browser to pretend you are an administrator does not work. The front door is not the only thing standing between someone and your data.
Passwords are stored using the method currently recommended for this, and stored in a form that cannot be turned back into the original password. Not by us either. If you forget your password, we genuinely cannot look it up — we can only send you a link to set a new one.
The part of the site that automatically opens and closes the survey is locked as well. It will not answer a request that does not carry the right credential. And the connection between the website and the database is encrypted and verified at both ends.
导演提示: "两把锁"这个比喻是全部。不要说 middleware、JWT、cookie、Argon2id。
"连我们自己都查不到你的密码"这句听众印象最深,一定要说。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YIFAN — ~1 min
Last slide from me, and it is the one a committee should care about most.
The database can be rolled back. We can produce a copy of the whole thing as it looked at a chosen moment in the past, and inspect it, without touching the live site. Full copies are taken on a schedule and kept somewhere other than the company that hosts the database, because a backup stored with the thing you are backing up is not a backup.
And then the way out. There are four documented routes: move the database, move the website, move the email, or move all of it onto a university server. Each one is written up step by step in our documentation.
I want to be clear about why that exists. It is not because we expect to leave. It is because those instructions do not depend on us being reachable. If both of us disappeared tomorrow, someone competent could read that document and keep this service running.
Now I will hand over to Anlin, who is going to show you the part you actually came for — how to use it.
导演提示: ⚠️ 自动备份目前还没真正配上,文档里列为待办。
若被追问"备份多久跑一次",照实说"目前是手动,这是我们下一步要补的"。不要含糊。
应该在 0:31 左右交给 Anlin。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ANLIN — ~1.5 min  [DRAFT — Anlin, please change freely]
Thank you both. And thank you all for staying with us.
My part is the practical part. What you need to do, and when.
Here is the year. Your numbers describe the fiscal year from July first to June thirtieth. Around September, the Committee confirms the dates and checks that we have the right contact person for every library — and if your delegate has changed, this is the moment to tell us.
The forms open on October first, and you will get an email that same day. They close on December second, and you will get a reminder one week before that.
After they close, the Committee reviews the data and prepares the annual report, which appears in the Journal of East Asian Libraries in the spring.
One thing to note. Those October and December dates can move. We adjust them some years. So please do not put them in your calendar and ignore your email — watch for the announcement.
导演提示: 这是全场最实用的一页,念完停一下让大家截图。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ANLIN — ~2.5 min · LIVE DEMO  [DRAFT — Anlin, please change freely]
Let me show you rather than tell you.
[SHARE SCREEN, SIGN IN]
You sign in with your email address. This is the page you land on. These are your library's ten forms, and next to each one is a marker.
Ready means you have not entered anything yet. Filled means you have saved something. Submitted means you have pressed the Submit button and the Committee counts that form as complete for the year.
Let me open one.
[OPEN A FORM]
You will notice the subtotals fill in by themselves as you type. You do not need to add anything up.
And here at the bottom are the two buttons that matter. Save Draft, and Submit.
Save Draft is the one to use while you are working. Press it as often as you like. Nothing is lost, nobody sees it, and you can come back next week.
Submit is the one that tells us the form is finished. Please do press it when you are done — a form left as Filled looks unfinished to us, and we will chase you about it.
One more thing on this page. If you filled this form in last year, you can see your own numbers from the last five years right here, so you have something to compare against. Several of you asked for that last season.
导演提示: 建议真机演示,提前确认演示账号能登录。不想现场演示就改成录屏截图 —
Zoom 上现场登录失败很尴尬。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ANLIN — ~2 min · LIVE DEMO  [DRAFT — Anlin, please change freely]
Now the part you can use all year, not just in October.
None of this needs a sign-in. You can send these links to your dean.
[SHARE SCREEN]
Quick View gives you one year, with libraries side by side. Table View lets you pick any of the ten tables and compare across several years and several libraries at once. Graph View turns any of that into a chart, and you can save the picture straight into a slide deck or a report.
The published reports are here as well — the PDFs exactly as they appeared in the journal.
And there is a separate section for everything before nineteen ninety-eight. That is deliberate. The questionnaire was substantially revised in the ninety-eight to ninety-nine cycle, so the older figures do not mean quite the same thing. Putting them in the same chart would give you a trend line that is not real. So we keep them accessible, but separate.
Everything you see here exports. Please use it. This data is most valuable when it is in front of the person deciding your budget.
导演提示: 1998 分界那段值得讲,不然每年都有人问为什么不能一起画图。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ANLIN — ~1 min  [DRAFT — Anlin, please change freely]
These are the ten forms. They are the same ten as before — nothing was added and nothing was removed when the site was rebuilt.
On top of the ten, there are the three shared lists — audio-visual, e-book and e-journal databases — where you tick the ones your library has access to.
If you have done this before, none of this is new. If you are new, the guide I am about to point you to walks through all ten, one at a time, with an explanation of what belongs in each.
导演提示: 老用户会觉得这页多余,但新代表需要。快速带过。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ANLIN — ~1 min  [DRAFT — Anlin, please change freely]
Please write this address down: cealstats dot org slash help.
That is a complete guide for member libraries, built into the site itself. Eight chapters. It explains all ten forms one at a time. It has a troubleshooting section and a list of frequently asked questions. And it is available in both English and Chinese — you can switch with one click.
It also prints cleanly, if you would rather have it on paper next to you while you fill the forms in.
And if something looks wrong, please tell us. Do not assume it is your mistake and work around it. During the collection season Meng and Yifan aim to fix reported problems the same week.
导演提示: /help 是这页唯一要记住的东西,建议重复一遍地址。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ANLIN — ~1.5 min  [DRAFT — Anlin, please change freely]
Three things I need from you, and then we will take questions.
First, confirm who submits for your library. If that person has changed — and in a few of your libraries it has — please tell us now, not in November. This is the single most common reason a library misses the season entirely. The announcement went to someone who left.
Second, check that we have the right email address. The announcement goes to the address on file. If it is wrong, you simply will not know the survey opened.
Third, please press Submit, not just Save Draft. A saved draft looks unfinished to us, and we cannot include it in the published statistics.
And if your library has never taken part and would like to: get in touch with the Committee, and we will get you set up before October.
导演提示: 这是全场的行动号召页。三条,不要加第四条。第一条最重要。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ANLIN — ~0.5 min  [DRAFT — Anlin, please change freely]
That is everything from us.
Thank you to every library that submitted through the new system in its first year — you were, in effect, testing it for us, and you were patient about it.
And thank you to Meng and Yifan. This was two and a half years of work alongside their regular jobs, and the Committee is very aware of that.
We will take questions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 stay on camera.
分工:
· 用法、政策、日期、参与       → ANLIN
· 设计、功能、进度、"为什么重做" → MENG
· 数据、迁移、安全、备份       → YIFAN
⚠️ 照实回答这两个:
· "备份多久跑一次" → 目前是手动,自动备份是下一步要补的
· "符合 WCAG 吗"   → 组件层面支持键盘和读屏,但还没做正式审计
预设问答见 script 文件附录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55070"/>
        </a:solidFill>
      </p:bgPr>
    </p:bg>
    <p:spTree>
      <p:nvGrpSpPr>
        <p:cNvPr id="1" name=""/>
        <p:cNvGrpSpPr/>
        <p:nvPr/>
      </p:nvGrpSpPr>
      <p:grpSpPr>
        <a:xfrm>
          <a:off x="0" y="0"/>
          <a:ext cx="0" cy="0"/>
          <a:chOff x="0" y="0"/>
          <a:chExt cx="0" cy="0"/>
        </a:xfrm>
      </p:grpSpPr>
      <p:sp>
        <p:nvSpPr>
          <p:cNvPr id="2" name="Text 0"/>
          <p:cNvSpPr txBox="1"/>
          <p:nvPr/>
        </p:nvSpPr>
        <p:spPr>
          <a:xfrm>
            <a:off x="685800" y="1691640"/>
            <a:ext cx="10820095" cy="868680"/>
          </a:xfrm>
          <a:prstGeom prst="rect">
            <a:avLst/>
          </a:prstGeom>
          <a:noFill/>
          <a:ln/>
        </p:spPr>
        <p:txBody>
          <a:bodyPr wrap="square" lIns="0" tIns="0" rIns="0" bIns="0" rtlCol="0" anchor="ctr"/>
          <a:lstStyle/>
          <a:p>
            <a:pPr indent="0" marL="0">
              <a:buNone/>
            </a:pPr>
            <a:r>
              <a:rPr lang="en-US" sz="4600" b="1" dirty="0">
                <a:solidFill>
                  <a:srgbClr val="FFFFFF"/>
                </a:solidFill>
                <a:latin typeface="Calibri" pitchFamily="34" charset="0"/>
                <a:ea typeface="Calibri" pitchFamily="34" charset="-122"/>
                <a:cs typeface="Calibri" pitchFamily="34" charset="-120"/>
              </a:rPr>
              <a:t>CEAL Statistics Database</a:t>
            </a:r>
            <a:endParaRPr lang="en-US" sz="4600" dirty="0"/>
          </a:p>
        </p:txBody>
      </p:sp>
      <p:sp>
        <p:nvSpPr>
          <p:cNvPr id="3" name="Text 1"/>
          <p:cNvSpPr txBox="1"/>
          <p:nvPr/>
        </p:nvSpPr>
        <p:spPr>
          <a:xfrm>
            <a:off x="685800" y="2578608"/>
            <a:ext cx="10820095" cy="457200"/>
          </a:xfrm>
          <a:prstGeom prst="rect">
            <a:avLst/>
          </a:prstGeom>
          <a:noFill/>
          <a:ln/>
        </p:spPr>
        <p:txBody>
          <a:bodyPr wrap="square" lIns="0" tIns="0" rIns="0" bIns="0" rtlCol="0" anchor="ctr"/>
          <a:lstStyle/>
          <a:p>
            <a:pPr indent="0" marL="0">
              <a:buNone/>
            </a:pPr>
            <a:r>
              <a:rPr lang="en-US" sz="2100" dirty="0">
                <a:solidFill>
                  <a:srgbClr val="EAAC8B"/>
                </a:solidFill>
                <a:latin typeface="Calibri" pitchFamily="34" charset="0"/>
                <a:ea typeface="Calibri" pitchFamily="34" charset="-122"/>
                <a:cs typeface="Calibri" pitchFamily="34" charset="-120"/>
              </a:rPr>
              <a:t>A new home for six decades of East Asian library data</a:t>
            </a:r>
            <a:endParaRPr lang="en-US" sz="2100" dirty="0"/>
          </a:p>
        </p:txBody>
      </p:sp>
      <p:sp>
        <p:nvSpPr>
          <p:cNvPr id="4" name="Text 2"/>
          <p:cNvSpPr txBox="1"/>
          <p:nvPr/>
        </p:nvSpPr>
        <p:spPr>
          <a:xfrm>
            <a:off x="685800" y="3246120"/>
            <a:ext cx="10820095" cy="365760"/>
          </a:xfrm>
          <a:prstGeom prst="rect">
            <a:avLst/>
          </a:prstGeom>
          <a:noFill/>
          <a:ln/>
        </p:spPr>
        <p:txBody>
          <a:bodyPr wrap="square" lIns="0" tIns="0" rIns="0" bIns="0" rtlCol="0" anchor="ctr"/>
          <a:lstStyle/>
          <a:p>
            <a:pPr indent="0" marL="0">
              <a:buNone/>
            </a:pPr>
            <a:r>
              <a:rPr lang="en-US" sz="1700" b="1" dirty="0">
                <a:solidFill>
                  <a:srgbClr val="E56B6F"/>
                </a:solidFill>
                <a:latin typeface="Calibri" pitchFamily="34" charset="0"/>
                <a:ea typeface="Calibri" pitchFamily="34" charset="-122"/>
                <a:cs typeface="Calibri" pitchFamily="34" charset="-120"/>
              </a:rPr>
              <a:t>cealstats.org</a:t>
            </a:r>
            <a:endParaRPr lang="en-US" sz="1700" dirty="0"/>
          </a:p>
        </p:txBody>
      </p:sp>
      <p:sp>
        <p:nvSpPr>
          <p:cNvPr id="5" name="Text 3"/>
          <p:cNvSpPr txBox="1"/>
          <p:nvPr/>
        </p:nvSpPr>
        <p:spPr>
          <a:xfrm>
            <a:off x="685800" y="4041648"/>
            <a:ext cx="210312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Meng Qu</a:t>
            </a:r>
            <a:endParaRPr lang="en-US" sz="1400" dirty="0"/>
          </a:p>
        </p:txBody>
      </p:sp>
      <p:sp>
        <p:nvSpPr>
          <p:cNvPr id="6" name="Text 4"/>
          <p:cNvSpPr txBox="1"/>
          <p:nvPr/>
        </p:nvSpPr>
        <p:spPr>
          <a:xfrm>
            <a:off x="2834640" y="4041648"/>
            <a:ext cx="5943600" cy="310896"/>
          </a:xfrm>
          <a:prstGeom prst="rect">
            <a:avLst/>
          </a:prstGeom>
          <a:noFill/>
          <a:ln/>
        </p:spPr>
        <p:txBody>
          <a:bodyPr wrap="square" lIns="0" tIns="0" rIns="0" bIns="0" rtlCol="0" anchor="ctr"/>
          <a:lstStyle/>
          <a:p>
            <a:pPr indent="0" marL="0">
              <a:buNone/>
            </a:pPr>
            <a:r>
              <a:rPr lang="en-US" sz="1400" dirty="0">
                <a:solidFill>
                  <a:srgbClr val="7A8BA0"/>
                </a:solidFill>
                <a:latin typeface="Calibri" pitchFamily="34" charset="0"/>
                <a:ea typeface="Calibri" pitchFamily="34" charset="-122"/>
                <a:cs typeface="Calibri" pitchFamily="34" charset="-120"/>
              </a:rPr>
              <a:t>Web Service Librarian, Miami University</a:t>
            </a:r>
            <a:endParaRPr lang="en-US" sz="1400" dirty="0"/>
          </a:p>
        </p:txBody>
      </p:sp>
      <p:sp>
        <p:nvSpPr>
          <p:cNvPr id="7" name="Text 5"/>
          <p:cNvSpPr txBox="1"/>
          <p:nvPr/>
        </p:nvSpPr>
        <p:spPr>
          <a:xfrm>
            <a:off x="685800" y="4425696"/>
            <a:ext cx="210312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Yifan Huang</a:t>
            </a:r>
            <a:endParaRPr lang="en-US" sz="1400" dirty="0"/>
          </a:p>
        </p:txBody>
      </p:sp>
      <p:sp>
        <p:nvSpPr>
          <p:cNvPr id="8" name="Text 6"/>
          <p:cNvSpPr txBox="1"/>
          <p:nvPr/>
        </p:nvSpPr>
        <p:spPr>
          <a:xfrm>
            <a:off x="2834640" y="4425696"/>
            <a:ext cx="5943600" cy="310896"/>
          </a:xfrm>
          <a:prstGeom prst="rect">
            <a:avLst/>
          </a:prstGeom>
          <a:noFill/>
          <a:ln/>
        </p:spPr>
        <p:txBody>
          <a:bodyPr wrap="square" lIns="0" tIns="0" rIns="0" bIns="0" rtlCol="0" anchor="ctr"/>
          <a:lstStyle/>
          <a:p>
            <a:pPr indent="0" marL="0">
              <a:buNone/>
            </a:pPr>
            <a:r>
              <a:rPr lang="en-US" sz="1400" dirty="0">
                <a:solidFill>
                  <a:srgbClr val="7A8BA0"/>
                </a:solidFill>
                <a:latin typeface="Calibri" pitchFamily="34" charset="0"/>
                <a:ea typeface="Calibri" pitchFamily="34" charset="-122"/>
                <a:cs typeface="Calibri" pitchFamily="34" charset="-120"/>
              </a:rPr>
              <a:t>Backend Developer</a:t>
            </a:r>
            <a:endParaRPr lang="en-US" sz="1400" dirty="0"/>
          </a:p>
        </p:txBody>
      </p:sp>
      <p:sp>
        <p:nvSpPr>
          <p:cNvPr id="9" name="Text 7"/>
          <p:cNvSpPr txBox="1"/>
          <p:nvPr/>
        </p:nvSpPr>
        <p:spPr>
          <a:xfrm>
            <a:off x="685800" y="4809744"/>
            <a:ext cx="210312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Anlin Yang</a:t>
            </a:r>
            <a:endParaRPr lang="en-US" sz="1400" dirty="0"/>
          </a:p>
        </p:txBody>
      </p:sp>
      <p:sp>
        <p:nvSpPr>
          <p:cNvPr id="10" name="Text 8"/>
          <p:cNvSpPr txBox="1"/>
          <p:nvPr/>
        </p:nvSpPr>
        <p:spPr>
          <a:xfrm>
            <a:off x="2834640" y="4809744"/>
            <a:ext cx="5943600" cy="310896"/>
          </a:xfrm>
          <a:prstGeom prst="rect">
            <a:avLst/>
          </a:prstGeom>
          <a:noFill/>
          <a:ln/>
        </p:spPr>
        <p:txBody>
          <a:bodyPr wrap="square" lIns="0" tIns="0" rIns="0" bIns="0" rtlCol="0" anchor="ctr"/>
          <a:lstStyle/>
          <a:p>
            <a:pPr indent="0" marL="0">
              <a:buNone/>
            </a:pPr>
            <a:r>
              <a:rPr lang="en-US" sz="1400" dirty="0">
                <a:solidFill>
                  <a:srgbClr val="7A8BA0"/>
                </a:solidFill>
                <a:latin typeface="Calibri" pitchFamily="34" charset="0"/>
                <a:ea typeface="Calibri" pitchFamily="34" charset="-122"/>
                <a:cs typeface="Calibri" pitchFamily="34" charset="-120"/>
              </a:rPr>
              <a:t>Chair, CEAL Statistics Committee</a:t>
            </a:r>
            <a:endParaRPr lang="en-US" sz="1400" dirty="0"/>
          </a:p>
        </p:txBody>
      </p:sp>
      <p:sp>
        <p:nvSpPr>
          <p:cNvPr id="11" name="Text 9"/>
          <p:cNvSpPr txBox="1"/>
          <p:nvPr/>
        </p:nvSpPr>
        <p:spPr>
          <a:xfrm>
            <a:off x="685800" y="5806440"/>
            <a:ext cx="10820095" cy="320040"/>
          </a:xfrm>
          <a:prstGeom prst="rect">
            <a:avLst/>
          </a:prstGeom>
          <a:noFill/>
          <a:ln/>
        </p:spPr>
        <p:txBody>
          <a:bodyPr wrap="square" lIns="0" tIns="0" rIns="0" bIns="0" rtlCol="0" anchor="ctr"/>
          <a:lstStyle/>
          <a:p>
            <a:pPr indent="0" marL="0">
              <a:buNone/>
            </a:pPr>
            <a:r>
              <a:rPr lang="en-US" sz="1300" dirty="0">
                <a:solidFill>
                  <a:srgbClr val="7A8BA0"/>
                </a:solidFill>
                <a:latin typeface="Calibri" pitchFamily="34" charset="0"/>
                <a:ea typeface="Calibri" pitchFamily="34" charset="-122"/>
                <a:cs typeface="Calibri" pitchFamily="34" charset="-120"/>
              </a:rPr>
              <a:t>September 14,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9082735" cy="228600"/>
          </a:xfrm>
          <a:prstGeom prst="rect">
            <a:avLst/>
          </a:prstGeom>
          <a:noFill/>
          <a:ln/>
        </p:spPr>
        <p:txBody>
          <a:bodyPr wrap="square" lIns="0" tIns="0" rIns="0" bIns="0" rtlCol="0" anchor="ctr"/>
          <a:lstStyle/>
          <a:p>
            <a:pPr indent="0" marL="0">
              <a:buNone/>
            </a:pPr>
            <a:r>
              <a:rPr lang="en-US" sz="1100" b="1" spc="160" kern="0" dirty="0">
                <a:solidFill>
                  <a:srgbClr val="6D597A"/>
                </a:solidFill>
                <a:latin typeface="Calibri" pitchFamily="34" charset="0"/>
                <a:ea typeface="Calibri" pitchFamily="34" charset="-122"/>
                <a:cs typeface="Calibri" pitchFamily="34" charset="-120"/>
              </a:rPr>
              <a:t>THE SERVICE</a:t>
            </a:r>
            <a:endParaRPr lang="en-US" sz="1100" dirty="0"/>
          </a:p>
        </p:txBody>
      </p:sp>
      <p:sp>
        <p:nvSpPr>
          <p:cNvPr id="3" name="Text 1"/>
          <p:cNvSpPr txBox="1"/>
          <p:nvPr/>
        </p:nvSpPr>
        <p:spPr>
          <a:xfrm>
            <a:off x="685800" y="713232"/>
            <a:ext cx="9082735" cy="777240"/>
          </a:xfrm>
          <a:prstGeom prst="rect">
            <a:avLst/>
          </a:prstGeom>
          <a:noFill/>
          <a:ln/>
        </p:spPr>
        <p:txBody>
          <a:bodyPr wrap="square" lIns="0" tIns="0" rIns="0" bIns="0" rtlCol="0" anchor="t"/>
          <a:lstStyle/>
          <a:p>
            <a:pPr indent="0" marL="0">
              <a:buNone/>
            </a:pPr>
            <a:r>
              <a:rPr lang="en-US" sz="3000" b="1" dirty="0">
                <a:solidFill>
                  <a:srgbClr val="355070"/>
                </a:solidFill>
                <a:latin typeface="Calibri" pitchFamily="34" charset="0"/>
                <a:ea typeface="Calibri" pitchFamily="34" charset="-122"/>
                <a:cs typeface="Calibri" pitchFamily="34" charset="-120"/>
              </a:rPr>
              <a:t>What we are talking about</a:t>
            </a:r>
            <a:endParaRPr lang="en-US" sz="3000" dirty="0"/>
          </a:p>
        </p:txBody>
      </p:sp>
      <p:sp>
        <p:nvSpPr>
          <p:cNvPr id="4" name="Text 2"/>
          <p:cNvSpPr txBox="1"/>
          <p:nvPr/>
        </p:nvSpPr>
        <p:spPr>
          <a:xfrm>
            <a:off x="10042855" y="493776"/>
            <a:ext cx="1463040" cy="274320"/>
          </a:xfrm>
          <a:prstGeom prst="rect">
            <a:avLst/>
          </a:prstGeom>
          <a:noFill/>
          <a:ln/>
        </p:spPr>
        <p:txBody>
          <a:bodyPr wrap="square" lIns="0" tIns="0" rIns="0" bIns="0" rtlCol="0" anchor="ctr"/>
          <a:lstStyle/>
          <a:p>
            <a:pPr algn="r" indent="0" marL="0">
              <a:buNone/>
            </a:pPr>
            <a:r>
              <a:rPr lang="en-US" sz="1100" dirty="0">
                <a:solidFill>
                  <a:srgbClr val="7A8BA0"/>
                </a:solidFill>
                <a:latin typeface="Calibri" pitchFamily="34" charset="0"/>
                <a:ea typeface="Calibri" pitchFamily="34" charset="-122"/>
                <a:cs typeface="Calibri" pitchFamily="34" charset="-120"/>
              </a:rPr>
              <a:t>Meng</a:t>
            </a:r>
            <a:endParaRPr lang="en-US" sz="1100" dirty="0"/>
          </a:p>
        </p:txBody>
      </p:sp>
      <p:sp>
        <p:nvSpPr>
          <p:cNvPr id="5" name="Text 3"/>
          <p:cNvSpPr txBox="1"/>
          <p:nvPr/>
        </p:nvSpPr>
        <p:spPr>
          <a:xfrm>
            <a:off x="685800" y="1572768"/>
            <a:ext cx="5943600" cy="1737360"/>
          </a:xfrm>
          <a:prstGeom prst="rect">
            <a:avLst/>
          </a:prstGeom>
          <a:noFill/>
          <a:ln/>
        </p:spPr>
        <p:txBody>
          <a:bodyPr wrap="square" lIns="0" tIns="0" rIns="0" bIns="0" rtlCol="0" anchor="t"/>
          <a:lstStyle/>
          <a:p>
            <a:pPr marL="203200" indent="-203200">
              <a:spcAft>
                <a:spcPts val="900"/>
              </a:spcAft>
              <a:buSzPct val="100000"/>
              <a:buChar char="•"/>
            </a:pPr>
            <a:r>
              <a:rPr lang="en-US" sz="1600" dirty="0">
                <a:solidFill>
                  <a:srgbClr val="355070"/>
                </a:solidFill>
                <a:latin typeface="Calibri" pitchFamily="34" charset="0"/>
                <a:ea typeface="Calibri" pitchFamily="34" charset="-122"/>
                <a:cs typeface="Calibri" pitchFamily="34" charset="-120"/>
              </a:rPr>
              <a:t>The official annual statistics platform of the Council on East Asian Libraries</a:t>
            </a:r>
            <a:endParaRPr lang="en-US" sz="1600" dirty="0"/>
          </a:p>
          <a:p>
            <a:pPr marL="203200" indent="-203200">
              <a:spcAft>
                <a:spcPts val="900"/>
              </a:spcAft>
              <a:buSzPct val="100000"/>
              <a:buChar char="•"/>
            </a:pPr>
            <a:r>
              <a:rPr lang="en-US" sz="1600" dirty="0">
                <a:solidFill>
                  <a:srgbClr val="355070"/>
                </a:solidFill>
                <a:latin typeface="Calibri" pitchFamily="34" charset="0"/>
                <a:ea typeface="Calibri" pitchFamily="34" charset="-122"/>
                <a:cs typeface="Calibri" pitchFamily="34" charset="-120"/>
              </a:rPr>
              <a:t>Around 50 North American libraries submit data every year</a:t>
            </a:r>
            <a:endParaRPr lang="en-US" sz="1600" dirty="0"/>
          </a:p>
          <a:p>
            <a:pPr marL="203200" indent="-203200">
              <a:spcAft>
                <a:spcPts val="900"/>
              </a:spcAft>
              <a:buSzPct val="100000"/>
              <a:buChar char="•"/>
            </a:pPr>
            <a:r>
              <a:rPr lang="en-US" sz="1600" dirty="0">
                <a:solidFill>
                  <a:srgbClr val="355070"/>
                </a:solidFill>
                <a:latin typeface="Calibri" pitchFamily="34" charset="0"/>
                <a:ea typeface="Calibri" pitchFamily="34" charset="-122"/>
                <a:cs typeface="Calibri" pitchFamily="34" charset="-120"/>
              </a:rPr>
              <a:t>Results are published in the Journal of East Asian Libraries</a:t>
            </a:r>
            <a:endParaRPr lang="en-US" sz="1600" dirty="0"/>
          </a:p>
        </p:txBody>
      </p:sp>
      <p:sp>
        <p:nvSpPr>
          <p:cNvPr id="6" name="Shape 4"/>
          <p:cNvSpPr/>
          <p:nvPr/>
        </p:nvSpPr>
        <p:spPr>
          <a:xfrm>
            <a:off x="685800" y="5349240"/>
            <a:ext cx="10820095" cy="868680"/>
          </a:xfrm>
          <a:prstGeom prst="roundRect">
            <a:avLst>
              <a:gd name="adj" fmla="val 8421"/>
            </a:avLst>
          </a:prstGeom>
          <a:solidFill>
            <a:srgbClr val="F4F8FA"/>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7" name="Text 5"/>
          <p:cNvSpPr txBox="1"/>
          <p:nvPr/>
        </p:nvSpPr>
        <p:spPr>
          <a:xfrm>
            <a:off x="960120" y="5404104"/>
            <a:ext cx="10271455" cy="758952"/>
          </a:xfrm>
          <a:prstGeom prst="rect">
            <a:avLst/>
          </a:prstGeom>
          <a:noFill/>
          <a:ln/>
        </p:spPr>
        <p:txBody>
          <a:bodyPr wrap="square" lIns="0" tIns="0" rIns="0" bIns="0" rtlCol="0" anchor="ctr"/>
          <a:lstStyle/>
          <a:p>
            <a:pPr indent="0" marL="0">
              <a:buNone/>
            </a:pPr>
            <a:r>
              <a:rPr lang="en-US" sz="1600" b="1" dirty="0">
                <a:solidFill>
                  <a:srgbClr val="355070"/>
                </a:solidFill>
                <a:latin typeface="Calibri" pitchFamily="34" charset="0"/>
                <a:ea typeface="Calibri" pitchFamily="34" charset="-122"/>
                <a:cs typeface="Calibri" pitchFamily="34" charset="-120"/>
              </a:rPr>
              <a:t>One place to report your numbers. One place to look everyone else’s up.</a:t>
            </a:r>
            <a:endParaRPr lang="en-US" sz="1600" dirty="0"/>
          </a:p>
        </p:txBody>
      </p:sp>
      <p:sp>
        <p:nvSpPr>
          <p:cNvPr id="8" name="Shape 6"/>
          <p:cNvSpPr/>
          <p:nvPr/>
        </p:nvSpPr>
        <p:spPr>
          <a:xfrm>
            <a:off x="7059168" y="1572768"/>
            <a:ext cx="1371600" cy="1417320"/>
          </a:xfrm>
          <a:prstGeom prst="roundRect">
            <a:avLst>
              <a:gd name="adj" fmla="val 5333"/>
            </a:avLst>
          </a:prstGeom>
          <a:solidFill>
            <a:srgbClr val="FFFFFF"/>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9" name="Text 7"/>
          <p:cNvSpPr txBox="1"/>
          <p:nvPr/>
        </p:nvSpPr>
        <p:spPr>
          <a:xfrm>
            <a:off x="7059168" y="1719072"/>
            <a:ext cx="1371600" cy="713232"/>
          </a:xfrm>
          <a:prstGeom prst="rect">
            <a:avLst/>
          </a:prstGeom>
          <a:noFill/>
          <a:ln/>
        </p:spPr>
        <p:txBody>
          <a:bodyPr wrap="square" lIns="0" tIns="0" rIns="0" bIns="0" rtlCol="0" anchor="ctr"/>
          <a:lstStyle/>
          <a:p>
            <a:pPr algn="ctr" indent="0" marL="0">
              <a:buNone/>
            </a:pPr>
            <a:r>
              <a:rPr lang="en-US" sz="4000" b="1" dirty="0">
                <a:solidFill>
                  <a:srgbClr val="57534E"/>
                </a:solidFill>
                <a:latin typeface="Calibri" pitchFamily="34" charset="0"/>
                <a:ea typeface="Calibri" pitchFamily="34" charset="-122"/>
                <a:cs typeface="Calibri" pitchFamily="34" charset="-120"/>
              </a:rPr>
              <a:t>~50</a:t>
            </a:r>
            <a:endParaRPr lang="en-US" sz="4000" dirty="0"/>
          </a:p>
        </p:txBody>
      </p:sp>
      <p:sp>
        <p:nvSpPr>
          <p:cNvPr id="10" name="Text 8"/>
          <p:cNvSpPr txBox="1"/>
          <p:nvPr/>
        </p:nvSpPr>
        <p:spPr>
          <a:xfrm>
            <a:off x="7059168" y="2468880"/>
            <a:ext cx="1371600" cy="365760"/>
          </a:xfrm>
          <a:prstGeom prst="rect">
            <a:avLst/>
          </a:prstGeom>
          <a:noFill/>
          <a:ln/>
        </p:spPr>
        <p:txBody>
          <a:bodyPr wrap="square" lIns="0" tIns="0" rIns="0" bIns="0" rtlCol="0" anchor="ctr"/>
          <a:lstStyle/>
          <a:p>
            <a:pPr algn="ctr" indent="0" marL="0">
              <a:buNone/>
            </a:pPr>
            <a:r>
              <a:rPr lang="en-US" sz="1000" spc="140" kern="0" dirty="0">
                <a:solidFill>
                  <a:srgbClr val="7A8BA0"/>
                </a:solidFill>
                <a:latin typeface="Calibri" pitchFamily="34" charset="0"/>
                <a:ea typeface="Calibri" pitchFamily="34" charset="-122"/>
                <a:cs typeface="Calibri" pitchFamily="34" charset="-120"/>
              </a:rPr>
              <a:t>LIBRARIES</a:t>
            </a:r>
            <a:endParaRPr lang="en-US" sz="1000" dirty="0"/>
          </a:p>
        </p:txBody>
      </p:sp>
      <p:sp>
        <p:nvSpPr>
          <p:cNvPr id="11" name="Shape 9"/>
          <p:cNvSpPr/>
          <p:nvPr/>
        </p:nvSpPr>
        <p:spPr>
          <a:xfrm>
            <a:off x="8595360" y="1572768"/>
            <a:ext cx="1371600" cy="1417320"/>
          </a:xfrm>
          <a:prstGeom prst="roundRect">
            <a:avLst>
              <a:gd name="adj" fmla="val 5333"/>
            </a:avLst>
          </a:prstGeom>
          <a:solidFill>
            <a:srgbClr val="FFFFFF"/>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12" name="Text 10"/>
          <p:cNvSpPr txBox="1"/>
          <p:nvPr/>
        </p:nvSpPr>
        <p:spPr>
          <a:xfrm>
            <a:off x="8595360" y="1719072"/>
            <a:ext cx="1371600" cy="713232"/>
          </a:xfrm>
          <a:prstGeom prst="rect">
            <a:avLst/>
          </a:prstGeom>
          <a:noFill/>
          <a:ln/>
        </p:spPr>
        <p:txBody>
          <a:bodyPr wrap="square" lIns="0" tIns="0" rIns="0" bIns="0" rtlCol="0" anchor="ctr"/>
          <a:lstStyle/>
          <a:p>
            <a:pPr algn="ctr" indent="0" marL="0">
              <a:buNone/>
            </a:pPr>
            <a:r>
              <a:rPr lang="en-US" sz="4000" b="1" dirty="0">
                <a:solidFill>
                  <a:srgbClr val="57534E"/>
                </a:solidFill>
                <a:latin typeface="Calibri" pitchFamily="34" charset="0"/>
                <a:ea typeface="Calibri" pitchFamily="34" charset="-122"/>
                <a:cs typeface="Calibri" pitchFamily="34" charset="-120"/>
              </a:rPr>
              <a:t>1869</a:t>
            </a:r>
            <a:endParaRPr lang="en-US" sz="4000" dirty="0"/>
          </a:p>
        </p:txBody>
      </p:sp>
      <p:sp>
        <p:nvSpPr>
          <p:cNvPr id="13" name="Text 11"/>
          <p:cNvSpPr txBox="1"/>
          <p:nvPr/>
        </p:nvSpPr>
        <p:spPr>
          <a:xfrm>
            <a:off x="8595360" y="2468880"/>
            <a:ext cx="1371600" cy="365760"/>
          </a:xfrm>
          <a:prstGeom prst="rect">
            <a:avLst/>
          </a:prstGeom>
          <a:noFill/>
          <a:ln/>
        </p:spPr>
        <p:txBody>
          <a:bodyPr wrap="square" lIns="0" tIns="0" rIns="0" bIns="0" rtlCol="0" anchor="ctr"/>
          <a:lstStyle/>
          <a:p>
            <a:pPr algn="ctr" indent="0" marL="0">
              <a:buNone/>
            </a:pPr>
            <a:r>
              <a:rPr lang="en-US" sz="1000" spc="140" kern="0" dirty="0">
                <a:solidFill>
                  <a:srgbClr val="7A8BA0"/>
                </a:solidFill>
                <a:latin typeface="Calibri" pitchFamily="34" charset="0"/>
                <a:ea typeface="Calibri" pitchFamily="34" charset="-122"/>
                <a:cs typeface="Calibri" pitchFamily="34" charset="-120"/>
              </a:rPr>
              <a:t>EARLIEST DATA</a:t>
            </a:r>
            <a:endParaRPr lang="en-US" sz="1000" dirty="0"/>
          </a:p>
        </p:txBody>
      </p:sp>
      <p:sp>
        <p:nvSpPr>
          <p:cNvPr id="14" name="Shape 12"/>
          <p:cNvSpPr/>
          <p:nvPr/>
        </p:nvSpPr>
        <p:spPr>
          <a:xfrm>
            <a:off x="10131552" y="1572768"/>
            <a:ext cx="1371600" cy="1417320"/>
          </a:xfrm>
          <a:prstGeom prst="roundRect">
            <a:avLst>
              <a:gd name="adj" fmla="val 5333"/>
            </a:avLst>
          </a:prstGeom>
          <a:solidFill>
            <a:srgbClr val="FFFFFF"/>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15" name="Text 13"/>
          <p:cNvSpPr txBox="1"/>
          <p:nvPr/>
        </p:nvSpPr>
        <p:spPr>
          <a:xfrm>
            <a:off x="10131552" y="1719072"/>
            <a:ext cx="1371600" cy="713232"/>
          </a:xfrm>
          <a:prstGeom prst="rect">
            <a:avLst/>
          </a:prstGeom>
          <a:noFill/>
          <a:ln/>
        </p:spPr>
        <p:txBody>
          <a:bodyPr wrap="square" lIns="0" tIns="0" rIns="0" bIns="0" rtlCol="0" anchor="ctr"/>
          <a:lstStyle/>
          <a:p>
            <a:pPr algn="ctr" indent="0" marL="0">
              <a:buNone/>
            </a:pPr>
            <a:r>
              <a:rPr lang="en-US" sz="4000" b="1" dirty="0">
                <a:solidFill>
                  <a:srgbClr val="57534E"/>
                </a:solidFill>
                <a:latin typeface="Calibri" pitchFamily="34" charset="0"/>
                <a:ea typeface="Calibri" pitchFamily="34" charset="-122"/>
                <a:cs typeface="Calibri" pitchFamily="34" charset="-120"/>
              </a:rPr>
              <a:t>1999</a:t>
            </a:r>
            <a:endParaRPr lang="en-US" sz="4000" dirty="0"/>
          </a:p>
        </p:txBody>
      </p:sp>
      <p:sp>
        <p:nvSpPr>
          <p:cNvPr id="16" name="Text 14"/>
          <p:cNvSpPr txBox="1"/>
          <p:nvPr/>
        </p:nvSpPr>
        <p:spPr>
          <a:xfrm>
            <a:off x="10131552" y="2468880"/>
            <a:ext cx="1371600" cy="365760"/>
          </a:xfrm>
          <a:prstGeom prst="rect">
            <a:avLst/>
          </a:prstGeom>
          <a:noFill/>
          <a:ln/>
        </p:spPr>
        <p:txBody>
          <a:bodyPr wrap="square" lIns="0" tIns="0" rIns="0" bIns="0" rtlCol="0" anchor="ctr"/>
          <a:lstStyle/>
          <a:p>
            <a:pPr algn="ctr" indent="0" marL="0">
              <a:buNone/>
            </a:pPr>
            <a:r>
              <a:rPr lang="en-US" sz="1000" spc="140" kern="0" dirty="0">
                <a:solidFill>
                  <a:srgbClr val="7A8BA0"/>
                </a:solidFill>
                <a:latin typeface="Calibri" pitchFamily="34" charset="0"/>
                <a:ea typeface="Calibri" pitchFamily="34" charset="-122"/>
                <a:cs typeface="Calibri" pitchFamily="34" charset="-120"/>
              </a:rPr>
              <a:t>ONLINE SINCE</a:t>
            </a:r>
            <a:endParaRPr lang="en-US" sz="1000" dirty="0"/>
          </a:p>
        </p:txBody>
      </p:sp>
      <p:sp>
        <p:nvSpPr>
          <p:cNvPr id="17" name="Shape 15"/>
          <p:cNvSpPr/>
          <p:nvPr/>
        </p:nvSpPr>
        <p:spPr>
          <a:xfrm>
            <a:off x="7059168" y="3246120"/>
            <a:ext cx="4443984" cy="1600200"/>
          </a:xfrm>
          <a:prstGeom prst="roundRect">
            <a:avLst>
              <a:gd name="adj" fmla="val 4571"/>
            </a:avLst>
          </a:prstGeom>
          <a:solidFill>
            <a:srgbClr val="F4F8FA"/>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18" name="Text 16"/>
          <p:cNvSpPr txBox="1"/>
          <p:nvPr/>
        </p:nvSpPr>
        <p:spPr>
          <a:xfrm>
            <a:off x="7287768" y="3401568"/>
            <a:ext cx="3986784" cy="1280160"/>
          </a:xfrm>
          <a:prstGeom prst="rect">
            <a:avLst/>
          </a:prstGeom>
          <a:noFill/>
          <a:ln/>
        </p:spPr>
        <p:txBody>
          <a:bodyPr wrap="square" lIns="0" tIns="0" rIns="0" bIns="0" rtlCol="0" anchor="ctr"/>
          <a:lstStyle/>
          <a:p>
            <a:pPr indent="0" marL="0">
              <a:lnSpc>
                <a:spcPct val="120000"/>
              </a:lnSpc>
              <a:buNone/>
            </a:pPr>
            <a:r>
              <a:rPr lang="en-US" sz="1700" b="1" dirty="0">
                <a:solidFill>
                  <a:srgbClr val="355070"/>
                </a:solidFill>
                <a:latin typeface="Calibri" pitchFamily="34" charset="0"/>
                <a:ea typeface="Calibri" pitchFamily="34" charset="-122"/>
                <a:cs typeface="Calibri" pitchFamily="34" charset="-120"/>
              </a:rPr>
              <a:t>Not a new project.</a:t>
            </a:r>
            <a:endParaRPr lang="en-US" sz="1700" dirty="0"/>
          </a:p>
          <a:p>
            <a:pPr indent="0" marL="0">
              <a:lnSpc>
                <a:spcPct val="120000"/>
              </a:lnSpc>
              <a:buNone/>
            </a:pPr>
            <a:r>
              <a:rPr lang="en-US" sz="1700" b="1" dirty="0">
                <a:solidFill>
                  <a:srgbClr val="355070"/>
                </a:solidFill>
                <a:latin typeface="Calibri" pitchFamily="34" charset="0"/>
                <a:ea typeface="Calibri" pitchFamily="34" charset="-122"/>
                <a:cs typeface="Calibri" pitchFamily="34" charset="-120"/>
              </a:rPr>
              <a:t>A twenty-five year old service that needed a new home.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9082735" cy="228600"/>
          </a:xfrm>
          <a:prstGeom prst="rect">
            <a:avLst/>
          </a:prstGeom>
          <a:noFill/>
          <a:ln/>
        </p:spPr>
        <p:txBody>
          <a:bodyPr wrap="square" lIns="0" tIns="0" rIns="0" bIns="0" rtlCol="0" anchor="ctr"/>
          <a:lstStyle/>
          <a:p>
            <a:pPr indent="0" marL="0">
              <a:buNone/>
            </a:pPr>
            <a:r>
              <a:rPr lang="en-US" sz="1100" b="1" spc="160" kern="0" dirty="0">
                <a:solidFill>
                  <a:srgbClr val="6D597A"/>
                </a:solidFill>
                <a:latin typeface="Calibri" pitchFamily="34" charset="0"/>
                <a:ea typeface="Calibri" pitchFamily="34" charset="-122"/>
                <a:cs typeface="Calibri" pitchFamily="34" charset="-120"/>
              </a:rPr>
              <a:t>THE SITE WE INHERITED</a:t>
            </a:r>
            <a:endParaRPr lang="en-US" sz="1100" dirty="0"/>
          </a:p>
        </p:txBody>
      </p:sp>
      <p:sp>
        <p:nvSpPr>
          <p:cNvPr id="3" name="Text 1"/>
          <p:cNvSpPr txBox="1"/>
          <p:nvPr/>
        </p:nvSpPr>
        <p:spPr>
          <a:xfrm>
            <a:off x="685800" y="713232"/>
            <a:ext cx="9082735" cy="777240"/>
          </a:xfrm>
          <a:prstGeom prst="rect">
            <a:avLst/>
          </a:prstGeom>
          <a:noFill/>
          <a:ln/>
        </p:spPr>
        <p:txBody>
          <a:bodyPr wrap="square" lIns="0" tIns="0" rIns="0" bIns="0" rtlCol="0" anchor="t"/>
          <a:lstStyle/>
          <a:p>
            <a:pPr indent="0" marL="0">
              <a:buNone/>
            </a:pPr>
            <a:r>
              <a:rPr lang="en-US" sz="3000" b="1" dirty="0">
                <a:solidFill>
                  <a:srgbClr val="355070"/>
                </a:solidFill>
                <a:latin typeface="Calibri" pitchFamily="34" charset="0"/>
                <a:ea typeface="Calibri" pitchFamily="34" charset="-122"/>
                <a:cs typeface="Calibri" pitchFamily="34" charset="-120"/>
              </a:rPr>
              <a:t>Where we started</a:t>
            </a:r>
            <a:endParaRPr lang="en-US" sz="3000" dirty="0"/>
          </a:p>
        </p:txBody>
      </p:sp>
      <p:sp>
        <p:nvSpPr>
          <p:cNvPr id="4" name="Text 2"/>
          <p:cNvSpPr txBox="1"/>
          <p:nvPr/>
        </p:nvSpPr>
        <p:spPr>
          <a:xfrm>
            <a:off x="10042855" y="493776"/>
            <a:ext cx="1463040" cy="274320"/>
          </a:xfrm>
          <a:prstGeom prst="rect">
            <a:avLst/>
          </a:prstGeom>
          <a:noFill/>
          <a:ln/>
        </p:spPr>
        <p:txBody>
          <a:bodyPr wrap="square" lIns="0" tIns="0" rIns="0" bIns="0" rtlCol="0" anchor="ctr"/>
          <a:lstStyle/>
          <a:p>
            <a:pPr algn="r" indent="0" marL="0">
              <a:buNone/>
            </a:pPr>
            <a:r>
              <a:rPr lang="en-US" sz="1100" dirty="0">
                <a:solidFill>
                  <a:srgbClr val="7A8BA0"/>
                </a:solidFill>
                <a:latin typeface="Calibri" pitchFamily="34" charset="0"/>
                <a:ea typeface="Calibri" pitchFamily="34" charset="-122"/>
                <a:cs typeface="Calibri" pitchFamily="34" charset="-120"/>
              </a:rPr>
              <a:t>Meng</a:t>
            </a:r>
            <a:endParaRPr lang="en-US" sz="1100" dirty="0"/>
          </a:p>
        </p:txBody>
      </p:sp>
      <p:sp>
        <p:nvSpPr>
          <p:cNvPr id="5" name="Shape 3"/>
          <p:cNvSpPr/>
          <p:nvPr/>
        </p:nvSpPr>
        <p:spPr>
          <a:xfrm>
            <a:off x="685800" y="1572768"/>
            <a:ext cx="5227168" cy="3246120"/>
          </a:xfrm>
          <a:prstGeom prst="roundRect">
            <a:avLst>
              <a:gd name="adj" fmla="val 2254"/>
            </a:avLst>
          </a:prstGeom>
          <a:solidFill>
            <a:srgbClr val="F4F8FA"/>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6" name="Text 4"/>
          <p:cNvSpPr txBox="1"/>
          <p:nvPr/>
        </p:nvSpPr>
        <p:spPr>
          <a:xfrm>
            <a:off x="960120" y="1783080"/>
            <a:ext cx="4678528" cy="320040"/>
          </a:xfrm>
          <a:prstGeom prst="rect">
            <a:avLst/>
          </a:prstGeom>
          <a:noFill/>
          <a:ln/>
        </p:spPr>
        <p:txBody>
          <a:bodyPr wrap="square" lIns="0" tIns="0" rIns="0" bIns="0" rtlCol="0" anchor="ctr"/>
          <a:lstStyle/>
          <a:p>
            <a:pPr indent="0" marL="0">
              <a:buNone/>
            </a:pPr>
            <a:r>
              <a:rPr lang="en-US" sz="1600" b="1" dirty="0">
                <a:solidFill>
                  <a:srgbClr val="6D597A"/>
                </a:solidFill>
                <a:latin typeface="Calibri" pitchFamily="34" charset="0"/>
                <a:ea typeface="Calibri" pitchFamily="34" charset="-122"/>
                <a:cs typeface="Calibri" pitchFamily="34" charset="-120"/>
              </a:rPr>
              <a:t>What it did well — for twenty years</a:t>
            </a:r>
            <a:endParaRPr lang="en-US" sz="1600" dirty="0"/>
          </a:p>
        </p:txBody>
      </p:sp>
      <p:sp>
        <p:nvSpPr>
          <p:cNvPr id="7" name="Text 5"/>
          <p:cNvSpPr txBox="1"/>
          <p:nvPr/>
        </p:nvSpPr>
        <p:spPr>
          <a:xfrm>
            <a:off x="960120" y="2212848"/>
            <a:ext cx="4678528" cy="2377440"/>
          </a:xfrm>
          <a:prstGeom prst="rect">
            <a:avLst/>
          </a:prstGeom>
          <a:noFill/>
          <a:ln/>
        </p:spPr>
        <p:txBody>
          <a:bodyPr wrap="square" lIns="0" tIns="0" rIns="0" bIns="0" rtlCol="0" anchor="t"/>
          <a:lstStyle/>
          <a:p>
            <a:pPr marL="203200" indent="-203200">
              <a:spcAft>
                <a:spcPts val="900"/>
              </a:spcAft>
              <a:buSzPct val="100000"/>
              <a:buChar char="•"/>
            </a:pPr>
            <a:r>
              <a:rPr lang="en-US" sz="1450" dirty="0">
                <a:solidFill>
                  <a:srgbClr val="355070"/>
                </a:solidFill>
                <a:latin typeface="Calibri" pitchFamily="34" charset="0"/>
                <a:ea typeface="Calibri" pitchFamily="34" charset="-122"/>
                <a:cs typeface="Calibri" pitchFamily="34" charset="-120"/>
              </a:rPr>
              <a:t>Held every data point and every form, complete and correct</a:t>
            </a:r>
            <a:endParaRPr lang="en-US" sz="1450" dirty="0"/>
          </a:p>
          <a:p>
            <a:pPr marL="203200" indent="-203200">
              <a:spcAft>
                <a:spcPts val="900"/>
              </a:spcAft>
              <a:buSzPct val="100000"/>
              <a:buChar char="•"/>
            </a:pPr>
            <a:r>
              <a:rPr lang="en-US" sz="1450" dirty="0">
                <a:solidFill>
                  <a:srgbClr val="355070"/>
                </a:solidFill>
                <a:latin typeface="Calibri" pitchFamily="34" charset="0"/>
                <a:ea typeface="Calibri" pitchFamily="34" charset="-122"/>
                <a:cs typeface="Calibri" pitchFamily="34" charset="-120"/>
              </a:rPr>
              <a:t>Served guests, member libraries and the Committee, reliably</a:t>
            </a:r>
            <a:endParaRPr lang="en-US" sz="1450" dirty="0"/>
          </a:p>
          <a:p>
            <a:pPr marL="203200" indent="-203200">
              <a:spcAft>
                <a:spcPts val="900"/>
              </a:spcAft>
              <a:buSzPct val="100000"/>
              <a:buChar char="•"/>
            </a:pPr>
            <a:r>
              <a:rPr lang="en-US" sz="1450" dirty="0">
                <a:solidFill>
                  <a:srgbClr val="355070"/>
                </a:solidFill>
                <a:latin typeface="Calibri" pitchFamily="34" charset="0"/>
                <a:ea typeface="Calibri" pitchFamily="34" charset="-122"/>
                <a:cs typeface="Calibri" pitchFamily="34" charset="-120"/>
              </a:rPr>
              <a:t>Never lost anyone’s data</a:t>
            </a:r>
            <a:endParaRPr lang="en-US" sz="1450" dirty="0"/>
          </a:p>
        </p:txBody>
      </p:sp>
      <p:sp>
        <p:nvSpPr>
          <p:cNvPr id="8" name="Shape 6"/>
          <p:cNvSpPr/>
          <p:nvPr/>
        </p:nvSpPr>
        <p:spPr>
          <a:xfrm>
            <a:off x="6278728" y="1572768"/>
            <a:ext cx="5227168" cy="3246120"/>
          </a:xfrm>
          <a:prstGeom prst="roundRect">
            <a:avLst>
              <a:gd name="adj" fmla="val 2254"/>
            </a:avLst>
          </a:prstGeom>
          <a:solidFill>
            <a:srgbClr val="FFFFFF"/>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9" name="Text 7"/>
          <p:cNvSpPr txBox="1"/>
          <p:nvPr/>
        </p:nvSpPr>
        <p:spPr>
          <a:xfrm>
            <a:off x="6553048" y="1783080"/>
            <a:ext cx="4678528" cy="320040"/>
          </a:xfrm>
          <a:prstGeom prst="rect">
            <a:avLst/>
          </a:prstGeom>
          <a:noFill/>
          <a:ln/>
        </p:spPr>
        <p:txBody>
          <a:bodyPr wrap="square" lIns="0" tIns="0" rIns="0" bIns="0" rtlCol="0" anchor="ctr"/>
          <a:lstStyle/>
          <a:p>
            <a:pPr indent="0" marL="0">
              <a:buNone/>
            </a:pPr>
            <a:r>
              <a:rPr lang="en-US" sz="1600" b="1" dirty="0">
                <a:solidFill>
                  <a:srgbClr val="E56B6F"/>
                </a:solidFill>
                <a:latin typeface="Calibri" pitchFamily="34" charset="0"/>
                <a:ea typeface="Calibri" pitchFamily="34" charset="-122"/>
                <a:cs typeface="Calibri" pitchFamily="34" charset="-120"/>
              </a:rPr>
              <a:t>What it could no longer do</a:t>
            </a:r>
            <a:endParaRPr lang="en-US" sz="1600" dirty="0"/>
          </a:p>
        </p:txBody>
      </p:sp>
      <p:sp>
        <p:nvSpPr>
          <p:cNvPr id="10" name="Text 8"/>
          <p:cNvSpPr txBox="1"/>
          <p:nvPr/>
        </p:nvSpPr>
        <p:spPr>
          <a:xfrm>
            <a:off x="6553048" y="2212848"/>
            <a:ext cx="4678528" cy="2377440"/>
          </a:xfrm>
          <a:prstGeom prst="rect">
            <a:avLst/>
          </a:prstGeom>
          <a:noFill/>
          <a:ln/>
        </p:spPr>
        <p:txBody>
          <a:bodyPr wrap="square" lIns="0" tIns="0" rIns="0" bIns="0" rtlCol="0" anchor="t"/>
          <a:lstStyle/>
          <a:p>
            <a:pPr marL="203200" indent="-203200">
              <a:spcAft>
                <a:spcPts val="900"/>
              </a:spcAft>
              <a:buSzPct val="100000"/>
              <a:buChar char="•"/>
            </a:pPr>
            <a:r>
              <a:rPr lang="en-US" sz="1450" dirty="0">
                <a:solidFill>
                  <a:srgbClr val="355070"/>
                </a:solidFill>
                <a:latin typeface="Calibri" pitchFamily="34" charset="0"/>
                <a:ea typeface="Calibri" pitchFamily="34" charset="-122"/>
                <a:cs typeface="Calibri" pitchFamily="34" charset="-120"/>
              </a:rPr>
              <a:t>Built for a desktop monitor. Unusable on a phone or tablet.</a:t>
            </a:r>
            <a:endParaRPr lang="en-US" sz="1450" dirty="0"/>
          </a:p>
          <a:p>
            <a:pPr marL="203200" indent="-203200">
              <a:spcAft>
                <a:spcPts val="900"/>
              </a:spcAft>
              <a:buSzPct val="100000"/>
              <a:buChar char="•"/>
            </a:pPr>
            <a:r>
              <a:rPr lang="en-US" sz="1450" dirty="0">
                <a:solidFill>
                  <a:srgbClr val="355070"/>
                </a:solidFill>
                <a:latin typeface="Calibri" pitchFamily="34" charset="0"/>
                <a:ea typeface="Calibri" pitchFamily="34" charset="-122"/>
                <a:cs typeface="Calibri" pitchFamily="34" charset="-120"/>
              </a:rPr>
              <a:t>Fixed page width, dated colours, hard to read</a:t>
            </a:r>
            <a:endParaRPr lang="en-US" sz="1450" dirty="0"/>
          </a:p>
          <a:p>
            <a:pPr marL="203200" indent="-203200">
              <a:spcAft>
                <a:spcPts val="900"/>
              </a:spcAft>
              <a:buSzPct val="100000"/>
              <a:buChar char="•"/>
            </a:pPr>
            <a:r>
              <a:rPr lang="en-US" sz="1450" dirty="0">
                <a:solidFill>
                  <a:srgbClr val="355070"/>
                </a:solidFill>
                <a:latin typeface="Calibri" pitchFamily="34" charset="0"/>
                <a:ea typeface="Calibri" pitchFamily="34" charset="-122"/>
                <a:cs typeface="Calibri" pitchFamily="34" charset="-120"/>
              </a:rPr>
              <a:t>Every administrative change needed a developer</a:t>
            </a:r>
            <a:endParaRPr lang="en-US" sz="1450" dirty="0"/>
          </a:p>
          <a:p>
            <a:pPr marL="203200" indent="-203200">
              <a:spcAft>
                <a:spcPts val="900"/>
              </a:spcAft>
              <a:buSzPct val="100000"/>
              <a:buChar char="•"/>
            </a:pPr>
            <a:r>
              <a:rPr lang="en-US" sz="1450" dirty="0">
                <a:solidFill>
                  <a:srgbClr val="355070"/>
                </a:solidFill>
                <a:latin typeface="Calibri" pitchFamily="34" charset="0"/>
                <a:ea typeface="Calibri" pitchFamily="34" charset="-122"/>
                <a:cs typeface="Calibri" pitchFamily="34" charset="-120"/>
              </a:rPr>
              <a:t>Built on software getting harder to host safely</a:t>
            </a:r>
            <a:endParaRPr lang="en-US" sz="1450" dirty="0"/>
          </a:p>
        </p:txBody>
      </p:sp>
      <p:sp>
        <p:nvSpPr>
          <p:cNvPr id="11" name="Shape 9"/>
          <p:cNvSpPr/>
          <p:nvPr/>
        </p:nvSpPr>
        <p:spPr>
          <a:xfrm>
            <a:off x="685800" y="5074920"/>
            <a:ext cx="10820095" cy="868680"/>
          </a:xfrm>
          <a:prstGeom prst="roundRect">
            <a:avLst>
              <a:gd name="adj" fmla="val 8421"/>
            </a:avLst>
          </a:prstGeom>
          <a:solidFill>
            <a:srgbClr val="F4F8FA"/>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12" name="Text 10"/>
          <p:cNvSpPr txBox="1"/>
          <p:nvPr/>
        </p:nvSpPr>
        <p:spPr>
          <a:xfrm>
            <a:off x="960120" y="5129784"/>
            <a:ext cx="10271455" cy="758952"/>
          </a:xfrm>
          <a:prstGeom prst="rect">
            <a:avLst/>
          </a:prstGeom>
          <a:noFill/>
          <a:ln/>
        </p:spPr>
        <p:txBody>
          <a:bodyPr wrap="square" lIns="0" tIns="0" rIns="0" bIns="0" rtlCol="0" anchor="ctr"/>
          <a:lstStyle/>
          <a:p>
            <a:pPr indent="0" marL="0">
              <a:buNone/>
            </a:pPr>
            <a:r>
              <a:rPr lang="en-US" sz="1600" b="1" dirty="0">
                <a:solidFill>
                  <a:srgbClr val="6D597A"/>
                </a:solidFill>
                <a:latin typeface="Calibri" pitchFamily="34" charset="0"/>
                <a:ea typeface="Calibri" pitchFamily="34" charset="-122"/>
                <a:cs typeface="Calibri" pitchFamily="34" charset="-120"/>
              </a:rPr>
              <a:t>Whoever built that site deserves credit. It did its job for two decades.</a:t>
            </a:r>
            <a:endParaRPr lang="en-US" sz="1600" dirty="0"/>
          </a:p>
        </p:txBody>
      </p:sp>
      <p:sp>
        <p:nvSpPr>
          <p:cNvPr id="13" name="Text 11"/>
          <p:cNvSpPr txBox="1"/>
          <p:nvPr/>
        </p:nvSpPr>
        <p:spPr>
          <a:xfrm>
            <a:off x="685800" y="6071616"/>
            <a:ext cx="10820095" cy="274320"/>
          </a:xfrm>
          <a:prstGeom prst="rect">
            <a:avLst/>
          </a:prstGeom>
          <a:noFill/>
          <a:ln/>
        </p:spPr>
        <p:txBody>
          <a:bodyPr wrap="square" lIns="0" tIns="0" rIns="0" bIns="0" rtlCol="0" anchor="ctr"/>
          <a:lstStyle/>
          <a:p>
            <a:pPr indent="0" marL="0">
              <a:buNone/>
            </a:pPr>
            <a:r>
              <a:rPr lang="en-US" sz="1000" i="1" dirty="0">
                <a:solidFill>
                  <a:srgbClr val="7A8BA0"/>
                </a:solidFill>
                <a:latin typeface="Calibri" pitchFamily="34" charset="0"/>
                <a:ea typeface="Calibri" pitchFamily="34" charset="-122"/>
                <a:cs typeface="Calibri" pitchFamily="34" charset="-120"/>
              </a:rPr>
              <a:t>[SCREENSHOT] · replace this slide’s cards with two images: old homepage, and old site at 390 px wide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9082735" cy="228600"/>
          </a:xfrm>
          <a:prstGeom prst="rect">
            <a:avLst/>
          </a:prstGeom>
          <a:noFill/>
          <a:ln/>
        </p:spPr>
        <p:txBody>
          <a:bodyPr wrap="square" lIns="0" tIns="0" rIns="0" bIns="0" rtlCol="0" anchor="ctr"/>
          <a:lstStyle/>
          <a:p>
            <a:pPr indent="0" marL="0">
              <a:buNone/>
            </a:pPr>
            <a:r>
              <a:rPr lang="en-US" sz="1100" b="1" spc="160" kern="0" dirty="0">
                <a:solidFill>
                  <a:srgbClr val="6D597A"/>
                </a:solidFill>
                <a:latin typeface="Calibri" pitchFamily="34" charset="0"/>
                <a:ea typeface="Calibri" pitchFamily="34" charset="-122"/>
                <a:cs typeface="Calibri" pitchFamily="34" charset="-120"/>
              </a:rPr>
              <a:t>THE BRIEF</a:t>
            </a:r>
            <a:endParaRPr lang="en-US" sz="1100" dirty="0"/>
          </a:p>
        </p:txBody>
      </p:sp>
      <p:sp>
        <p:nvSpPr>
          <p:cNvPr id="3" name="Text 1"/>
          <p:cNvSpPr txBox="1"/>
          <p:nvPr/>
        </p:nvSpPr>
        <p:spPr>
          <a:xfrm>
            <a:off x="685800" y="713232"/>
            <a:ext cx="9082735" cy="777240"/>
          </a:xfrm>
          <a:prstGeom prst="rect">
            <a:avLst/>
          </a:prstGeom>
          <a:noFill/>
          <a:ln/>
        </p:spPr>
        <p:txBody>
          <a:bodyPr wrap="square" lIns="0" tIns="0" rIns="0" bIns="0" rtlCol="0" anchor="t"/>
          <a:lstStyle/>
          <a:p>
            <a:pPr indent="0" marL="0">
              <a:buNone/>
            </a:pPr>
            <a:r>
              <a:rPr lang="en-US" sz="3000" b="1" dirty="0">
                <a:solidFill>
                  <a:srgbClr val="355070"/>
                </a:solidFill>
                <a:latin typeface="Calibri" pitchFamily="34" charset="0"/>
                <a:ea typeface="Calibri" pitchFamily="34" charset="-122"/>
                <a:cs typeface="Calibri" pitchFamily="34" charset="-120"/>
              </a:rPr>
              <a:t>What we set out to do</a:t>
            </a:r>
            <a:endParaRPr lang="en-US" sz="3000" dirty="0"/>
          </a:p>
        </p:txBody>
      </p:sp>
      <p:sp>
        <p:nvSpPr>
          <p:cNvPr id="4" name="Text 2"/>
          <p:cNvSpPr txBox="1"/>
          <p:nvPr/>
        </p:nvSpPr>
        <p:spPr>
          <a:xfrm>
            <a:off x="10042855" y="493776"/>
            <a:ext cx="1463040" cy="274320"/>
          </a:xfrm>
          <a:prstGeom prst="rect">
            <a:avLst/>
          </a:prstGeom>
          <a:noFill/>
          <a:ln/>
        </p:spPr>
        <p:txBody>
          <a:bodyPr wrap="square" lIns="0" tIns="0" rIns="0" bIns="0" rtlCol="0" anchor="ctr"/>
          <a:lstStyle/>
          <a:p>
            <a:pPr algn="r" indent="0" marL="0">
              <a:buNone/>
            </a:pPr>
            <a:r>
              <a:rPr lang="en-US" sz="1100" dirty="0">
                <a:solidFill>
                  <a:srgbClr val="7A8BA0"/>
                </a:solidFill>
                <a:latin typeface="Calibri" pitchFamily="34" charset="0"/>
                <a:ea typeface="Calibri" pitchFamily="34" charset="-122"/>
                <a:cs typeface="Calibri" pitchFamily="34" charset="-120"/>
              </a:rPr>
              <a:t>Meng</a:t>
            </a:r>
            <a:endParaRPr lang="en-US" sz="1100" dirty="0"/>
          </a:p>
        </p:txBody>
      </p:sp>
      <p:sp>
        <p:nvSpPr>
          <p:cNvPr id="5" name="Shape 3"/>
          <p:cNvSpPr/>
          <p:nvPr/>
        </p:nvSpPr>
        <p:spPr>
          <a:xfrm>
            <a:off x="685800" y="1481328"/>
            <a:ext cx="10820095" cy="914400"/>
          </a:xfrm>
          <a:prstGeom prst="roundRect">
            <a:avLst>
              <a:gd name="adj" fmla="val 8000"/>
            </a:avLst>
          </a:prstGeom>
          <a:solidFill>
            <a:srgbClr val="F4F8FA"/>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6" name="Text 4"/>
          <p:cNvSpPr txBox="1"/>
          <p:nvPr/>
        </p:nvSpPr>
        <p:spPr>
          <a:xfrm>
            <a:off x="1005840" y="1554480"/>
            <a:ext cx="10180015" cy="768096"/>
          </a:xfrm>
          <a:prstGeom prst="rect">
            <a:avLst/>
          </a:prstGeom>
          <a:noFill/>
          <a:ln/>
        </p:spPr>
        <p:txBody>
          <a:bodyPr wrap="square" lIns="0" tIns="0" rIns="0" bIns="0" rtlCol="0" anchor="ctr"/>
          <a:lstStyle/>
          <a:p>
            <a:pPr indent="0" marL="0">
              <a:buNone/>
            </a:pPr>
            <a:r>
              <a:rPr lang="en-US" sz="2700" b="1" dirty="0">
                <a:solidFill>
                  <a:srgbClr val="355070"/>
                </a:solidFill>
                <a:latin typeface="Calibri" pitchFamily="34" charset="0"/>
                <a:ea typeface="Calibri" pitchFamily="34" charset="-122"/>
                <a:cs typeface="Calibri" pitchFamily="34" charset="-120"/>
              </a:rPr>
              <a:t>Keep every function. Replace the experience.</a:t>
            </a:r>
            <a:endParaRPr lang="en-US" sz="2700" dirty="0"/>
          </a:p>
        </p:txBody>
      </p:sp>
      <p:sp>
        <p:nvSpPr>
          <p:cNvPr id="7" name="Shape 5"/>
          <p:cNvSpPr/>
          <p:nvPr/>
        </p:nvSpPr>
        <p:spPr>
          <a:xfrm>
            <a:off x="685800" y="2715768"/>
            <a:ext cx="384048" cy="384048"/>
          </a:xfrm>
          <a:prstGeom prst="ellipse">
            <a:avLst/>
          </a:prstGeom>
          <a:solidFill>
            <a:srgbClr val="E56B6F"/>
          </a:solidFill>
          <a:ln w="12700">
            <a:solidFill>
              <a:srgbClr val="E56B6F"/>
            </a:solidFill>
            <a:prstDash val="solid"/>
          </a:ln>
        </p:spPr>
      </p:sp>
      <p:sp>
        <p:nvSpPr>
          <p:cNvPr id="8" name="Text 6"/>
          <p:cNvSpPr txBox="1"/>
          <p:nvPr/>
        </p:nvSpPr>
        <p:spPr>
          <a:xfrm>
            <a:off x="685800" y="27157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1271016" y="2697480"/>
            <a:ext cx="10234879" cy="292608"/>
          </a:xfrm>
          <a:prstGeom prst="rect">
            <a:avLst/>
          </a:prstGeom>
          <a:noFill/>
          <a:ln/>
        </p:spPr>
        <p:txBody>
          <a:bodyPr wrap="square" lIns="0" tIns="0" rIns="0" bIns="0" rtlCol="0" anchor="ctr"/>
          <a:lstStyle/>
          <a:p>
            <a:pPr indent="0" marL="0">
              <a:buNone/>
            </a:pPr>
            <a:r>
              <a:rPr lang="en-US" sz="1600" b="1" dirty="0">
                <a:solidFill>
                  <a:srgbClr val="355070"/>
                </a:solidFill>
                <a:latin typeface="Calibri" pitchFamily="34" charset="0"/>
                <a:ea typeface="Calibri" pitchFamily="34" charset="-122"/>
                <a:cs typeface="Calibri" pitchFamily="34" charset="-120"/>
              </a:rPr>
              <a:t>Match the old site feature for feature</a:t>
            </a:r>
            <a:endParaRPr lang="en-US" sz="1600" dirty="0"/>
          </a:p>
        </p:txBody>
      </p:sp>
      <p:sp>
        <p:nvSpPr>
          <p:cNvPr id="10" name="Text 8"/>
          <p:cNvSpPr txBox="1"/>
          <p:nvPr/>
        </p:nvSpPr>
        <p:spPr>
          <a:xfrm>
            <a:off x="1271016" y="2999232"/>
            <a:ext cx="10234879" cy="566928"/>
          </a:xfrm>
          <a:prstGeom prst="rect">
            <a:avLst/>
          </a:prstGeom>
          <a:noFill/>
          <a:ln/>
        </p:spPr>
        <p:txBody>
          <a:bodyPr wrap="square" lIns="0" tIns="0" rIns="0" bIns="0" rtlCol="0" anchor="t"/>
          <a:lstStyle/>
          <a:p>
            <a:pPr indent="0" marL="0">
              <a:buNone/>
            </a:pPr>
            <a:r>
              <a:rPr lang="en-US" sz="1350" dirty="0">
                <a:solidFill>
                  <a:srgbClr val="57534E"/>
                </a:solidFill>
                <a:latin typeface="Calibri" pitchFamily="34" charset="0"/>
                <a:ea typeface="Calibri" pitchFamily="34" charset="-122"/>
                <a:cs typeface="Calibri" pitchFamily="34" charset="-120"/>
              </a:rPr>
              <a:t>Remove nothing because it was inconvenient to rebuild.</a:t>
            </a:r>
            <a:endParaRPr lang="en-US" sz="1350" dirty="0"/>
          </a:p>
        </p:txBody>
      </p:sp>
      <p:sp>
        <p:nvSpPr>
          <p:cNvPr id="11" name="Shape 9"/>
          <p:cNvSpPr/>
          <p:nvPr/>
        </p:nvSpPr>
        <p:spPr>
          <a:xfrm>
            <a:off x="685800" y="3630168"/>
            <a:ext cx="384048" cy="384048"/>
          </a:xfrm>
          <a:prstGeom prst="ellipse">
            <a:avLst/>
          </a:prstGeom>
          <a:solidFill>
            <a:srgbClr val="B56576"/>
          </a:solidFill>
          <a:ln w="12700">
            <a:solidFill>
              <a:srgbClr val="B56576"/>
            </a:solidFill>
            <a:prstDash val="solid"/>
          </a:ln>
        </p:spPr>
      </p:sp>
      <p:sp>
        <p:nvSpPr>
          <p:cNvPr id="12" name="Text 10"/>
          <p:cNvSpPr txBox="1"/>
          <p:nvPr/>
        </p:nvSpPr>
        <p:spPr>
          <a:xfrm>
            <a:off x="68580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1271016" y="3611880"/>
            <a:ext cx="10234879" cy="292608"/>
          </a:xfrm>
          <a:prstGeom prst="rect">
            <a:avLst/>
          </a:prstGeom>
          <a:noFill/>
          <a:ln/>
        </p:spPr>
        <p:txBody>
          <a:bodyPr wrap="square" lIns="0" tIns="0" rIns="0" bIns="0" rtlCol="0" anchor="ctr"/>
          <a:lstStyle/>
          <a:p>
            <a:pPr indent="0" marL="0">
              <a:buNone/>
            </a:pPr>
            <a:r>
              <a:rPr lang="en-US" sz="1600" b="1" dirty="0">
                <a:solidFill>
                  <a:srgbClr val="355070"/>
                </a:solidFill>
                <a:latin typeface="Calibri" pitchFamily="34" charset="0"/>
                <a:ea typeface="Calibri" pitchFamily="34" charset="-122"/>
                <a:cs typeface="Calibri" pitchFamily="34" charset="-120"/>
              </a:rPr>
              <a:t>Hand the Committee the controls</a:t>
            </a:r>
            <a:endParaRPr lang="en-US" sz="1600" dirty="0"/>
          </a:p>
        </p:txBody>
      </p:sp>
      <p:sp>
        <p:nvSpPr>
          <p:cNvPr id="14" name="Text 12"/>
          <p:cNvSpPr txBox="1"/>
          <p:nvPr/>
        </p:nvSpPr>
        <p:spPr>
          <a:xfrm>
            <a:off x="1271016" y="3913632"/>
            <a:ext cx="10234879" cy="566928"/>
          </a:xfrm>
          <a:prstGeom prst="rect">
            <a:avLst/>
          </a:prstGeom>
          <a:noFill/>
          <a:ln/>
        </p:spPr>
        <p:txBody>
          <a:bodyPr wrap="square" lIns="0" tIns="0" rIns="0" bIns="0" rtlCol="0" anchor="t"/>
          <a:lstStyle/>
          <a:p>
            <a:pPr indent="0" marL="0">
              <a:buNone/>
            </a:pPr>
            <a:r>
              <a:rPr lang="en-US" sz="1350" dirty="0">
                <a:solidFill>
                  <a:srgbClr val="57534E"/>
                </a:solidFill>
                <a:latin typeface="Calibri" pitchFamily="34" charset="0"/>
                <a:ea typeface="Calibri" pitchFamily="34" charset="-122"/>
                <a:cs typeface="Calibri" pitchFamily="34" charset="-120"/>
              </a:rPr>
              <a:t>If the Chair wants to open the survey late, that is a button — not an email to me.</a:t>
            </a:r>
            <a:endParaRPr lang="en-US" sz="1350" dirty="0"/>
          </a:p>
        </p:txBody>
      </p:sp>
      <p:sp>
        <p:nvSpPr>
          <p:cNvPr id="15" name="Shape 13"/>
          <p:cNvSpPr/>
          <p:nvPr/>
        </p:nvSpPr>
        <p:spPr>
          <a:xfrm>
            <a:off x="685800" y="4544568"/>
            <a:ext cx="384048" cy="384048"/>
          </a:xfrm>
          <a:prstGeom prst="ellipse">
            <a:avLst/>
          </a:prstGeom>
          <a:solidFill>
            <a:srgbClr val="6D597A"/>
          </a:solidFill>
          <a:ln w="12700">
            <a:solidFill>
              <a:srgbClr val="6D597A"/>
            </a:solidFill>
            <a:prstDash val="solid"/>
          </a:ln>
        </p:spPr>
      </p:sp>
      <p:sp>
        <p:nvSpPr>
          <p:cNvPr id="16" name="Text 14"/>
          <p:cNvSpPr txBox="1"/>
          <p:nvPr/>
        </p:nvSpPr>
        <p:spPr>
          <a:xfrm>
            <a:off x="685800" y="45445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1271016" y="4526280"/>
            <a:ext cx="10234879" cy="292608"/>
          </a:xfrm>
          <a:prstGeom prst="rect">
            <a:avLst/>
          </a:prstGeom>
          <a:noFill/>
          <a:ln/>
        </p:spPr>
        <p:txBody>
          <a:bodyPr wrap="square" lIns="0" tIns="0" rIns="0" bIns="0" rtlCol="0" anchor="ctr"/>
          <a:lstStyle/>
          <a:p>
            <a:pPr indent="0" marL="0">
              <a:buNone/>
            </a:pPr>
            <a:r>
              <a:rPr lang="en-US" sz="1600" b="1" dirty="0">
                <a:solidFill>
                  <a:srgbClr val="355070"/>
                </a:solidFill>
                <a:latin typeface="Calibri" pitchFamily="34" charset="0"/>
                <a:ea typeface="Calibri" pitchFamily="34" charset="-122"/>
                <a:cs typeface="Calibri" pitchFamily="34" charset="-120"/>
              </a:rPr>
              <a:t>Work on any screen, in any of the languages</a:t>
            </a:r>
            <a:endParaRPr lang="en-US" sz="1600" dirty="0"/>
          </a:p>
        </p:txBody>
      </p:sp>
      <p:sp>
        <p:nvSpPr>
          <p:cNvPr id="18" name="Text 16"/>
          <p:cNvSpPr txBox="1"/>
          <p:nvPr/>
        </p:nvSpPr>
        <p:spPr>
          <a:xfrm>
            <a:off x="1271016" y="4828032"/>
            <a:ext cx="10234879" cy="566928"/>
          </a:xfrm>
          <a:prstGeom prst="rect">
            <a:avLst/>
          </a:prstGeom>
          <a:noFill/>
          <a:ln/>
        </p:spPr>
        <p:txBody>
          <a:bodyPr wrap="square" lIns="0" tIns="0" rIns="0" bIns="0" rtlCol="0" anchor="t"/>
          <a:lstStyle/>
          <a:p>
            <a:pPr indent="0" marL="0">
              <a:buNone/>
            </a:pPr>
            <a:r>
              <a:rPr lang="en-US" sz="1350" dirty="0">
                <a:solidFill>
                  <a:srgbClr val="57534E"/>
                </a:solidFill>
                <a:latin typeface="Calibri" pitchFamily="34" charset="0"/>
                <a:ea typeface="Calibri" pitchFamily="34" charset="-122"/>
                <a:cs typeface="Calibri" pitchFamily="34" charset="-120"/>
              </a:rPr>
              <a:t>And render Chinese, Japanese and Korean properly.</a:t>
            </a:r>
            <a:endParaRPr lang="en-US" sz="1350" dirty="0"/>
          </a:p>
        </p:txBody>
      </p:sp>
      <p:sp>
        <p:nvSpPr>
          <p:cNvPr id="19" name="Shape 17"/>
          <p:cNvSpPr/>
          <p:nvPr/>
        </p:nvSpPr>
        <p:spPr>
          <a:xfrm>
            <a:off x="685800" y="5458968"/>
            <a:ext cx="384048" cy="384048"/>
          </a:xfrm>
          <a:prstGeom prst="ellipse">
            <a:avLst/>
          </a:prstGeom>
          <a:solidFill>
            <a:srgbClr val="355070"/>
          </a:solidFill>
          <a:ln w="12700">
            <a:solidFill>
              <a:srgbClr val="355070"/>
            </a:solidFill>
            <a:prstDash val="solid"/>
          </a:ln>
        </p:spPr>
      </p:sp>
      <p:sp>
        <p:nvSpPr>
          <p:cNvPr id="20" name="Text 18"/>
          <p:cNvSpPr txBox="1"/>
          <p:nvPr/>
        </p:nvSpPr>
        <p:spPr>
          <a:xfrm>
            <a:off x="685800" y="54589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9"/>
          <p:cNvSpPr txBox="1"/>
          <p:nvPr/>
        </p:nvSpPr>
        <p:spPr>
          <a:xfrm>
            <a:off x="1271016" y="5440680"/>
            <a:ext cx="10234879" cy="292608"/>
          </a:xfrm>
          <a:prstGeom prst="rect">
            <a:avLst/>
          </a:prstGeom>
          <a:noFill/>
          <a:ln/>
        </p:spPr>
        <p:txBody>
          <a:bodyPr wrap="square" lIns="0" tIns="0" rIns="0" bIns="0" rtlCol="0" anchor="ctr"/>
          <a:lstStyle/>
          <a:p>
            <a:pPr indent="0" marL="0">
              <a:buNone/>
            </a:pPr>
            <a:r>
              <a:rPr lang="en-US" sz="1600" b="1" dirty="0">
                <a:solidFill>
                  <a:srgbClr val="355070"/>
                </a:solidFill>
                <a:latin typeface="Calibri" pitchFamily="34" charset="0"/>
                <a:ea typeface="Calibri" pitchFamily="34" charset="-122"/>
                <a:cs typeface="Calibri" pitchFamily="34" charset="-120"/>
              </a:rPr>
              <a:t>Write it all down</a:t>
            </a:r>
            <a:endParaRPr lang="en-US" sz="1600" dirty="0"/>
          </a:p>
        </p:txBody>
      </p:sp>
      <p:sp>
        <p:nvSpPr>
          <p:cNvPr id="22" name="Text 20"/>
          <p:cNvSpPr txBox="1"/>
          <p:nvPr/>
        </p:nvSpPr>
        <p:spPr>
          <a:xfrm>
            <a:off x="1271016" y="5742432"/>
            <a:ext cx="10234879" cy="566928"/>
          </a:xfrm>
          <a:prstGeom prst="rect">
            <a:avLst/>
          </a:prstGeom>
          <a:noFill/>
          <a:ln/>
        </p:spPr>
        <p:txBody>
          <a:bodyPr wrap="square" lIns="0" tIns="0" rIns="0" bIns="0" rtlCol="0" anchor="t"/>
          <a:lstStyle/>
          <a:p>
            <a:pPr indent="0" marL="0">
              <a:buNone/>
            </a:pPr>
            <a:r>
              <a:rPr lang="en-US" sz="1350" dirty="0">
                <a:solidFill>
                  <a:srgbClr val="57534E"/>
                </a:solidFill>
                <a:latin typeface="Calibri" pitchFamily="34" charset="0"/>
                <a:ea typeface="Calibri" pitchFamily="34" charset="-122"/>
                <a:cs typeface="Calibri" pitchFamily="34" charset="-120"/>
              </a:rPr>
              <a:t>So that when we are no longer the people doing this, the next person can take over.</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9082735" cy="228600"/>
          </a:xfrm>
          <a:prstGeom prst="rect">
            <a:avLst/>
          </a:prstGeom>
          <a:noFill/>
          <a:ln/>
        </p:spPr>
        <p:txBody>
          <a:bodyPr wrap="square" lIns="0" tIns="0" rIns="0" bIns="0" rtlCol="0" anchor="ctr"/>
          <a:lstStyle/>
          <a:p>
            <a:pPr indent="0" marL="0">
              <a:buNone/>
            </a:pPr>
            <a:r>
              <a:rPr lang="en-US" sz="1100" b="1" spc="160" kern="0" dirty="0">
                <a:solidFill>
                  <a:srgbClr val="6D597A"/>
                </a:solidFill>
                <a:latin typeface="Calibri" pitchFamily="34" charset="0"/>
                <a:ea typeface="Calibri" pitchFamily="34" charset="-122"/>
                <a:cs typeface="Calibri" pitchFamily="34" charset="-120"/>
              </a:rPr>
              <a:t>FOUR LEVELS — ALL FOUR PRESERVED</a:t>
            </a:r>
            <a:endParaRPr lang="en-US" sz="1100" dirty="0"/>
          </a:p>
        </p:txBody>
      </p:sp>
      <p:sp>
        <p:nvSpPr>
          <p:cNvPr id="3" name="Text 1"/>
          <p:cNvSpPr txBox="1"/>
          <p:nvPr/>
        </p:nvSpPr>
        <p:spPr>
          <a:xfrm>
            <a:off x="685800" y="713232"/>
            <a:ext cx="9082735" cy="777240"/>
          </a:xfrm>
          <a:prstGeom prst="rect">
            <a:avLst/>
          </a:prstGeom>
          <a:noFill/>
          <a:ln/>
        </p:spPr>
        <p:txBody>
          <a:bodyPr wrap="square" lIns="0" tIns="0" rIns="0" bIns="0" rtlCol="0" anchor="t"/>
          <a:lstStyle/>
          <a:p>
            <a:pPr indent="0" marL="0">
              <a:buNone/>
            </a:pPr>
            <a:r>
              <a:rPr lang="en-US" sz="3000" b="1" dirty="0">
                <a:solidFill>
                  <a:srgbClr val="355070"/>
                </a:solidFill>
                <a:latin typeface="Calibri" pitchFamily="34" charset="0"/>
                <a:ea typeface="Calibri" pitchFamily="34" charset="-122"/>
                <a:cs typeface="Calibri" pitchFamily="34" charset="-120"/>
              </a:rPr>
              <a:t>Who can see and do what</a:t>
            </a:r>
            <a:endParaRPr lang="en-US" sz="3000" dirty="0"/>
          </a:p>
        </p:txBody>
      </p:sp>
      <p:sp>
        <p:nvSpPr>
          <p:cNvPr id="4" name="Text 2"/>
          <p:cNvSpPr txBox="1"/>
          <p:nvPr/>
        </p:nvSpPr>
        <p:spPr>
          <a:xfrm>
            <a:off x="10042855" y="493776"/>
            <a:ext cx="1463040" cy="274320"/>
          </a:xfrm>
          <a:prstGeom prst="rect">
            <a:avLst/>
          </a:prstGeom>
          <a:noFill/>
          <a:ln/>
        </p:spPr>
        <p:txBody>
          <a:bodyPr wrap="square" lIns="0" tIns="0" rIns="0" bIns="0" rtlCol="0" anchor="ctr"/>
          <a:lstStyle/>
          <a:p>
            <a:pPr algn="r" indent="0" marL="0">
              <a:buNone/>
            </a:pPr>
            <a:r>
              <a:rPr lang="en-US" sz="1100" dirty="0">
                <a:solidFill>
                  <a:srgbClr val="7A8BA0"/>
                </a:solidFill>
                <a:latin typeface="Calibri" pitchFamily="34" charset="0"/>
                <a:ea typeface="Calibri" pitchFamily="34" charset="-122"/>
                <a:cs typeface="Calibri" pitchFamily="34" charset="-120"/>
              </a:rPr>
              <a:t>Meng</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85800" y="1536192"/>
          <a:ext cx="10820095" cy="914400"/>
        </p:xfrm>
        <a:graphic>
          <a:graphicData uri="http://schemas.openxmlformats.org/drawingml/2006/table">
            <a:tbl>
              <a:tblPr/>
              <a:tblGrid>
                <a:gridCol w="5120640"/>
                <a:gridCol w="1417320"/>
                <a:gridCol w="1417320"/>
                <a:gridCol w="1417320"/>
                <a:gridCol w="1444752"/>
              </a:tblGrid>
              <a:tr h="384048">
                <a:tc>
                  <a:txBody>
                    <a:bodyPr/>
                    <a:lstStyle/>
                    <a:p>
                      <a:pPr indent="0" marL="0">
                        <a:buNone/>
                      </a:pP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solidFill>
                      <a:srgbClr val="355070"/>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Guest</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solidFill>
                      <a:srgbClr val="355070"/>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Member</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solidFill>
                      <a:srgbClr val="355070"/>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Editor</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solidFill>
                      <a:srgbClr val="355070"/>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Super Admin</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solidFill>
                      <a:srgbClr val="355070"/>
                    </a:solidFill>
                  </a:tcPr>
                </a:tc>
              </a:tr>
              <a:tr h="384048">
                <a:tc>
                  <a:txBody>
                    <a:bodyPr/>
                    <a:lstStyle/>
                    <a:p>
                      <a:pPr indent="0" marL="0">
                        <a:buNone/>
                      </a:pPr>
                      <a:r>
                        <a:rPr lang="en-US" sz="1300" dirty="0">
                          <a:solidFill>
                            <a:srgbClr val="355070"/>
                          </a:solidFill>
                          <a:latin typeface="Calibri" pitchFamily="34" charset="0"/>
                          <a:ea typeface="Calibri" pitchFamily="34" charset="-122"/>
                          <a:cs typeface="Calibri" pitchFamily="34" charset="-120"/>
                        </a:rPr>
                        <a:t>Statistics, charts, published reports</a:t>
                      </a:r>
                      <a:endParaRPr lang="en-US" sz="13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algn="ctr" indent="0" marL="0">
                        <a:buNone/>
                      </a:pPr>
                      <a:r>
                        <a:rPr lang="en-US" sz="1300" b="1" dirty="0">
                          <a:solidFill>
                            <a:srgbClr val="E56B6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algn="ctr" indent="0" marL="0">
                        <a:buNone/>
                      </a:pPr>
                      <a:r>
                        <a:rPr lang="en-US" sz="1300" b="1" dirty="0">
                          <a:solidFill>
                            <a:srgbClr val="E56B6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algn="ctr" indent="0" marL="0">
                        <a:buNone/>
                      </a:pPr>
                      <a:r>
                        <a:rPr lang="en-US" sz="1300" b="1" dirty="0">
                          <a:solidFill>
                            <a:srgbClr val="E56B6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algn="ctr" indent="0" marL="0">
                        <a:buNone/>
                      </a:pPr>
                      <a:r>
                        <a:rPr lang="en-US" sz="1300" b="1" dirty="0">
                          <a:solidFill>
                            <a:srgbClr val="E56B6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r>
              <a:tr h="384048">
                <a:tc>
                  <a:txBody>
                    <a:bodyPr/>
                    <a:lstStyle/>
                    <a:p>
                      <a:pPr indent="0" marL="0">
                        <a:buNone/>
                      </a:pPr>
                      <a:r>
                        <a:rPr lang="en-US" sz="1300" dirty="0">
                          <a:solidFill>
                            <a:srgbClr val="355070"/>
                          </a:solidFill>
                          <a:latin typeface="Calibri" pitchFamily="34" charset="0"/>
                          <a:ea typeface="Calibri" pitchFamily="34" charset="-122"/>
                          <a:cs typeface="Calibri" pitchFamily="34" charset="-120"/>
                        </a:rPr>
                        <a:t>Submit your own library’s forms</a:t>
                      </a:r>
                      <a:endParaRPr lang="en-US" sz="13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algn="ctr" indent="0" marL="0">
                        <a:buNone/>
                      </a:pPr>
                      <a:r>
                        <a:rPr lang="en-US" sz="1300" b="1" dirty="0">
                          <a:solidFill>
                            <a:srgbClr val="E56B6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algn="ctr" indent="0" marL="0">
                        <a:buNone/>
                      </a:pPr>
                      <a:r>
                        <a:rPr lang="en-US" sz="1300" b="1" dirty="0">
                          <a:solidFill>
                            <a:srgbClr val="E56B6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r>
              <a:tr h="384048">
                <a:tc>
                  <a:txBody>
                    <a:bodyPr/>
                    <a:lstStyle/>
                    <a:p>
                      <a:pPr indent="0" marL="0">
                        <a:buNone/>
                      </a:pPr>
                      <a:r>
                        <a:rPr lang="en-US" sz="1300" dirty="0">
                          <a:solidFill>
                            <a:srgbClr val="355070"/>
                          </a:solidFill>
                          <a:latin typeface="Calibri" pitchFamily="34" charset="0"/>
                          <a:ea typeface="Calibri" pitchFamily="34" charset="-122"/>
                          <a:cs typeface="Calibri" pitchFamily="34" charset="-120"/>
                        </a:rPr>
                        <a:t>Your own multi-year reports and ranking</a:t>
                      </a:r>
                      <a:endParaRPr lang="en-US" sz="13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algn="ctr" indent="0" marL="0">
                        <a:buNone/>
                      </a:pPr>
                      <a:r>
                        <a:rPr lang="en-US" sz="1300" b="1" dirty="0">
                          <a:solidFill>
                            <a:srgbClr val="E56B6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algn="ctr" indent="0" marL="0">
                        <a:buNone/>
                      </a:pPr>
                      <a:r>
                        <a:rPr lang="en-US" sz="1300" b="1" dirty="0">
                          <a:solidFill>
                            <a:srgbClr val="E56B6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algn="ctr" indent="0" marL="0">
                        <a:buNone/>
                      </a:pPr>
                      <a:r>
                        <a:rPr lang="en-US" sz="1300" b="1" dirty="0">
                          <a:solidFill>
                            <a:srgbClr val="E56B6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r>
              <a:tr h="384048">
                <a:tc>
                  <a:txBody>
                    <a:bodyPr/>
                    <a:lstStyle/>
                    <a:p>
                      <a:pPr indent="0" marL="0">
                        <a:buNone/>
                      </a:pPr>
                      <a:r>
                        <a:rPr lang="en-US" sz="1300" dirty="0">
                          <a:solidFill>
                            <a:srgbClr val="355070"/>
                          </a:solidFill>
                          <a:latin typeface="Calibri" pitchFamily="34" charset="0"/>
                          <a:ea typeface="Calibri" pitchFamily="34" charset="-122"/>
                          <a:cs typeface="Calibri" pitchFamily="34" charset="-120"/>
                        </a:rPr>
                        <a:t>Maintain the shared database title lists</a:t>
                      </a:r>
                      <a:endParaRPr lang="en-US" sz="13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algn="ctr" indent="0" marL="0">
                        <a:buNone/>
                      </a:pPr>
                      <a:r>
                        <a:rPr lang="en-US" sz="1300" b="1" dirty="0">
                          <a:solidFill>
                            <a:srgbClr val="E56B6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algn="ctr" indent="0" marL="0">
                        <a:buNone/>
                      </a:pPr>
                      <a:r>
                        <a:rPr lang="en-US" sz="1300" b="1" dirty="0">
                          <a:solidFill>
                            <a:srgbClr val="E56B6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r>
              <a:tr h="384048">
                <a:tc>
                  <a:txBody>
                    <a:bodyPr/>
                    <a:lstStyle/>
                    <a:p>
                      <a:pPr indent="0" marL="0">
                        <a:buNone/>
                      </a:pPr>
                      <a:r>
                        <a:rPr lang="en-US" sz="1300" dirty="0">
                          <a:solidFill>
                            <a:srgbClr val="355070"/>
                          </a:solidFill>
                          <a:latin typeface="Calibri" pitchFamily="34" charset="0"/>
                          <a:ea typeface="Calibri" pitchFamily="34" charset="-122"/>
                          <a:cs typeface="Calibri" pitchFamily="34" charset="-120"/>
                        </a:rPr>
                        <a:t>See and edit every library</a:t>
                      </a:r>
                      <a:endParaRPr lang="en-US" sz="13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algn="ctr" indent="0" marL="0">
                        <a:buNone/>
                      </a:pPr>
                      <a:r>
                        <a:rPr lang="en-US" sz="1300" b="1" dirty="0">
                          <a:solidFill>
                            <a:srgbClr val="E56B6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algn="ctr" indent="0" marL="0">
                        <a:buNone/>
                      </a:pPr>
                      <a:r>
                        <a:rPr lang="en-US" sz="1300" b="1" dirty="0">
                          <a:solidFill>
                            <a:srgbClr val="E56B6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r>
              <a:tr h="384048">
                <a:tc>
                  <a:txBody>
                    <a:bodyPr/>
                    <a:lstStyle/>
                    <a:p>
                      <a:pPr indent="0" marL="0">
                        <a:buNone/>
                      </a:pPr>
                      <a:r>
                        <a:rPr lang="en-US" sz="1300" dirty="0">
                          <a:solidFill>
                            <a:srgbClr val="355070"/>
                          </a:solidFill>
                          <a:latin typeface="Calibri" pitchFamily="34" charset="0"/>
                          <a:ea typeface="Calibri" pitchFamily="34" charset="-122"/>
                          <a:cs typeface="Calibri" pitchFamily="34" charset="-120"/>
                        </a:rPr>
                        <a:t>Manage people, dates and announcements</a:t>
                      </a:r>
                      <a:endParaRPr lang="en-US" sz="13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algn="ctr" indent="0" marL="0">
                        <a:buNone/>
                      </a:pPr>
                      <a:r>
                        <a:rPr lang="en-US" sz="1300" b="1" dirty="0">
                          <a:solidFill>
                            <a:srgbClr val="E56B6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r>
              <a:tr h="384048">
                <a:tc>
                  <a:txBody>
                    <a:bodyPr/>
                    <a:lstStyle/>
                    <a:p>
                      <a:pPr indent="0" marL="0">
                        <a:buNone/>
                      </a:pPr>
                      <a:r>
                        <a:rPr lang="en-US" sz="1300" dirty="0">
                          <a:solidFill>
                            <a:srgbClr val="355070"/>
                          </a:solidFill>
                          <a:latin typeface="Calibri" pitchFamily="34" charset="0"/>
                          <a:ea typeface="Calibri" pitchFamily="34" charset="-122"/>
                          <a:cs typeface="Calibri" pitchFamily="34" charset="-120"/>
                        </a:rPr>
                        <a:t>Edit after the deadline has passed</a:t>
                      </a:r>
                      <a:endParaRPr lang="en-US" sz="13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algn="ctr" indent="0" marL="0">
                        <a:buNone/>
                      </a:pPr>
                      <a:r>
                        <a:rPr lang="en-US" sz="1300" b="1" dirty="0">
                          <a:solidFill>
                            <a:srgbClr val="E56B6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r>
            </a:tbl>
          </a:graphicData>
        </a:graphic>
      </p:graphicFrame>
      <p:sp>
        <p:nvSpPr>
          <p:cNvPr id="6" name="Shape 3"/>
          <p:cNvSpPr/>
          <p:nvPr/>
        </p:nvSpPr>
        <p:spPr>
          <a:xfrm>
            <a:off x="685800" y="5074920"/>
            <a:ext cx="10820095" cy="868680"/>
          </a:xfrm>
          <a:prstGeom prst="roundRect">
            <a:avLst>
              <a:gd name="adj" fmla="val 8421"/>
            </a:avLst>
          </a:prstGeom>
          <a:solidFill>
            <a:srgbClr val="F4F8FA"/>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7" name="Text 4"/>
          <p:cNvSpPr txBox="1"/>
          <p:nvPr/>
        </p:nvSpPr>
        <p:spPr>
          <a:xfrm>
            <a:off x="960120" y="5129784"/>
            <a:ext cx="10271455" cy="758952"/>
          </a:xfrm>
          <a:prstGeom prst="rect">
            <a:avLst/>
          </a:prstGeom>
          <a:noFill/>
          <a:ln/>
        </p:spPr>
        <p:txBody>
          <a:bodyPr wrap="square" lIns="0" tIns="0" rIns="0" bIns="0" rtlCol="0" anchor="ctr"/>
          <a:lstStyle/>
          <a:p>
            <a:pPr indent="0" marL="0">
              <a:buNone/>
            </a:pPr>
            <a:r>
              <a:rPr lang="en-US" sz="1600" b="1" dirty="0">
                <a:solidFill>
                  <a:srgbClr val="E56B6F"/>
                </a:solidFill>
                <a:latin typeface="Calibri" pitchFamily="34" charset="0"/>
                <a:ea typeface="Calibri" pitchFamily="34" charset="-122"/>
                <a:cs typeface="Calibri" pitchFamily="34" charset="-120"/>
              </a:rPr>
              <a:t>Permission is checked in the database — not just hidden in the menu.</a:t>
            </a:r>
            <a:endParaRPr lang="en-US" sz="1600" dirty="0"/>
          </a:p>
        </p:txBody>
      </p:sp>
      <p:sp>
        <p:nvSpPr>
          <p:cNvPr id="8" name="Text 5"/>
          <p:cNvSpPr txBox="1"/>
          <p:nvPr/>
        </p:nvSpPr>
        <p:spPr>
          <a:xfrm>
            <a:off x="685800" y="6108192"/>
            <a:ext cx="10820095" cy="292608"/>
          </a:xfrm>
          <a:prstGeom prst="rect">
            <a:avLst/>
          </a:prstGeom>
          <a:noFill/>
          <a:ln/>
        </p:spPr>
        <p:txBody>
          <a:bodyPr wrap="square" lIns="0" tIns="0" rIns="0" bIns="0" rtlCol="0" anchor="ctr"/>
          <a:lstStyle/>
          <a:p>
            <a:pPr indent="0" marL="0">
              <a:buNone/>
            </a:pPr>
            <a:r>
              <a:rPr lang="en-US" sz="1300" i="1" dirty="0">
                <a:solidFill>
                  <a:srgbClr val="7A8BA0"/>
                </a:solidFill>
                <a:latin typeface="Calibri" pitchFamily="34" charset="0"/>
                <a:ea typeface="Calibri" pitchFamily="34" charset="-122"/>
                <a:cs typeface="Calibri" pitchFamily="34" charset="-120"/>
              </a:rPr>
              <a:t>Hiding a button is not security, and we did not treat it as security.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9082735" cy="228600"/>
          </a:xfrm>
          <a:prstGeom prst="rect">
            <a:avLst/>
          </a:prstGeom>
          <a:noFill/>
          <a:ln/>
        </p:spPr>
        <p:txBody>
          <a:bodyPr wrap="square" lIns="0" tIns="0" rIns="0" bIns="0" rtlCol="0" anchor="ctr"/>
          <a:lstStyle/>
          <a:p>
            <a:pPr indent="0" marL="0">
              <a:buNone/>
            </a:pPr>
            <a:r>
              <a:rPr lang="en-US" sz="1100" b="1" spc="160" kern="0" dirty="0">
                <a:solidFill>
                  <a:srgbClr val="6D597A"/>
                </a:solidFill>
                <a:latin typeface="Calibri" pitchFamily="34" charset="0"/>
                <a:ea typeface="Calibri" pitchFamily="34" charset="-122"/>
                <a:cs typeface="Calibri" pitchFamily="34" charset="-120"/>
              </a:rPr>
              <a:t>WORKING WITH THE COMMITTEE</a:t>
            </a:r>
            <a:endParaRPr lang="en-US" sz="1100" dirty="0"/>
          </a:p>
        </p:txBody>
      </p:sp>
      <p:sp>
        <p:nvSpPr>
          <p:cNvPr id="3" name="Text 1"/>
          <p:cNvSpPr txBox="1"/>
          <p:nvPr/>
        </p:nvSpPr>
        <p:spPr>
          <a:xfrm>
            <a:off x="685800" y="713232"/>
            <a:ext cx="9082735" cy="777240"/>
          </a:xfrm>
          <a:prstGeom prst="rect">
            <a:avLst/>
          </a:prstGeom>
          <a:noFill/>
          <a:ln/>
        </p:spPr>
        <p:txBody>
          <a:bodyPr wrap="square" lIns="0" tIns="0" rIns="0" bIns="0" rtlCol="0" anchor="t"/>
          <a:lstStyle/>
          <a:p>
            <a:pPr indent="0" marL="0">
              <a:buNone/>
            </a:pPr>
            <a:r>
              <a:rPr lang="en-US" sz="3000" b="1" dirty="0">
                <a:solidFill>
                  <a:srgbClr val="355070"/>
                </a:solidFill>
                <a:latin typeface="Calibri" pitchFamily="34" charset="0"/>
                <a:ea typeface="Calibri" pitchFamily="34" charset="-122"/>
                <a:cs typeface="Calibri" pitchFamily="34" charset="-120"/>
              </a:rPr>
              <a:t>This was never only a coding project</a:t>
            </a:r>
            <a:endParaRPr lang="en-US" sz="3000" dirty="0"/>
          </a:p>
        </p:txBody>
      </p:sp>
      <p:sp>
        <p:nvSpPr>
          <p:cNvPr id="4" name="Text 2"/>
          <p:cNvSpPr txBox="1"/>
          <p:nvPr/>
        </p:nvSpPr>
        <p:spPr>
          <a:xfrm>
            <a:off x="10042855" y="493776"/>
            <a:ext cx="1463040" cy="274320"/>
          </a:xfrm>
          <a:prstGeom prst="rect">
            <a:avLst/>
          </a:prstGeom>
          <a:noFill/>
          <a:ln/>
        </p:spPr>
        <p:txBody>
          <a:bodyPr wrap="square" lIns="0" tIns="0" rIns="0" bIns="0" rtlCol="0" anchor="ctr"/>
          <a:lstStyle/>
          <a:p>
            <a:pPr algn="r" indent="0" marL="0">
              <a:buNone/>
            </a:pPr>
            <a:r>
              <a:rPr lang="en-US" sz="1100" dirty="0">
                <a:solidFill>
                  <a:srgbClr val="7A8BA0"/>
                </a:solidFill>
                <a:latin typeface="Calibri" pitchFamily="34" charset="0"/>
                <a:ea typeface="Calibri" pitchFamily="34" charset="-122"/>
                <a:cs typeface="Calibri" pitchFamily="34" charset="-120"/>
              </a:rPr>
              <a:t>Meng</a:t>
            </a:r>
            <a:endParaRPr lang="en-US" sz="1100" dirty="0"/>
          </a:p>
        </p:txBody>
      </p:sp>
      <p:sp>
        <p:nvSpPr>
          <p:cNvPr id="5" name="Shape 3"/>
          <p:cNvSpPr/>
          <p:nvPr/>
        </p:nvSpPr>
        <p:spPr>
          <a:xfrm>
            <a:off x="685800" y="1536192"/>
            <a:ext cx="10820095" cy="3017520"/>
          </a:xfrm>
          <a:prstGeom prst="roundRect">
            <a:avLst>
              <a:gd name="adj" fmla="val 2424"/>
            </a:avLst>
          </a:prstGeom>
          <a:solidFill>
            <a:srgbClr val="F4F8FA"/>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6" name="Text 4"/>
          <p:cNvSpPr txBox="1"/>
          <p:nvPr/>
        </p:nvSpPr>
        <p:spPr>
          <a:xfrm>
            <a:off x="1005840" y="1737360"/>
            <a:ext cx="10180015" cy="320040"/>
          </a:xfrm>
          <a:prstGeom prst="rect">
            <a:avLst/>
          </a:prstGeom>
          <a:noFill/>
          <a:ln/>
        </p:spPr>
        <p:txBody>
          <a:bodyPr wrap="square" lIns="0" tIns="0" rIns="0" bIns="0" rtlCol="0" anchor="ctr"/>
          <a:lstStyle/>
          <a:p>
            <a:pPr indent="0" marL="0">
              <a:buNone/>
            </a:pPr>
            <a:r>
              <a:rPr lang="en-US" sz="1600" b="1" dirty="0">
                <a:solidFill>
                  <a:srgbClr val="6D597A"/>
                </a:solidFill>
                <a:latin typeface="Calibri" pitchFamily="34" charset="0"/>
                <a:ea typeface="Calibri" pitchFamily="34" charset="-122"/>
                <a:cs typeface="Calibri" pitchFamily="34" charset="-120"/>
              </a:rPr>
              <a:t>Throughout the rebuild, Committee Chair Anlin Yang:</a:t>
            </a:r>
            <a:endParaRPr lang="en-US" sz="1600" dirty="0"/>
          </a:p>
        </p:txBody>
      </p:sp>
      <p:sp>
        <p:nvSpPr>
          <p:cNvPr id="7" name="Text 5"/>
          <p:cNvSpPr txBox="1"/>
          <p:nvPr/>
        </p:nvSpPr>
        <p:spPr>
          <a:xfrm>
            <a:off x="1005840" y="2176272"/>
            <a:ext cx="10180015" cy="228600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rgbClr val="355070"/>
                </a:solidFill>
                <a:latin typeface="Calibri" pitchFamily="34" charset="0"/>
                <a:ea typeface="Calibri" pitchFamily="34" charset="-122"/>
                <a:cs typeface="Calibri" pitchFamily="34" charset="-120"/>
              </a:rPr>
              <a:t>Explained what each form field actually means — question by question</a:t>
            </a:r>
            <a:endParaRPr lang="en-US" sz="1500" dirty="0"/>
          </a:p>
          <a:p>
            <a:pPr marL="203200" indent="-203200">
              <a:spcAft>
                <a:spcPts val="900"/>
              </a:spcAft>
              <a:buSzPct val="100000"/>
              <a:buChar char="•"/>
            </a:pPr>
            <a:r>
              <a:rPr lang="en-US" sz="1500" dirty="0">
                <a:solidFill>
                  <a:srgbClr val="355070"/>
                </a:solidFill>
                <a:latin typeface="Calibri" pitchFamily="34" charset="0"/>
                <a:ea typeface="Calibri" pitchFamily="34" charset="-122"/>
                <a:cs typeface="Calibri" pitchFamily="34" charset="-120"/>
              </a:rPr>
              <a:t>Put us in touch with the right person at each library</a:t>
            </a:r>
            <a:endParaRPr lang="en-US" sz="1500" dirty="0"/>
          </a:p>
          <a:p>
            <a:pPr marL="203200" indent="-203200">
              <a:spcAft>
                <a:spcPts val="900"/>
              </a:spcAft>
              <a:buSzPct val="100000"/>
              <a:buChar char="•"/>
            </a:pPr>
            <a:r>
              <a:rPr lang="en-US" sz="1500" dirty="0">
                <a:solidFill>
                  <a:srgbClr val="355070"/>
                </a:solidFill>
                <a:latin typeface="Calibri" pitchFamily="34" charset="0"/>
                <a:ea typeface="Calibri" pitchFamily="34" charset="-122"/>
                <a:cs typeface="Calibri" pitchFamily="34" charset="-120"/>
              </a:rPr>
              <a:t>Kept the schedule honest, and coordinated every deadline</a:t>
            </a:r>
            <a:endParaRPr lang="en-US" sz="1500" dirty="0"/>
          </a:p>
          <a:p>
            <a:pPr marL="203200" indent="-203200">
              <a:spcAft>
                <a:spcPts val="900"/>
              </a:spcAft>
              <a:buSzPct val="100000"/>
              <a:buChar char="•"/>
            </a:pPr>
            <a:r>
              <a:rPr lang="en-US" sz="1500" dirty="0">
                <a:solidFill>
                  <a:srgbClr val="355070"/>
                </a:solidFill>
                <a:latin typeface="Calibri" pitchFamily="34" charset="0"/>
                <a:ea typeface="Calibri" pitchFamily="34" charset="-122"/>
                <a:cs typeface="Calibri" pitchFamily="34" charset="-120"/>
              </a:rPr>
              <a:t>Checked the migrated numbers against the historical record</a:t>
            </a:r>
            <a:endParaRPr lang="en-US" sz="1500" dirty="0"/>
          </a:p>
          <a:p>
            <a:pPr marL="203200" indent="-203200">
              <a:spcAft>
                <a:spcPts val="900"/>
              </a:spcAft>
              <a:buSzPct val="100000"/>
              <a:buChar char="•"/>
            </a:pPr>
            <a:r>
              <a:rPr lang="en-US" sz="1500" dirty="0">
                <a:solidFill>
                  <a:srgbClr val="355070"/>
                </a:solidFill>
                <a:latin typeface="Calibri" pitchFamily="34" charset="0"/>
                <a:ea typeface="Calibri" pitchFamily="34" charset="-122"/>
                <a:cs typeface="Calibri" pitchFamily="34" charset="-120"/>
              </a:rPr>
              <a:t>Made the decisions that unblocked us, quickly, again and again</a:t>
            </a:r>
            <a:endParaRPr lang="en-US" sz="1500" dirty="0"/>
          </a:p>
        </p:txBody>
      </p:sp>
      <p:sp>
        <p:nvSpPr>
          <p:cNvPr id="8" name="Shape 6"/>
          <p:cNvSpPr/>
          <p:nvPr/>
        </p:nvSpPr>
        <p:spPr>
          <a:xfrm>
            <a:off x="685800" y="4773168"/>
            <a:ext cx="3657600" cy="1051560"/>
          </a:xfrm>
          <a:prstGeom prst="roundRect">
            <a:avLst>
              <a:gd name="adj" fmla="val 6957"/>
            </a:avLst>
          </a:prstGeom>
          <a:solidFill>
            <a:srgbClr val="FFFFFF"/>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9" name="Text 7"/>
          <p:cNvSpPr txBox="1"/>
          <p:nvPr/>
        </p:nvSpPr>
        <p:spPr>
          <a:xfrm>
            <a:off x="685800" y="4901184"/>
            <a:ext cx="3657600" cy="822960"/>
          </a:xfrm>
          <a:prstGeom prst="rect">
            <a:avLst/>
          </a:prstGeom>
          <a:noFill/>
          <a:ln/>
        </p:spPr>
        <p:txBody>
          <a:bodyPr wrap="square" lIns="0" tIns="0" rIns="0" bIns="0" rtlCol="0" anchor="ctr"/>
          <a:lstStyle/>
          <a:p>
            <a:pPr algn="ctr" indent="0" marL="0">
              <a:buNone/>
            </a:pPr>
            <a:r>
              <a:rPr lang="en-US" sz="3000" b="1" dirty="0">
                <a:solidFill>
                  <a:srgbClr val="E56B6F"/>
                </a:solidFill>
                <a:latin typeface="Calibri" pitchFamily="34" charset="0"/>
                <a:ea typeface="Calibri" pitchFamily="34" charset="-122"/>
                <a:cs typeface="Calibri" pitchFamily="34" charset="-120"/>
              </a:rPr>
              <a:t>≈ N</a:t>
            </a:r>
            <a:endParaRPr lang="en-US" sz="3000" dirty="0"/>
          </a:p>
          <a:p>
            <a:pPr algn="ctr" indent="0" marL="0">
              <a:buNone/>
            </a:pPr>
            <a:r>
              <a:rPr lang="en-US" sz="950" spc="120" kern="0" dirty="0">
                <a:solidFill>
                  <a:srgbClr val="7A8BA0"/>
                </a:solidFill>
                <a:latin typeface="Calibri" pitchFamily="34" charset="0"/>
                <a:ea typeface="Calibri" pitchFamily="34" charset="-122"/>
                <a:cs typeface="Calibri" pitchFamily="34" charset="-120"/>
              </a:rPr>
              <a:t>EMAIL THREADS, OVER M MONTHS</a:t>
            </a:r>
            <a:endParaRPr lang="en-US" sz="3000" dirty="0"/>
          </a:p>
        </p:txBody>
      </p:sp>
      <p:sp>
        <p:nvSpPr>
          <p:cNvPr id="10" name="Text 8"/>
          <p:cNvSpPr txBox="1"/>
          <p:nvPr/>
        </p:nvSpPr>
        <p:spPr>
          <a:xfrm>
            <a:off x="4663440" y="4828032"/>
            <a:ext cx="6842455" cy="960120"/>
          </a:xfrm>
          <a:prstGeom prst="rect">
            <a:avLst/>
          </a:prstGeom>
          <a:noFill/>
          <a:ln/>
        </p:spPr>
        <p:txBody>
          <a:bodyPr wrap="square" lIns="0" tIns="0" rIns="0" bIns="0" rtlCol="0" anchor="ctr"/>
          <a:lstStyle/>
          <a:p>
            <a:pPr indent="0" marL="0">
              <a:lnSpc>
                <a:spcPct val="115000"/>
              </a:lnSpc>
              <a:buNone/>
            </a:pPr>
            <a:r>
              <a:rPr lang="en-US" sz="1700" b="1" dirty="0">
                <a:solidFill>
                  <a:srgbClr val="355070"/>
                </a:solidFill>
                <a:latin typeface="Calibri" pitchFamily="34" charset="0"/>
                <a:ea typeface="Calibri" pitchFamily="34" charset="-122"/>
                <a:cs typeface="Calibri" pitchFamily="34" charset="-120"/>
              </a:rPr>
              <a:t>You cannot read these requirements out of a database.</a:t>
            </a:r>
            <a:endParaRPr lang="en-US" sz="1700" dirty="0"/>
          </a:p>
          <a:p>
            <a:pPr indent="0" marL="0">
              <a:lnSpc>
                <a:spcPct val="115000"/>
              </a:lnSpc>
              <a:buNone/>
            </a:pPr>
            <a:r>
              <a:rPr lang="en-US" sz="1700" b="1" dirty="0">
                <a:solidFill>
                  <a:srgbClr val="355070"/>
                </a:solidFill>
                <a:latin typeface="Calibri" pitchFamily="34" charset="0"/>
                <a:ea typeface="Calibri" pitchFamily="34" charset="-122"/>
                <a:cs typeface="Calibri" pitchFamily="34" charset="-120"/>
              </a:rPr>
              <a:t>They came out of that correspondence.</a:t>
            </a:r>
            <a:endParaRPr lang="en-US" sz="1700" dirty="0"/>
          </a:p>
        </p:txBody>
      </p:sp>
      <p:sp>
        <p:nvSpPr>
          <p:cNvPr id="11" name="Text 9"/>
          <p:cNvSpPr txBox="1"/>
          <p:nvPr/>
        </p:nvSpPr>
        <p:spPr>
          <a:xfrm>
            <a:off x="685800" y="6053328"/>
            <a:ext cx="10820095" cy="274320"/>
          </a:xfrm>
          <a:prstGeom prst="rect">
            <a:avLst/>
          </a:prstGeom>
          <a:noFill/>
          <a:ln/>
        </p:spPr>
        <p:txBody>
          <a:bodyPr wrap="square" lIns="0" tIns="0" rIns="0" bIns="0" rtlCol="0" anchor="ctr"/>
          <a:lstStyle/>
          <a:p>
            <a:pPr indent="0" marL="0">
              <a:buNone/>
            </a:pPr>
            <a:r>
              <a:rPr lang="en-US" sz="1000" i="1" dirty="0">
                <a:solidFill>
                  <a:srgbClr val="7A8BA0"/>
                </a:solidFill>
                <a:latin typeface="Calibri" pitchFamily="34" charset="0"/>
                <a:ea typeface="Calibri" pitchFamily="34" charset="-122"/>
                <a:cs typeface="Calibri" pitchFamily="34" charset="-120"/>
              </a:rPr>
              <a:t>[NEEDS] replace N and M with the real counts from your mailbox</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9082735" cy="228600"/>
          </a:xfrm>
          <a:prstGeom prst="rect">
            <a:avLst/>
          </a:prstGeom>
          <a:noFill/>
          <a:ln/>
        </p:spPr>
        <p:txBody>
          <a:bodyPr wrap="square" lIns="0" tIns="0" rIns="0" bIns="0" rtlCol="0" anchor="ctr"/>
          <a:lstStyle/>
          <a:p>
            <a:pPr indent="0" marL="0">
              <a:buNone/>
            </a:pPr>
            <a:r>
              <a:rPr lang="en-US" sz="1100" b="1" spc="160" kern="0" dirty="0">
                <a:solidFill>
                  <a:srgbClr val="6D597A"/>
                </a:solidFill>
                <a:latin typeface="Calibri" pitchFamily="34" charset="0"/>
                <a:ea typeface="Calibri" pitchFamily="34" charset="-122"/>
                <a:cs typeface="Calibri" pitchFamily="34" charset="-120"/>
              </a:rPr>
              <a:t>SIGNING IN GOT SAFER — AND SIMPLER</a:t>
            </a:r>
            <a:endParaRPr lang="en-US" sz="1100" dirty="0"/>
          </a:p>
        </p:txBody>
      </p:sp>
      <p:sp>
        <p:nvSpPr>
          <p:cNvPr id="3" name="Text 1"/>
          <p:cNvSpPr txBox="1"/>
          <p:nvPr/>
        </p:nvSpPr>
        <p:spPr>
          <a:xfrm>
            <a:off x="685800" y="713232"/>
            <a:ext cx="9082735" cy="777240"/>
          </a:xfrm>
          <a:prstGeom prst="rect">
            <a:avLst/>
          </a:prstGeom>
          <a:noFill/>
          <a:ln/>
        </p:spPr>
        <p:txBody>
          <a:bodyPr wrap="square" lIns="0" tIns="0" rIns="0" bIns="0" rtlCol="0" anchor="t"/>
          <a:lstStyle/>
          <a:p>
            <a:pPr indent="0" marL="0">
              <a:buNone/>
            </a:pPr>
            <a:r>
              <a:rPr lang="en-US" sz="3000" b="1" dirty="0">
                <a:solidFill>
                  <a:srgbClr val="355070"/>
                </a:solidFill>
                <a:latin typeface="Calibri" pitchFamily="34" charset="0"/>
                <a:ea typeface="Calibri" pitchFamily="34" charset="-122"/>
                <a:cs typeface="Calibri" pitchFamily="34" charset="-120"/>
              </a:rPr>
              <a:t>What you already noticed last year</a:t>
            </a:r>
            <a:endParaRPr lang="en-US" sz="3000" dirty="0"/>
          </a:p>
        </p:txBody>
      </p:sp>
      <p:sp>
        <p:nvSpPr>
          <p:cNvPr id="4" name="Text 2"/>
          <p:cNvSpPr txBox="1"/>
          <p:nvPr/>
        </p:nvSpPr>
        <p:spPr>
          <a:xfrm>
            <a:off x="10042855" y="493776"/>
            <a:ext cx="1463040" cy="274320"/>
          </a:xfrm>
          <a:prstGeom prst="rect">
            <a:avLst/>
          </a:prstGeom>
          <a:noFill/>
          <a:ln/>
        </p:spPr>
        <p:txBody>
          <a:bodyPr wrap="square" lIns="0" tIns="0" rIns="0" bIns="0" rtlCol="0" anchor="ctr"/>
          <a:lstStyle/>
          <a:p>
            <a:pPr algn="r" indent="0" marL="0">
              <a:buNone/>
            </a:pPr>
            <a:r>
              <a:rPr lang="en-US" sz="1100" dirty="0">
                <a:solidFill>
                  <a:srgbClr val="7A8BA0"/>
                </a:solidFill>
                <a:latin typeface="Calibri" pitchFamily="34" charset="0"/>
                <a:ea typeface="Calibri" pitchFamily="34" charset="-122"/>
                <a:cs typeface="Calibri" pitchFamily="34" charset="-120"/>
              </a:rPr>
              <a:t>Meng</a:t>
            </a:r>
            <a:endParaRPr lang="en-US" sz="1100" dirty="0"/>
          </a:p>
        </p:txBody>
      </p:sp>
      <p:sp>
        <p:nvSpPr>
          <p:cNvPr id="5" name="Shape 3"/>
          <p:cNvSpPr/>
          <p:nvPr/>
        </p:nvSpPr>
        <p:spPr>
          <a:xfrm>
            <a:off x="685800" y="1645920"/>
            <a:ext cx="384048" cy="384048"/>
          </a:xfrm>
          <a:prstGeom prst="ellipse">
            <a:avLst/>
          </a:prstGeom>
          <a:solidFill>
            <a:srgbClr val="E56B6F"/>
          </a:solidFill>
          <a:ln w="12700">
            <a:solidFill>
              <a:srgbClr val="E56B6F"/>
            </a:solidFill>
            <a:prstDash val="solid"/>
          </a:ln>
        </p:spPr>
      </p:sp>
      <p:sp>
        <p:nvSpPr>
          <p:cNvPr id="6" name="Text 4"/>
          <p:cNvSpPr txBox="1"/>
          <p:nvPr/>
        </p:nvSpPr>
        <p:spPr>
          <a:xfrm>
            <a:off x="685800" y="1645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271016" y="1627632"/>
            <a:ext cx="10234879" cy="292608"/>
          </a:xfrm>
          <a:prstGeom prst="rect">
            <a:avLst/>
          </a:prstGeom>
          <a:noFill/>
          <a:ln/>
        </p:spPr>
        <p:txBody>
          <a:bodyPr wrap="square" lIns="0" tIns="0" rIns="0" bIns="0" rtlCol="0" anchor="ctr"/>
          <a:lstStyle/>
          <a:p>
            <a:pPr indent="0" marL="0">
              <a:buNone/>
            </a:pPr>
            <a:r>
              <a:rPr lang="en-US" sz="1600" b="1" dirty="0">
                <a:solidFill>
                  <a:srgbClr val="355070"/>
                </a:solidFill>
                <a:latin typeface="Calibri" pitchFamily="34" charset="0"/>
                <a:ea typeface="Calibri" pitchFamily="34" charset="-122"/>
                <a:cs typeface="Calibri" pitchFamily="34" charset="-120"/>
              </a:rPr>
              <a:t>Type your email first</a:t>
            </a:r>
            <a:endParaRPr lang="en-US" sz="1600" dirty="0"/>
          </a:p>
        </p:txBody>
      </p:sp>
      <p:sp>
        <p:nvSpPr>
          <p:cNvPr id="8" name="Text 6"/>
          <p:cNvSpPr txBox="1"/>
          <p:nvPr/>
        </p:nvSpPr>
        <p:spPr>
          <a:xfrm>
            <a:off x="1271016" y="1929384"/>
            <a:ext cx="10234879" cy="566928"/>
          </a:xfrm>
          <a:prstGeom prst="rect">
            <a:avLst/>
          </a:prstGeom>
          <a:noFill/>
          <a:ln/>
        </p:spPr>
        <p:txBody>
          <a:bodyPr wrap="square" lIns="0" tIns="0" rIns="0" bIns="0" rtlCol="0" anchor="t"/>
          <a:lstStyle/>
          <a:p>
            <a:pPr indent="0" marL="0">
              <a:buNone/>
            </a:pPr>
            <a:r>
              <a:rPr lang="en-US" sz="1350" dirty="0">
                <a:solidFill>
                  <a:srgbClr val="57534E"/>
                </a:solidFill>
                <a:latin typeface="Calibri" pitchFamily="34" charset="0"/>
                <a:ea typeface="Calibri" pitchFamily="34" charset="-122"/>
                <a:cs typeface="Calibri" pitchFamily="34" charset="-120"/>
              </a:rPr>
              <a:t>The site tells you whether you still need to set a password, before it asks you for one.</a:t>
            </a:r>
            <a:endParaRPr lang="en-US" sz="1350" dirty="0"/>
          </a:p>
        </p:txBody>
      </p:sp>
      <p:sp>
        <p:nvSpPr>
          <p:cNvPr id="9" name="Shape 7"/>
          <p:cNvSpPr/>
          <p:nvPr/>
        </p:nvSpPr>
        <p:spPr>
          <a:xfrm>
            <a:off x="685800" y="2606040"/>
            <a:ext cx="384048" cy="384048"/>
          </a:xfrm>
          <a:prstGeom prst="ellipse">
            <a:avLst/>
          </a:prstGeom>
          <a:solidFill>
            <a:srgbClr val="355070"/>
          </a:solidFill>
          <a:ln w="12700">
            <a:solidFill>
              <a:srgbClr val="355070"/>
            </a:solidFill>
            <a:prstDash val="solid"/>
          </a:ln>
        </p:spPr>
      </p:sp>
      <p:sp>
        <p:nvSpPr>
          <p:cNvPr id="10" name="Text 8"/>
          <p:cNvSpPr txBox="1"/>
          <p:nvPr/>
        </p:nvSpPr>
        <p:spPr>
          <a:xfrm>
            <a:off x="685800" y="2606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271016" y="2587752"/>
            <a:ext cx="10234879" cy="292608"/>
          </a:xfrm>
          <a:prstGeom prst="rect">
            <a:avLst/>
          </a:prstGeom>
          <a:noFill/>
          <a:ln/>
        </p:spPr>
        <p:txBody>
          <a:bodyPr wrap="square" lIns="0" tIns="0" rIns="0" bIns="0" rtlCol="0" anchor="ctr"/>
          <a:lstStyle/>
          <a:p>
            <a:pPr indent="0" marL="0">
              <a:buNone/>
            </a:pPr>
            <a:r>
              <a:rPr lang="en-US" sz="1600" b="1" dirty="0">
                <a:solidFill>
                  <a:srgbClr val="355070"/>
                </a:solidFill>
                <a:latin typeface="Calibri" pitchFamily="34" charset="0"/>
                <a:ea typeface="Calibri" pitchFamily="34" charset="-122"/>
                <a:cs typeface="Calibri" pitchFamily="34" charset="-120"/>
              </a:rPr>
              <a:t>A one-time link, good for 24 hours</a:t>
            </a:r>
            <a:endParaRPr lang="en-US" sz="1600" dirty="0"/>
          </a:p>
        </p:txBody>
      </p:sp>
      <p:sp>
        <p:nvSpPr>
          <p:cNvPr id="12" name="Text 10"/>
          <p:cNvSpPr txBox="1"/>
          <p:nvPr/>
        </p:nvSpPr>
        <p:spPr>
          <a:xfrm>
            <a:off x="1271016" y="2889504"/>
            <a:ext cx="10234879" cy="566928"/>
          </a:xfrm>
          <a:prstGeom prst="rect">
            <a:avLst/>
          </a:prstGeom>
          <a:noFill/>
          <a:ln/>
        </p:spPr>
        <p:txBody>
          <a:bodyPr wrap="square" lIns="0" tIns="0" rIns="0" bIns="0" rtlCol="0" anchor="t"/>
          <a:lstStyle/>
          <a:p>
            <a:pPr indent="0" marL="0">
              <a:buNone/>
            </a:pPr>
            <a:r>
              <a:rPr lang="en-US" sz="1350" dirty="0">
                <a:solidFill>
                  <a:srgbClr val="57534E"/>
                </a:solidFill>
                <a:latin typeface="Calibri" pitchFamily="34" charset="0"/>
                <a:ea typeface="Calibri" pitchFamily="34" charset="-122"/>
                <a:cs typeface="Calibri" pitchFamily="34" charset="-120"/>
              </a:rPr>
              <a:t>New accounts and resets arrive as a link. We never send you a password in an email again.</a:t>
            </a:r>
            <a:endParaRPr lang="en-US" sz="1350" dirty="0"/>
          </a:p>
        </p:txBody>
      </p:sp>
      <p:sp>
        <p:nvSpPr>
          <p:cNvPr id="13" name="Shape 11"/>
          <p:cNvSpPr/>
          <p:nvPr/>
        </p:nvSpPr>
        <p:spPr>
          <a:xfrm>
            <a:off x="685800" y="3566160"/>
            <a:ext cx="384048" cy="384048"/>
          </a:xfrm>
          <a:prstGeom prst="ellipse">
            <a:avLst/>
          </a:prstGeom>
          <a:solidFill>
            <a:srgbClr val="B56576"/>
          </a:solidFill>
          <a:ln w="12700">
            <a:solidFill>
              <a:srgbClr val="B56576"/>
            </a:solidFill>
            <a:prstDash val="solid"/>
          </a:ln>
        </p:spPr>
      </p:sp>
      <p:sp>
        <p:nvSpPr>
          <p:cNvPr id="14" name="Text 12"/>
          <p:cNvSpPr txBox="1"/>
          <p:nvPr/>
        </p:nvSpPr>
        <p:spPr>
          <a:xfrm>
            <a:off x="685800" y="35661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txBox="1"/>
          <p:nvPr/>
        </p:nvSpPr>
        <p:spPr>
          <a:xfrm>
            <a:off x="1271016" y="3547872"/>
            <a:ext cx="10234879" cy="292608"/>
          </a:xfrm>
          <a:prstGeom prst="rect">
            <a:avLst/>
          </a:prstGeom>
          <a:noFill/>
          <a:ln/>
        </p:spPr>
        <p:txBody>
          <a:bodyPr wrap="square" lIns="0" tIns="0" rIns="0" bIns="0" rtlCol="0" anchor="ctr"/>
          <a:lstStyle/>
          <a:p>
            <a:pPr indent="0" marL="0">
              <a:buNone/>
            </a:pPr>
            <a:r>
              <a:rPr lang="en-US" sz="1600" b="1" dirty="0">
                <a:solidFill>
                  <a:srgbClr val="355070"/>
                </a:solidFill>
                <a:latin typeface="Calibri" pitchFamily="34" charset="0"/>
                <a:ea typeface="Calibri" pitchFamily="34" charset="-122"/>
                <a:cs typeface="Calibri" pitchFamily="34" charset="-120"/>
              </a:rPr>
              <a:t>Change your own password</a:t>
            </a:r>
            <a:endParaRPr lang="en-US" sz="1600" dirty="0"/>
          </a:p>
        </p:txBody>
      </p:sp>
      <p:sp>
        <p:nvSpPr>
          <p:cNvPr id="16" name="Text 14"/>
          <p:cNvSpPr txBox="1"/>
          <p:nvPr/>
        </p:nvSpPr>
        <p:spPr>
          <a:xfrm>
            <a:off x="1271016" y="3849624"/>
            <a:ext cx="10234879" cy="566928"/>
          </a:xfrm>
          <a:prstGeom prst="rect">
            <a:avLst/>
          </a:prstGeom>
          <a:noFill/>
          <a:ln/>
        </p:spPr>
        <p:txBody>
          <a:bodyPr wrap="square" lIns="0" tIns="0" rIns="0" bIns="0" rtlCol="0" anchor="t"/>
          <a:lstStyle/>
          <a:p>
            <a:pPr indent="0" marL="0">
              <a:buNone/>
            </a:pPr>
            <a:r>
              <a:rPr lang="en-US" sz="1350" dirty="0">
                <a:solidFill>
                  <a:srgbClr val="57534E"/>
                </a:solidFill>
                <a:latin typeface="Calibri" pitchFamily="34" charset="0"/>
                <a:ea typeface="Calibri" pitchFamily="34" charset="-122"/>
                <a:cs typeface="Calibri" pitchFamily="34" charset="-120"/>
              </a:rPr>
              <a:t>Any time, from inside the site. You do not have to ask anyone.</a:t>
            </a:r>
            <a:endParaRPr lang="en-US" sz="1350" dirty="0"/>
          </a:p>
        </p:txBody>
      </p:sp>
      <p:sp>
        <p:nvSpPr>
          <p:cNvPr id="17" name="Shape 15"/>
          <p:cNvSpPr/>
          <p:nvPr/>
        </p:nvSpPr>
        <p:spPr>
          <a:xfrm>
            <a:off x="685800" y="4526280"/>
            <a:ext cx="384048" cy="384048"/>
          </a:xfrm>
          <a:prstGeom prst="ellipse">
            <a:avLst/>
          </a:prstGeom>
          <a:solidFill>
            <a:srgbClr val="6D597A"/>
          </a:solidFill>
          <a:ln w="12700">
            <a:solidFill>
              <a:srgbClr val="6D597A"/>
            </a:solidFill>
            <a:prstDash val="solid"/>
          </a:ln>
        </p:spPr>
      </p:sp>
      <p:sp>
        <p:nvSpPr>
          <p:cNvPr id="18" name="Text 16"/>
          <p:cNvSpPr txBox="1"/>
          <p:nvPr/>
        </p:nvSpPr>
        <p:spPr>
          <a:xfrm>
            <a:off x="685800" y="45262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9" name="Text 17"/>
          <p:cNvSpPr txBox="1"/>
          <p:nvPr/>
        </p:nvSpPr>
        <p:spPr>
          <a:xfrm>
            <a:off x="1271016" y="4507992"/>
            <a:ext cx="10234879" cy="292608"/>
          </a:xfrm>
          <a:prstGeom prst="rect">
            <a:avLst/>
          </a:prstGeom>
          <a:noFill/>
          <a:ln/>
        </p:spPr>
        <p:txBody>
          <a:bodyPr wrap="square" lIns="0" tIns="0" rIns="0" bIns="0" rtlCol="0" anchor="ctr"/>
          <a:lstStyle/>
          <a:p>
            <a:pPr indent="0" marL="0">
              <a:buNone/>
            </a:pPr>
            <a:r>
              <a:rPr lang="en-US" sz="1600" b="1" dirty="0">
                <a:solidFill>
                  <a:srgbClr val="355070"/>
                </a:solidFill>
                <a:latin typeface="Calibri" pitchFamily="34" charset="0"/>
                <a:ea typeface="Calibri" pitchFamily="34" charset="-122"/>
                <a:cs typeface="Calibri" pitchFamily="34" charset="-120"/>
              </a:rPr>
              <a:t>Covering two libraries?</a:t>
            </a:r>
            <a:endParaRPr lang="en-US" sz="1600" dirty="0"/>
          </a:p>
        </p:txBody>
      </p:sp>
      <p:sp>
        <p:nvSpPr>
          <p:cNvPr id="20" name="Text 18"/>
          <p:cNvSpPr txBox="1"/>
          <p:nvPr/>
        </p:nvSpPr>
        <p:spPr>
          <a:xfrm>
            <a:off x="1271016" y="4809744"/>
            <a:ext cx="10234879" cy="566928"/>
          </a:xfrm>
          <a:prstGeom prst="rect">
            <a:avLst/>
          </a:prstGeom>
          <a:noFill/>
          <a:ln/>
        </p:spPr>
        <p:txBody>
          <a:bodyPr wrap="square" lIns="0" tIns="0" rIns="0" bIns="0" rtlCol="0" anchor="t"/>
          <a:lstStyle/>
          <a:p>
            <a:pPr indent="0" marL="0">
              <a:buNone/>
            </a:pPr>
            <a:r>
              <a:rPr lang="en-US" sz="1350" dirty="0">
                <a:solidFill>
                  <a:srgbClr val="57534E"/>
                </a:solidFill>
                <a:latin typeface="Calibri" pitchFamily="34" charset="0"/>
                <a:ea typeface="Calibri" pitchFamily="34" charset="-122"/>
                <a:cs typeface="Calibri" pitchFamily="34" charset="-120"/>
              </a:rPr>
              <a:t>Switch between them without signing out and back in.</a:t>
            </a:r>
            <a:endParaRPr lang="en-US" sz="1350" dirty="0"/>
          </a:p>
        </p:txBody>
      </p:sp>
      <p:sp>
        <p:nvSpPr>
          <p:cNvPr id="21" name="Shape 19"/>
          <p:cNvSpPr/>
          <p:nvPr/>
        </p:nvSpPr>
        <p:spPr>
          <a:xfrm>
            <a:off x="685800" y="5440680"/>
            <a:ext cx="10820095" cy="868680"/>
          </a:xfrm>
          <a:prstGeom prst="roundRect">
            <a:avLst>
              <a:gd name="adj" fmla="val 8421"/>
            </a:avLst>
          </a:prstGeom>
          <a:solidFill>
            <a:srgbClr val="F4F8FA"/>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22" name="Text 20"/>
          <p:cNvSpPr txBox="1"/>
          <p:nvPr/>
        </p:nvSpPr>
        <p:spPr>
          <a:xfrm>
            <a:off x="960120" y="5495544"/>
            <a:ext cx="10271455" cy="758952"/>
          </a:xfrm>
          <a:prstGeom prst="rect">
            <a:avLst/>
          </a:prstGeom>
          <a:noFill/>
          <a:ln/>
        </p:spPr>
        <p:txBody>
          <a:bodyPr wrap="square" lIns="0" tIns="0" rIns="0" bIns="0" rtlCol="0" anchor="ctr"/>
          <a:lstStyle/>
          <a:p>
            <a:pPr indent="0" marL="0">
              <a:buNone/>
            </a:pPr>
            <a:r>
              <a:rPr lang="en-US" sz="1600" b="1" dirty="0">
                <a:solidFill>
                  <a:srgbClr val="E56B6F"/>
                </a:solidFill>
                <a:latin typeface="Calibri" pitchFamily="34" charset="0"/>
                <a:ea typeface="Calibri" pitchFamily="34" charset="-122"/>
                <a:cs typeface="Calibri" pitchFamily="34" charset="-120"/>
              </a:rPr>
              <a:t>We do not put passwords in email any more. Ever.</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9082735" cy="228600"/>
          </a:xfrm>
          <a:prstGeom prst="rect">
            <a:avLst/>
          </a:prstGeom>
          <a:noFill/>
          <a:ln/>
        </p:spPr>
        <p:txBody>
          <a:bodyPr wrap="square" lIns="0" tIns="0" rIns="0" bIns="0" rtlCol="0" anchor="ctr"/>
          <a:lstStyle/>
          <a:p>
            <a:pPr indent="0" marL="0">
              <a:buNone/>
            </a:pPr>
            <a:r>
              <a:rPr lang="en-US" sz="1100" b="1" spc="160" kern="0" dirty="0">
                <a:solidFill>
                  <a:srgbClr val="6D597A"/>
                </a:solidFill>
                <a:latin typeface="Calibri" pitchFamily="34" charset="0"/>
                <a:ea typeface="Calibri" pitchFamily="34" charset="-122"/>
                <a:cs typeface="Calibri" pitchFamily="34" charset="-120"/>
              </a:rPr>
              <a:t>THE TOOLKIT — RUNNING THE SURVEY</a:t>
            </a:r>
            <a:endParaRPr lang="en-US" sz="1100" dirty="0"/>
          </a:p>
        </p:txBody>
      </p:sp>
      <p:sp>
        <p:nvSpPr>
          <p:cNvPr id="3" name="Text 1"/>
          <p:cNvSpPr txBox="1"/>
          <p:nvPr/>
        </p:nvSpPr>
        <p:spPr>
          <a:xfrm>
            <a:off x="685800" y="713232"/>
            <a:ext cx="9082735" cy="777240"/>
          </a:xfrm>
          <a:prstGeom prst="rect">
            <a:avLst/>
          </a:prstGeom>
          <a:noFill/>
          <a:ln/>
        </p:spPr>
        <p:txBody>
          <a:bodyPr wrap="square" lIns="0" tIns="0" rIns="0" bIns="0" rtlCol="0" anchor="t"/>
          <a:lstStyle/>
          <a:p>
            <a:pPr indent="0" marL="0">
              <a:buNone/>
            </a:pPr>
            <a:r>
              <a:rPr lang="en-US" sz="3000" b="1" dirty="0">
                <a:solidFill>
                  <a:srgbClr val="355070"/>
                </a:solidFill>
                <a:latin typeface="Calibri" pitchFamily="34" charset="0"/>
                <a:ea typeface="Calibri" pitchFamily="34" charset="-122"/>
                <a:cs typeface="Calibri" pitchFamily="34" charset="-120"/>
              </a:rPr>
              <a:t>Giving the Committee the controls</a:t>
            </a:r>
            <a:endParaRPr lang="en-US" sz="3000" dirty="0"/>
          </a:p>
        </p:txBody>
      </p:sp>
      <p:sp>
        <p:nvSpPr>
          <p:cNvPr id="4" name="Text 2"/>
          <p:cNvSpPr txBox="1"/>
          <p:nvPr/>
        </p:nvSpPr>
        <p:spPr>
          <a:xfrm>
            <a:off x="10042855" y="493776"/>
            <a:ext cx="1463040" cy="274320"/>
          </a:xfrm>
          <a:prstGeom prst="rect">
            <a:avLst/>
          </a:prstGeom>
          <a:noFill/>
          <a:ln/>
        </p:spPr>
        <p:txBody>
          <a:bodyPr wrap="square" lIns="0" tIns="0" rIns="0" bIns="0" rtlCol="0" anchor="ctr"/>
          <a:lstStyle/>
          <a:p>
            <a:pPr algn="r" indent="0" marL="0">
              <a:buNone/>
            </a:pPr>
            <a:r>
              <a:rPr lang="en-US" sz="1100" dirty="0">
                <a:solidFill>
                  <a:srgbClr val="7A8BA0"/>
                </a:solidFill>
                <a:latin typeface="Calibri" pitchFamily="34" charset="0"/>
                <a:ea typeface="Calibri" pitchFamily="34" charset="-122"/>
                <a:cs typeface="Calibri" pitchFamily="34" charset="-120"/>
              </a:rPr>
              <a:t>Meng</a:t>
            </a:r>
            <a:endParaRPr lang="en-US" sz="1100" dirty="0"/>
          </a:p>
        </p:txBody>
      </p:sp>
      <p:sp>
        <p:nvSpPr>
          <p:cNvPr id="5" name="Text 3"/>
          <p:cNvSpPr txBox="1"/>
          <p:nvPr/>
        </p:nvSpPr>
        <p:spPr>
          <a:xfrm>
            <a:off x="685800" y="1481328"/>
            <a:ext cx="10820095" cy="292608"/>
          </a:xfrm>
          <a:prstGeom prst="rect">
            <a:avLst/>
          </a:prstGeom>
          <a:noFill/>
          <a:ln/>
        </p:spPr>
        <p:txBody>
          <a:bodyPr wrap="square" lIns="0" tIns="0" rIns="0" bIns="0" rtlCol="0" anchor="ctr"/>
          <a:lstStyle/>
          <a:p>
            <a:pPr indent="0" marL="0">
              <a:buNone/>
            </a:pPr>
            <a:r>
              <a:rPr lang="en-US" sz="1450" i="1" dirty="0">
                <a:solidFill>
                  <a:srgbClr val="6D597A"/>
                </a:solidFill>
                <a:latin typeface="Calibri" pitchFamily="34" charset="0"/>
                <a:ea typeface="Calibri" pitchFamily="34" charset="-122"/>
                <a:cs typeface="Calibri" pitchFamily="34" charset="-120"/>
              </a:rPr>
              <a:t>Every one of these used to require a developer. Now each is a page on the site.</a:t>
            </a:r>
            <a:endParaRPr lang="en-US" sz="1450" dirty="0"/>
          </a:p>
        </p:txBody>
      </p:sp>
      <p:sp>
        <p:nvSpPr>
          <p:cNvPr id="6" name="Shape 4"/>
          <p:cNvSpPr/>
          <p:nvPr/>
        </p:nvSpPr>
        <p:spPr>
          <a:xfrm>
            <a:off x="685800" y="1938528"/>
            <a:ext cx="3484778" cy="1371600"/>
          </a:xfrm>
          <a:prstGeom prst="roundRect">
            <a:avLst>
              <a:gd name="adj" fmla="val 5333"/>
            </a:avLst>
          </a:prstGeom>
          <a:solidFill>
            <a:srgbClr val="FFFFFF"/>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7" name="Text 5"/>
          <p:cNvSpPr txBox="1"/>
          <p:nvPr/>
        </p:nvSpPr>
        <p:spPr>
          <a:xfrm>
            <a:off x="905256" y="2121408"/>
            <a:ext cx="3045866" cy="329184"/>
          </a:xfrm>
          <a:prstGeom prst="rect">
            <a:avLst/>
          </a:prstGeom>
          <a:noFill/>
          <a:ln/>
        </p:spPr>
        <p:txBody>
          <a:bodyPr wrap="square" lIns="0" tIns="0" rIns="0" bIns="0" rtlCol="0" anchor="ctr"/>
          <a:lstStyle/>
          <a:p>
            <a:pPr indent="0" marL="0">
              <a:buNone/>
            </a:pPr>
            <a:r>
              <a:rPr lang="en-US" sz="1550" b="1" dirty="0">
                <a:solidFill>
                  <a:srgbClr val="355070"/>
                </a:solidFill>
                <a:latin typeface="Calibri" pitchFamily="34" charset="0"/>
                <a:ea typeface="Calibri" pitchFamily="34" charset="-122"/>
                <a:cs typeface="Calibri" pitchFamily="34" charset="-120"/>
              </a:rPr>
              <a:t>Set the dates</a:t>
            </a:r>
            <a:endParaRPr lang="en-US" sz="1550" dirty="0"/>
          </a:p>
        </p:txBody>
      </p:sp>
      <p:sp>
        <p:nvSpPr>
          <p:cNvPr id="8" name="Text 6"/>
          <p:cNvSpPr txBox="1"/>
          <p:nvPr/>
        </p:nvSpPr>
        <p:spPr>
          <a:xfrm>
            <a:off x="905256" y="2487168"/>
            <a:ext cx="3045866" cy="713232"/>
          </a:xfrm>
          <a:prstGeom prst="rect">
            <a:avLst/>
          </a:prstGeom>
          <a:noFill/>
          <a:ln/>
        </p:spPr>
        <p:txBody>
          <a:bodyPr wrap="square" lIns="0" tIns="0" rIns="0" bIns="0" rtlCol="0" anchor="t"/>
          <a:lstStyle/>
          <a:p>
            <a:pPr indent="0" marL="0">
              <a:buNone/>
            </a:pPr>
            <a:r>
              <a:rPr lang="en-US" sz="1300" dirty="0">
                <a:solidFill>
                  <a:srgbClr val="57534E"/>
                </a:solidFill>
                <a:latin typeface="Calibri" pitchFamily="34" charset="0"/>
                <a:ea typeface="Calibri" pitchFamily="34" charset="-122"/>
                <a:cs typeface="Calibri" pitchFamily="34" charset="-120"/>
              </a:rPr>
              <a:t>Opening, closing, fiscal year, publication — per year</a:t>
            </a:r>
            <a:endParaRPr lang="en-US" sz="1300" dirty="0"/>
          </a:p>
        </p:txBody>
      </p:sp>
      <p:sp>
        <p:nvSpPr>
          <p:cNvPr id="9" name="Shape 7"/>
          <p:cNvSpPr/>
          <p:nvPr/>
        </p:nvSpPr>
        <p:spPr>
          <a:xfrm>
            <a:off x="4353458" y="1938528"/>
            <a:ext cx="3484778" cy="1371600"/>
          </a:xfrm>
          <a:prstGeom prst="roundRect">
            <a:avLst>
              <a:gd name="adj" fmla="val 5333"/>
            </a:avLst>
          </a:prstGeom>
          <a:solidFill>
            <a:srgbClr val="FFFFFF"/>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10" name="Text 8"/>
          <p:cNvSpPr txBox="1"/>
          <p:nvPr/>
        </p:nvSpPr>
        <p:spPr>
          <a:xfrm>
            <a:off x="4572914" y="2121408"/>
            <a:ext cx="3045866" cy="329184"/>
          </a:xfrm>
          <a:prstGeom prst="rect">
            <a:avLst/>
          </a:prstGeom>
          <a:noFill/>
          <a:ln/>
        </p:spPr>
        <p:txBody>
          <a:bodyPr wrap="square" lIns="0" tIns="0" rIns="0" bIns="0" rtlCol="0" anchor="ctr"/>
          <a:lstStyle/>
          <a:p>
            <a:pPr indent="0" marL="0">
              <a:buNone/>
            </a:pPr>
            <a:r>
              <a:rPr lang="en-US" sz="1550" b="1" dirty="0">
                <a:solidFill>
                  <a:srgbClr val="355070"/>
                </a:solidFill>
                <a:latin typeface="Calibri" pitchFamily="34" charset="0"/>
                <a:ea typeface="Calibri" pitchFamily="34" charset="-122"/>
                <a:cs typeface="Calibri" pitchFamily="34" charset="-120"/>
              </a:rPr>
              <a:t>Open a new year</a:t>
            </a:r>
            <a:endParaRPr lang="en-US" sz="1550" dirty="0"/>
          </a:p>
        </p:txBody>
      </p:sp>
      <p:sp>
        <p:nvSpPr>
          <p:cNvPr id="11" name="Text 9"/>
          <p:cNvSpPr txBox="1"/>
          <p:nvPr/>
        </p:nvSpPr>
        <p:spPr>
          <a:xfrm>
            <a:off x="4572914" y="2487168"/>
            <a:ext cx="3045866" cy="713232"/>
          </a:xfrm>
          <a:prstGeom prst="rect">
            <a:avLst/>
          </a:prstGeom>
          <a:noFill/>
          <a:ln/>
        </p:spPr>
        <p:txBody>
          <a:bodyPr wrap="square" lIns="0" tIns="0" rIns="0" bIns="0" rtlCol="0" anchor="t"/>
          <a:lstStyle/>
          <a:p>
            <a:pPr indent="0" marL="0">
              <a:buNone/>
            </a:pPr>
            <a:r>
              <a:rPr lang="en-US" sz="1300" dirty="0">
                <a:solidFill>
                  <a:srgbClr val="57534E"/>
                </a:solidFill>
                <a:latin typeface="Calibri" pitchFamily="34" charset="0"/>
                <a:ea typeface="Calibri" pitchFamily="34" charset="-122"/>
                <a:cs typeface="Calibri" pitchFamily="34" charset="-120"/>
              </a:rPr>
              <a:t>Creates the year’s records for all 50 libraries at once</a:t>
            </a:r>
            <a:endParaRPr lang="en-US" sz="1300" dirty="0"/>
          </a:p>
        </p:txBody>
      </p:sp>
      <p:sp>
        <p:nvSpPr>
          <p:cNvPr id="12" name="Shape 10"/>
          <p:cNvSpPr/>
          <p:nvPr/>
        </p:nvSpPr>
        <p:spPr>
          <a:xfrm>
            <a:off x="8021117" y="1938528"/>
            <a:ext cx="3484778" cy="1371600"/>
          </a:xfrm>
          <a:prstGeom prst="roundRect">
            <a:avLst>
              <a:gd name="adj" fmla="val 5333"/>
            </a:avLst>
          </a:prstGeom>
          <a:solidFill>
            <a:srgbClr val="FFFFFF"/>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13" name="Text 11"/>
          <p:cNvSpPr txBox="1"/>
          <p:nvPr/>
        </p:nvSpPr>
        <p:spPr>
          <a:xfrm>
            <a:off x="8240573" y="2121408"/>
            <a:ext cx="3045866" cy="329184"/>
          </a:xfrm>
          <a:prstGeom prst="rect">
            <a:avLst/>
          </a:prstGeom>
          <a:noFill/>
          <a:ln/>
        </p:spPr>
        <p:txBody>
          <a:bodyPr wrap="square" lIns="0" tIns="0" rIns="0" bIns="0" rtlCol="0" anchor="ctr"/>
          <a:lstStyle/>
          <a:p>
            <a:pPr indent="0" marL="0">
              <a:buNone/>
            </a:pPr>
            <a:r>
              <a:rPr lang="en-US" sz="1550" b="1" dirty="0">
                <a:solidFill>
                  <a:srgbClr val="355070"/>
                </a:solidFill>
                <a:latin typeface="Calibri" pitchFamily="34" charset="0"/>
                <a:ea typeface="Calibri" pitchFamily="34" charset="-122"/>
                <a:cs typeface="Calibri" pitchFamily="34" charset="-120"/>
              </a:rPr>
              <a:t>Open or close right now</a:t>
            </a:r>
            <a:endParaRPr lang="en-US" sz="1550" dirty="0"/>
          </a:p>
        </p:txBody>
      </p:sp>
      <p:sp>
        <p:nvSpPr>
          <p:cNvPr id="14" name="Text 12"/>
          <p:cNvSpPr txBox="1"/>
          <p:nvPr/>
        </p:nvSpPr>
        <p:spPr>
          <a:xfrm>
            <a:off x="8240573" y="2487168"/>
            <a:ext cx="3045866" cy="713232"/>
          </a:xfrm>
          <a:prstGeom prst="rect">
            <a:avLst/>
          </a:prstGeom>
          <a:noFill/>
          <a:ln/>
        </p:spPr>
        <p:txBody>
          <a:bodyPr wrap="square" lIns="0" tIns="0" rIns="0" bIns="0" rtlCol="0" anchor="t"/>
          <a:lstStyle/>
          <a:p>
            <a:pPr indent="0" marL="0">
              <a:buNone/>
            </a:pPr>
            <a:r>
              <a:rPr lang="en-US" sz="1300" dirty="0">
                <a:solidFill>
                  <a:srgbClr val="57534E"/>
                </a:solidFill>
                <a:latin typeface="Calibri" pitchFamily="34" charset="0"/>
                <a:ea typeface="Calibri" pitchFamily="34" charset="-122"/>
                <a:cs typeface="Calibri" pitchFamily="34" charset="-120"/>
              </a:rPr>
              <a:t>An override for when the schedule slips</a:t>
            </a:r>
            <a:endParaRPr lang="en-US" sz="1300" dirty="0"/>
          </a:p>
        </p:txBody>
      </p:sp>
      <p:sp>
        <p:nvSpPr>
          <p:cNvPr id="15" name="Shape 13"/>
          <p:cNvSpPr/>
          <p:nvPr/>
        </p:nvSpPr>
        <p:spPr>
          <a:xfrm>
            <a:off x="685800" y="3511296"/>
            <a:ext cx="3484778" cy="1371600"/>
          </a:xfrm>
          <a:prstGeom prst="roundRect">
            <a:avLst>
              <a:gd name="adj" fmla="val 5333"/>
            </a:avLst>
          </a:prstGeom>
          <a:solidFill>
            <a:srgbClr val="FFFFFF"/>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16" name="Text 14"/>
          <p:cNvSpPr txBox="1"/>
          <p:nvPr/>
        </p:nvSpPr>
        <p:spPr>
          <a:xfrm>
            <a:off x="905256" y="3694176"/>
            <a:ext cx="3045866" cy="329184"/>
          </a:xfrm>
          <a:prstGeom prst="rect">
            <a:avLst/>
          </a:prstGeom>
          <a:noFill/>
          <a:ln/>
        </p:spPr>
        <p:txBody>
          <a:bodyPr wrap="square" lIns="0" tIns="0" rIns="0" bIns="0" rtlCol="0" anchor="ctr"/>
          <a:lstStyle/>
          <a:p>
            <a:pPr indent="0" marL="0">
              <a:buNone/>
            </a:pPr>
            <a:r>
              <a:rPr lang="en-US" sz="1550" b="1" dirty="0">
                <a:solidFill>
                  <a:srgbClr val="355070"/>
                </a:solidFill>
                <a:latin typeface="Calibri" pitchFamily="34" charset="0"/>
                <a:ea typeface="Calibri" pitchFamily="34" charset="-122"/>
                <a:cs typeface="Calibri" pitchFamily="34" charset="-120"/>
              </a:rPr>
              <a:t>Send the announcement</a:t>
            </a:r>
            <a:endParaRPr lang="en-US" sz="1550" dirty="0"/>
          </a:p>
        </p:txBody>
      </p:sp>
      <p:sp>
        <p:nvSpPr>
          <p:cNvPr id="17" name="Text 15"/>
          <p:cNvSpPr txBox="1"/>
          <p:nvPr/>
        </p:nvSpPr>
        <p:spPr>
          <a:xfrm>
            <a:off x="905256" y="4059936"/>
            <a:ext cx="3045866" cy="713232"/>
          </a:xfrm>
          <a:prstGeom prst="rect">
            <a:avLst/>
          </a:prstGeom>
          <a:noFill/>
          <a:ln/>
        </p:spPr>
        <p:txBody>
          <a:bodyPr wrap="square" lIns="0" tIns="0" rIns="0" bIns="0" rtlCol="0" anchor="t"/>
          <a:lstStyle/>
          <a:p>
            <a:pPr indent="0" marL="0">
              <a:buNone/>
            </a:pPr>
            <a:r>
              <a:rPr lang="en-US" sz="1300" dirty="0">
                <a:solidFill>
                  <a:srgbClr val="57534E"/>
                </a:solidFill>
                <a:latin typeface="Calibri" pitchFamily="34" charset="0"/>
                <a:ea typeface="Calibri" pitchFamily="34" charset="-122"/>
                <a:cs typeface="Calibri" pitchFamily="34" charset="-120"/>
              </a:rPr>
              <a:t>Preview it, confirm it, send now or schedule it</a:t>
            </a:r>
            <a:endParaRPr lang="en-US" sz="1300" dirty="0"/>
          </a:p>
        </p:txBody>
      </p:sp>
      <p:sp>
        <p:nvSpPr>
          <p:cNvPr id="18" name="Shape 16"/>
          <p:cNvSpPr/>
          <p:nvPr/>
        </p:nvSpPr>
        <p:spPr>
          <a:xfrm>
            <a:off x="4353458" y="3511296"/>
            <a:ext cx="3484778" cy="1371600"/>
          </a:xfrm>
          <a:prstGeom prst="roundRect">
            <a:avLst>
              <a:gd name="adj" fmla="val 5333"/>
            </a:avLst>
          </a:prstGeom>
          <a:solidFill>
            <a:srgbClr val="FFFFFF"/>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19" name="Text 17"/>
          <p:cNvSpPr txBox="1"/>
          <p:nvPr/>
        </p:nvSpPr>
        <p:spPr>
          <a:xfrm>
            <a:off x="4572914" y="3694176"/>
            <a:ext cx="3045866" cy="329184"/>
          </a:xfrm>
          <a:prstGeom prst="rect">
            <a:avLst/>
          </a:prstGeom>
          <a:noFill/>
          <a:ln/>
        </p:spPr>
        <p:txBody>
          <a:bodyPr wrap="square" lIns="0" tIns="0" rIns="0" bIns="0" rtlCol="0" anchor="ctr"/>
          <a:lstStyle/>
          <a:p>
            <a:pPr indent="0" marL="0">
              <a:buNone/>
            </a:pPr>
            <a:r>
              <a:rPr lang="en-US" sz="1550" b="1" dirty="0">
                <a:solidFill>
                  <a:srgbClr val="355070"/>
                </a:solidFill>
                <a:latin typeface="Calibri" pitchFamily="34" charset="0"/>
                <a:ea typeface="Calibri" pitchFamily="34" charset="-122"/>
                <a:cs typeface="Calibri" pitchFamily="34" charset="-120"/>
              </a:rPr>
              <a:t>Edit the wording</a:t>
            </a:r>
            <a:endParaRPr lang="en-US" sz="1550" dirty="0"/>
          </a:p>
        </p:txBody>
      </p:sp>
      <p:sp>
        <p:nvSpPr>
          <p:cNvPr id="20" name="Text 18"/>
          <p:cNvSpPr txBox="1"/>
          <p:nvPr/>
        </p:nvSpPr>
        <p:spPr>
          <a:xfrm>
            <a:off x="4572914" y="4059936"/>
            <a:ext cx="3045866" cy="713232"/>
          </a:xfrm>
          <a:prstGeom prst="rect">
            <a:avLst/>
          </a:prstGeom>
          <a:noFill/>
          <a:ln/>
        </p:spPr>
        <p:txBody>
          <a:bodyPr wrap="square" lIns="0" tIns="0" rIns="0" bIns="0" rtlCol="0" anchor="t"/>
          <a:lstStyle/>
          <a:p>
            <a:pPr indent="0" marL="0">
              <a:buNone/>
            </a:pPr>
            <a:r>
              <a:rPr lang="en-US" sz="1300" dirty="0">
                <a:solidFill>
                  <a:srgbClr val="57534E"/>
                </a:solidFill>
                <a:latin typeface="Calibri" pitchFamily="34" charset="0"/>
                <a:ea typeface="Calibri" pitchFamily="34" charset="-122"/>
                <a:cs typeface="Calibri" pitchFamily="34" charset="-120"/>
              </a:rPr>
              <a:t>Of every automatic message, in the browser</a:t>
            </a:r>
            <a:endParaRPr lang="en-US" sz="1300" dirty="0"/>
          </a:p>
        </p:txBody>
      </p:sp>
      <p:sp>
        <p:nvSpPr>
          <p:cNvPr id="21" name="Shape 19"/>
          <p:cNvSpPr/>
          <p:nvPr/>
        </p:nvSpPr>
        <p:spPr>
          <a:xfrm>
            <a:off x="8021117" y="3511296"/>
            <a:ext cx="3484778" cy="1371600"/>
          </a:xfrm>
          <a:prstGeom prst="roundRect">
            <a:avLst>
              <a:gd name="adj" fmla="val 5333"/>
            </a:avLst>
          </a:prstGeom>
          <a:solidFill>
            <a:srgbClr val="F4F8FA"/>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22" name="Text 20"/>
          <p:cNvSpPr txBox="1"/>
          <p:nvPr/>
        </p:nvSpPr>
        <p:spPr>
          <a:xfrm>
            <a:off x="8240573" y="3694176"/>
            <a:ext cx="3045866" cy="329184"/>
          </a:xfrm>
          <a:prstGeom prst="rect">
            <a:avLst/>
          </a:prstGeom>
          <a:noFill/>
          <a:ln/>
        </p:spPr>
        <p:txBody>
          <a:bodyPr wrap="square" lIns="0" tIns="0" rIns="0" bIns="0" rtlCol="0" anchor="ctr"/>
          <a:lstStyle/>
          <a:p>
            <a:pPr indent="0" marL="0">
              <a:buNone/>
            </a:pPr>
            <a:r>
              <a:rPr lang="en-US" sz="1550" b="1" dirty="0">
                <a:solidFill>
                  <a:srgbClr val="E56B6F"/>
                </a:solidFill>
                <a:latin typeface="Calibri" pitchFamily="34" charset="0"/>
                <a:ea typeface="Calibri" pitchFamily="34" charset="-122"/>
                <a:cs typeface="Calibri" pitchFamily="34" charset="-120"/>
              </a:rPr>
              <a:t>Email one person</a:t>
            </a:r>
            <a:endParaRPr lang="en-US" sz="1550" dirty="0"/>
          </a:p>
        </p:txBody>
      </p:sp>
      <p:sp>
        <p:nvSpPr>
          <p:cNvPr id="23" name="Text 21"/>
          <p:cNvSpPr txBox="1"/>
          <p:nvPr/>
        </p:nvSpPr>
        <p:spPr>
          <a:xfrm>
            <a:off x="8240573" y="4059936"/>
            <a:ext cx="3045866" cy="713232"/>
          </a:xfrm>
          <a:prstGeom prst="rect">
            <a:avLst/>
          </a:prstGeom>
          <a:noFill/>
          <a:ln/>
        </p:spPr>
        <p:txBody>
          <a:bodyPr wrap="square" lIns="0" tIns="0" rIns="0" bIns="0" rtlCol="0" anchor="t"/>
          <a:lstStyle/>
          <a:p>
            <a:pPr indent="0" marL="0">
              <a:buNone/>
            </a:pPr>
            <a:r>
              <a:rPr lang="en-US" sz="1300" dirty="0">
                <a:solidFill>
                  <a:srgbClr val="57534E"/>
                </a:solidFill>
                <a:latin typeface="Calibri" pitchFamily="34" charset="0"/>
                <a:ea typeface="Calibri" pitchFamily="34" charset="-122"/>
                <a:cs typeface="Calibri" pitchFamily="34" charset="-120"/>
              </a:rPr>
              <a:t>For the library that joined after the announcement went out</a:t>
            </a:r>
            <a:endParaRPr lang="en-US" sz="1300" dirty="0"/>
          </a:p>
        </p:txBody>
      </p:sp>
      <p:sp>
        <p:nvSpPr>
          <p:cNvPr id="24" name="Shape 22"/>
          <p:cNvSpPr/>
          <p:nvPr/>
        </p:nvSpPr>
        <p:spPr>
          <a:xfrm>
            <a:off x="685800" y="5257800"/>
            <a:ext cx="10820095" cy="868680"/>
          </a:xfrm>
          <a:prstGeom prst="roundRect">
            <a:avLst>
              <a:gd name="adj" fmla="val 8421"/>
            </a:avLst>
          </a:prstGeom>
          <a:solidFill>
            <a:srgbClr val="F4F8FA"/>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25" name="Text 23"/>
          <p:cNvSpPr txBox="1"/>
          <p:nvPr/>
        </p:nvSpPr>
        <p:spPr>
          <a:xfrm>
            <a:off x="960120" y="5312664"/>
            <a:ext cx="10271455" cy="758952"/>
          </a:xfrm>
          <a:prstGeom prst="rect">
            <a:avLst/>
          </a:prstGeom>
          <a:noFill/>
          <a:ln/>
        </p:spPr>
        <p:txBody>
          <a:bodyPr wrap="square" lIns="0" tIns="0" rIns="0" bIns="0" rtlCol="0" anchor="ctr"/>
          <a:lstStyle/>
          <a:p>
            <a:pPr indent="0" marL="0">
              <a:buNone/>
            </a:pPr>
            <a:r>
              <a:rPr lang="en-US" sz="1600" b="1" dirty="0">
                <a:solidFill>
                  <a:srgbClr val="E56B6F"/>
                </a:solidFill>
                <a:latin typeface="Calibri" pitchFamily="34" charset="0"/>
                <a:ea typeface="Calibri" pitchFamily="34" charset="-122"/>
                <a:cs typeface="Calibri" pitchFamily="34" charset="-120"/>
              </a:rPr>
              <a:t>A library joined mid-season and never got the announcement. Now the Chair sends them their own copy — one click.</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9082735" cy="228600"/>
          </a:xfrm>
          <a:prstGeom prst="rect">
            <a:avLst/>
          </a:prstGeom>
          <a:noFill/>
          <a:ln/>
        </p:spPr>
        <p:txBody>
          <a:bodyPr wrap="square" lIns="0" tIns="0" rIns="0" bIns="0" rtlCol="0" anchor="ctr"/>
          <a:lstStyle/>
          <a:p>
            <a:pPr indent="0" marL="0">
              <a:buNone/>
            </a:pPr>
            <a:r>
              <a:rPr lang="en-US" sz="1100" b="1" spc="160" kern="0" dirty="0">
                <a:solidFill>
                  <a:srgbClr val="6D597A"/>
                </a:solidFill>
                <a:latin typeface="Calibri" pitchFamily="34" charset="0"/>
                <a:ea typeface="Calibri" pitchFamily="34" charset="-122"/>
                <a:cs typeface="Calibri" pitchFamily="34" charset="-120"/>
              </a:rPr>
              <a:t>THE TOOLKIT — PART TWO</a:t>
            </a:r>
            <a:endParaRPr lang="en-US" sz="1100" dirty="0"/>
          </a:p>
        </p:txBody>
      </p:sp>
      <p:sp>
        <p:nvSpPr>
          <p:cNvPr id="3" name="Text 1"/>
          <p:cNvSpPr txBox="1"/>
          <p:nvPr/>
        </p:nvSpPr>
        <p:spPr>
          <a:xfrm>
            <a:off x="685800" y="713232"/>
            <a:ext cx="9082735" cy="777240"/>
          </a:xfrm>
          <a:prstGeom prst="rect">
            <a:avLst/>
          </a:prstGeom>
          <a:noFill/>
          <a:ln/>
        </p:spPr>
        <p:txBody>
          <a:bodyPr wrap="square" lIns="0" tIns="0" rIns="0" bIns="0" rtlCol="0" anchor="t"/>
          <a:lstStyle/>
          <a:p>
            <a:pPr indent="0" marL="0">
              <a:buNone/>
            </a:pPr>
            <a:r>
              <a:rPr lang="en-US" sz="3000" b="1" dirty="0">
                <a:solidFill>
                  <a:srgbClr val="355070"/>
                </a:solidFill>
                <a:latin typeface="Calibri" pitchFamily="34" charset="0"/>
                <a:ea typeface="Calibri" pitchFamily="34" charset="-122"/>
                <a:cs typeface="Calibri" pitchFamily="34" charset="-120"/>
              </a:rPr>
              <a:t>People, data, publication</a:t>
            </a:r>
            <a:endParaRPr lang="en-US" sz="3000" dirty="0"/>
          </a:p>
        </p:txBody>
      </p:sp>
      <p:sp>
        <p:nvSpPr>
          <p:cNvPr id="4" name="Text 2"/>
          <p:cNvSpPr txBox="1"/>
          <p:nvPr/>
        </p:nvSpPr>
        <p:spPr>
          <a:xfrm>
            <a:off x="10042855" y="493776"/>
            <a:ext cx="1463040" cy="274320"/>
          </a:xfrm>
          <a:prstGeom prst="rect">
            <a:avLst/>
          </a:prstGeom>
          <a:noFill/>
          <a:ln/>
        </p:spPr>
        <p:txBody>
          <a:bodyPr wrap="square" lIns="0" tIns="0" rIns="0" bIns="0" rtlCol="0" anchor="ctr"/>
          <a:lstStyle/>
          <a:p>
            <a:pPr algn="r" indent="0" marL="0">
              <a:buNone/>
            </a:pPr>
            <a:r>
              <a:rPr lang="en-US" sz="1100" dirty="0">
                <a:solidFill>
                  <a:srgbClr val="7A8BA0"/>
                </a:solidFill>
                <a:latin typeface="Calibri" pitchFamily="34" charset="0"/>
                <a:ea typeface="Calibri" pitchFamily="34" charset="-122"/>
                <a:cs typeface="Calibri" pitchFamily="34" charset="-120"/>
              </a:rPr>
              <a:t>Meng</a:t>
            </a:r>
            <a:endParaRPr lang="en-US" sz="1100" dirty="0"/>
          </a:p>
        </p:txBody>
      </p:sp>
      <p:sp>
        <p:nvSpPr>
          <p:cNvPr id="5" name="Shape 3"/>
          <p:cNvSpPr/>
          <p:nvPr/>
        </p:nvSpPr>
        <p:spPr>
          <a:xfrm>
            <a:off x="685800" y="1645920"/>
            <a:ext cx="384048" cy="384048"/>
          </a:xfrm>
          <a:prstGeom prst="ellipse">
            <a:avLst/>
          </a:prstGeom>
          <a:solidFill>
            <a:srgbClr val="355070"/>
          </a:solidFill>
          <a:ln w="12700">
            <a:solidFill>
              <a:srgbClr val="355070"/>
            </a:solidFill>
            <a:prstDash val="solid"/>
          </a:ln>
        </p:spPr>
      </p:sp>
      <p:sp>
        <p:nvSpPr>
          <p:cNvPr id="6" name="Text 4"/>
          <p:cNvSpPr txBox="1"/>
          <p:nvPr/>
        </p:nvSpPr>
        <p:spPr>
          <a:xfrm>
            <a:off x="685800" y="1645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271016" y="1627632"/>
            <a:ext cx="4535424" cy="292608"/>
          </a:xfrm>
          <a:prstGeom prst="rect">
            <a:avLst/>
          </a:prstGeom>
          <a:noFill/>
          <a:ln/>
        </p:spPr>
        <p:txBody>
          <a:bodyPr wrap="square" lIns="0" tIns="0" rIns="0" bIns="0" rtlCol="0" anchor="ctr"/>
          <a:lstStyle/>
          <a:p>
            <a:pPr indent="0" marL="0">
              <a:buNone/>
            </a:pPr>
            <a:r>
              <a:rPr lang="en-US" sz="1600" b="1" dirty="0">
                <a:solidFill>
                  <a:srgbClr val="355070"/>
                </a:solidFill>
                <a:latin typeface="Calibri" pitchFamily="34" charset="0"/>
                <a:ea typeface="Calibri" pitchFamily="34" charset="-122"/>
                <a:cs typeface="Calibri" pitchFamily="34" charset="-120"/>
              </a:rPr>
              <a:t>People</a:t>
            </a:r>
            <a:endParaRPr lang="en-US" sz="1600" dirty="0"/>
          </a:p>
        </p:txBody>
      </p:sp>
      <p:sp>
        <p:nvSpPr>
          <p:cNvPr id="8" name="Text 6"/>
          <p:cNvSpPr txBox="1"/>
          <p:nvPr/>
        </p:nvSpPr>
        <p:spPr>
          <a:xfrm>
            <a:off x="1271016" y="1929384"/>
            <a:ext cx="4535424" cy="566928"/>
          </a:xfrm>
          <a:prstGeom prst="rect">
            <a:avLst/>
          </a:prstGeom>
          <a:noFill/>
          <a:ln/>
        </p:spPr>
        <p:txBody>
          <a:bodyPr wrap="square" lIns="0" tIns="0" rIns="0" bIns="0" rtlCol="0" anchor="t"/>
          <a:lstStyle/>
          <a:p>
            <a:pPr indent="0" marL="0">
              <a:buNone/>
            </a:pPr>
            <a:r>
              <a:rPr lang="en-US" sz="1350" dirty="0">
                <a:solidFill>
                  <a:srgbClr val="57534E"/>
                </a:solidFill>
                <a:latin typeface="Calibri" pitchFamily="34" charset="0"/>
                <a:ea typeface="Calibri" pitchFamily="34" charset="-122"/>
                <a:cs typeface="Calibri" pitchFamily="34" charset="-120"/>
              </a:rPr>
              <a:t>Search, reassign, change roles, export the whole roster</a:t>
            </a:r>
            <a:endParaRPr lang="en-US" sz="1350" dirty="0"/>
          </a:p>
        </p:txBody>
      </p:sp>
      <p:sp>
        <p:nvSpPr>
          <p:cNvPr id="9" name="Shape 7"/>
          <p:cNvSpPr/>
          <p:nvPr/>
        </p:nvSpPr>
        <p:spPr>
          <a:xfrm>
            <a:off x="685800" y="2606040"/>
            <a:ext cx="384048" cy="384048"/>
          </a:xfrm>
          <a:prstGeom prst="ellipse">
            <a:avLst/>
          </a:prstGeom>
          <a:solidFill>
            <a:srgbClr val="355070"/>
          </a:solidFill>
          <a:ln w="12700">
            <a:solidFill>
              <a:srgbClr val="355070"/>
            </a:solidFill>
            <a:prstDash val="solid"/>
          </a:ln>
        </p:spPr>
      </p:sp>
      <p:sp>
        <p:nvSpPr>
          <p:cNvPr id="10" name="Text 8"/>
          <p:cNvSpPr txBox="1"/>
          <p:nvPr/>
        </p:nvSpPr>
        <p:spPr>
          <a:xfrm>
            <a:off x="685800" y="2606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271016" y="2587752"/>
            <a:ext cx="4535424" cy="292608"/>
          </a:xfrm>
          <a:prstGeom prst="rect">
            <a:avLst/>
          </a:prstGeom>
          <a:noFill/>
          <a:ln/>
        </p:spPr>
        <p:txBody>
          <a:bodyPr wrap="square" lIns="0" tIns="0" rIns="0" bIns="0" rtlCol="0" anchor="ctr"/>
          <a:lstStyle/>
          <a:p>
            <a:pPr indent="0" marL="0">
              <a:buNone/>
            </a:pPr>
            <a:r>
              <a:rPr lang="en-US" sz="1600" b="1" dirty="0">
                <a:solidFill>
                  <a:srgbClr val="355070"/>
                </a:solidFill>
                <a:latin typeface="Calibri" pitchFamily="34" charset="0"/>
                <a:ea typeface="Calibri" pitchFamily="34" charset="-122"/>
                <a:cs typeface="Calibri" pitchFamily="34" charset="-120"/>
              </a:rPr>
              <a:t>Add a library</a:t>
            </a:r>
            <a:endParaRPr lang="en-US" sz="1600" dirty="0"/>
          </a:p>
        </p:txBody>
      </p:sp>
      <p:sp>
        <p:nvSpPr>
          <p:cNvPr id="12" name="Text 10"/>
          <p:cNvSpPr txBox="1"/>
          <p:nvPr/>
        </p:nvSpPr>
        <p:spPr>
          <a:xfrm>
            <a:off x="1271016" y="2889504"/>
            <a:ext cx="4535424" cy="566928"/>
          </a:xfrm>
          <a:prstGeom prst="rect">
            <a:avLst/>
          </a:prstGeom>
          <a:noFill/>
          <a:ln/>
        </p:spPr>
        <p:txBody>
          <a:bodyPr wrap="square" lIns="0" tIns="0" rIns="0" bIns="0" rtlCol="0" anchor="t"/>
          <a:lstStyle/>
          <a:p>
            <a:pPr indent="0" marL="0">
              <a:buNone/>
            </a:pPr>
            <a:r>
              <a:rPr lang="en-US" sz="1350" dirty="0">
                <a:solidFill>
                  <a:srgbClr val="57534E"/>
                </a:solidFill>
                <a:latin typeface="Calibri" pitchFamily="34" charset="0"/>
                <a:ea typeface="Calibri" pitchFamily="34" charset="-122"/>
                <a:cs typeface="Calibri" pitchFamily="34" charset="-120"/>
              </a:rPr>
              <a:t>A guided six-step form — no database access needed</a:t>
            </a:r>
            <a:endParaRPr lang="en-US" sz="1350" dirty="0"/>
          </a:p>
        </p:txBody>
      </p:sp>
      <p:sp>
        <p:nvSpPr>
          <p:cNvPr id="13" name="Shape 11"/>
          <p:cNvSpPr/>
          <p:nvPr/>
        </p:nvSpPr>
        <p:spPr>
          <a:xfrm>
            <a:off x="685800" y="3566160"/>
            <a:ext cx="384048" cy="384048"/>
          </a:xfrm>
          <a:prstGeom prst="ellipse">
            <a:avLst/>
          </a:prstGeom>
          <a:solidFill>
            <a:srgbClr val="355070"/>
          </a:solidFill>
          <a:ln w="12700">
            <a:solidFill>
              <a:srgbClr val="355070"/>
            </a:solidFill>
            <a:prstDash val="solid"/>
          </a:ln>
        </p:spPr>
      </p:sp>
      <p:sp>
        <p:nvSpPr>
          <p:cNvPr id="14" name="Text 12"/>
          <p:cNvSpPr txBox="1"/>
          <p:nvPr/>
        </p:nvSpPr>
        <p:spPr>
          <a:xfrm>
            <a:off x="685800" y="35661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txBox="1"/>
          <p:nvPr/>
        </p:nvSpPr>
        <p:spPr>
          <a:xfrm>
            <a:off x="1271016" y="3547872"/>
            <a:ext cx="4535424" cy="292608"/>
          </a:xfrm>
          <a:prstGeom prst="rect">
            <a:avLst/>
          </a:prstGeom>
          <a:noFill/>
          <a:ln/>
        </p:spPr>
        <p:txBody>
          <a:bodyPr wrap="square" lIns="0" tIns="0" rIns="0" bIns="0" rtlCol="0" anchor="ctr"/>
          <a:lstStyle/>
          <a:p>
            <a:pPr indent="0" marL="0">
              <a:buNone/>
            </a:pPr>
            <a:r>
              <a:rPr lang="en-US" sz="1600" b="1" dirty="0">
                <a:solidFill>
                  <a:srgbClr val="355070"/>
                </a:solidFill>
                <a:latin typeface="Calibri" pitchFamily="34" charset="0"/>
                <a:ea typeface="Calibri" pitchFamily="34" charset="-122"/>
                <a:cs typeface="Calibri" pitchFamily="34" charset="-120"/>
              </a:rPr>
              <a:t>Who has submitted</a:t>
            </a:r>
            <a:endParaRPr lang="en-US" sz="1600" dirty="0"/>
          </a:p>
        </p:txBody>
      </p:sp>
      <p:sp>
        <p:nvSpPr>
          <p:cNvPr id="16" name="Text 14"/>
          <p:cNvSpPr txBox="1"/>
          <p:nvPr/>
        </p:nvSpPr>
        <p:spPr>
          <a:xfrm>
            <a:off x="1271016" y="3849624"/>
            <a:ext cx="4535424" cy="566928"/>
          </a:xfrm>
          <a:prstGeom prst="rect">
            <a:avLst/>
          </a:prstGeom>
          <a:noFill/>
          <a:ln/>
        </p:spPr>
        <p:txBody>
          <a:bodyPr wrap="square" lIns="0" tIns="0" rIns="0" bIns="0" rtlCol="0" anchor="t"/>
          <a:lstStyle/>
          <a:p>
            <a:pPr indent="0" marL="0">
              <a:buNone/>
            </a:pPr>
            <a:r>
              <a:rPr lang="en-US" sz="1350" dirty="0">
                <a:solidFill>
                  <a:srgbClr val="57534E"/>
                </a:solidFill>
                <a:latin typeface="Calibri" pitchFamily="34" charset="0"/>
                <a:ea typeface="Calibri" pitchFamily="34" charset="-122"/>
                <a:cs typeface="Calibri" pitchFamily="34" charset="-120"/>
              </a:rPr>
              <a:t>For any year, at a glance</a:t>
            </a:r>
            <a:endParaRPr lang="en-US" sz="1350" dirty="0"/>
          </a:p>
        </p:txBody>
      </p:sp>
      <p:sp>
        <p:nvSpPr>
          <p:cNvPr id="17" name="Shape 15"/>
          <p:cNvSpPr/>
          <p:nvPr/>
        </p:nvSpPr>
        <p:spPr>
          <a:xfrm>
            <a:off x="6382512" y="1645920"/>
            <a:ext cx="384048" cy="384048"/>
          </a:xfrm>
          <a:prstGeom prst="ellipse">
            <a:avLst/>
          </a:prstGeom>
          <a:solidFill>
            <a:srgbClr val="6D597A"/>
          </a:solidFill>
          <a:ln w="12700">
            <a:solidFill>
              <a:srgbClr val="6D597A"/>
            </a:solidFill>
            <a:prstDash val="solid"/>
          </a:ln>
        </p:spPr>
      </p:sp>
      <p:sp>
        <p:nvSpPr>
          <p:cNvPr id="18" name="Text 16"/>
          <p:cNvSpPr txBox="1"/>
          <p:nvPr/>
        </p:nvSpPr>
        <p:spPr>
          <a:xfrm>
            <a:off x="6382512" y="1645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9" name="Text 17"/>
          <p:cNvSpPr txBox="1"/>
          <p:nvPr/>
        </p:nvSpPr>
        <p:spPr>
          <a:xfrm>
            <a:off x="6967728" y="1627632"/>
            <a:ext cx="4544568" cy="292608"/>
          </a:xfrm>
          <a:prstGeom prst="rect">
            <a:avLst/>
          </a:prstGeom>
          <a:noFill/>
          <a:ln/>
        </p:spPr>
        <p:txBody>
          <a:bodyPr wrap="square" lIns="0" tIns="0" rIns="0" bIns="0" rtlCol="0" anchor="ctr"/>
          <a:lstStyle/>
          <a:p>
            <a:pPr indent="0" marL="0">
              <a:buNone/>
            </a:pPr>
            <a:r>
              <a:rPr lang="en-US" sz="1600" b="1" dirty="0">
                <a:solidFill>
                  <a:srgbClr val="355070"/>
                </a:solidFill>
                <a:latin typeface="Calibri" pitchFamily="34" charset="0"/>
                <a:ea typeface="Calibri" pitchFamily="34" charset="-122"/>
                <a:cs typeface="Calibri" pitchFamily="34" charset="-120"/>
              </a:rPr>
              <a:t>Year-end reports</a:t>
            </a:r>
            <a:endParaRPr lang="en-US" sz="1600" dirty="0"/>
          </a:p>
        </p:txBody>
      </p:sp>
      <p:sp>
        <p:nvSpPr>
          <p:cNvPr id="20" name="Text 18"/>
          <p:cNvSpPr txBox="1"/>
          <p:nvPr/>
        </p:nvSpPr>
        <p:spPr>
          <a:xfrm>
            <a:off x="6967728" y="1929384"/>
            <a:ext cx="4544568" cy="566928"/>
          </a:xfrm>
          <a:prstGeom prst="rect">
            <a:avLst/>
          </a:prstGeom>
          <a:noFill/>
          <a:ln/>
        </p:spPr>
        <p:txBody>
          <a:bodyPr wrap="square" lIns="0" tIns="0" rIns="0" bIns="0" rtlCol="0" anchor="t"/>
          <a:lstStyle/>
          <a:p>
            <a:pPr indent="0" marL="0">
              <a:buNone/>
            </a:pPr>
            <a:r>
              <a:rPr lang="en-US" sz="1350" dirty="0">
                <a:solidFill>
                  <a:srgbClr val="57534E"/>
                </a:solidFill>
                <a:latin typeface="Calibri" pitchFamily="34" charset="0"/>
                <a:ea typeface="Calibri" pitchFamily="34" charset="-122"/>
                <a:cs typeface="Calibri" pitchFamily="34" charset="-120"/>
              </a:rPr>
              <a:t>Excel, Word, PDF — or every library in one download</a:t>
            </a:r>
            <a:endParaRPr lang="en-US" sz="1350" dirty="0"/>
          </a:p>
        </p:txBody>
      </p:sp>
      <p:sp>
        <p:nvSpPr>
          <p:cNvPr id="21" name="Shape 19"/>
          <p:cNvSpPr/>
          <p:nvPr/>
        </p:nvSpPr>
        <p:spPr>
          <a:xfrm>
            <a:off x="6382512" y="2606040"/>
            <a:ext cx="384048" cy="384048"/>
          </a:xfrm>
          <a:prstGeom prst="ellipse">
            <a:avLst/>
          </a:prstGeom>
          <a:solidFill>
            <a:srgbClr val="6D597A"/>
          </a:solidFill>
          <a:ln w="12700">
            <a:solidFill>
              <a:srgbClr val="6D597A"/>
            </a:solidFill>
            <a:prstDash val="solid"/>
          </a:ln>
        </p:spPr>
      </p:sp>
      <p:sp>
        <p:nvSpPr>
          <p:cNvPr id="22" name="Text 20"/>
          <p:cNvSpPr txBox="1"/>
          <p:nvPr/>
        </p:nvSpPr>
        <p:spPr>
          <a:xfrm>
            <a:off x="6382512" y="2606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3" name="Text 21"/>
          <p:cNvSpPr txBox="1"/>
          <p:nvPr/>
        </p:nvSpPr>
        <p:spPr>
          <a:xfrm>
            <a:off x="6967728" y="2587752"/>
            <a:ext cx="4544568" cy="292608"/>
          </a:xfrm>
          <a:prstGeom prst="rect">
            <a:avLst/>
          </a:prstGeom>
          <a:noFill/>
          <a:ln/>
        </p:spPr>
        <p:txBody>
          <a:bodyPr wrap="square" lIns="0" tIns="0" rIns="0" bIns="0" rtlCol="0" anchor="ctr"/>
          <a:lstStyle/>
          <a:p>
            <a:pPr indent="0" marL="0">
              <a:buNone/>
            </a:pPr>
            <a:r>
              <a:rPr lang="en-US" sz="1600" b="1" dirty="0">
                <a:solidFill>
                  <a:srgbClr val="355070"/>
                </a:solidFill>
                <a:latin typeface="Calibri" pitchFamily="34" charset="0"/>
                <a:ea typeface="Calibri" pitchFamily="34" charset="-122"/>
                <a:cs typeface="Calibri" pitchFamily="34" charset="-120"/>
              </a:rPr>
              <a:t>Published reports</a:t>
            </a:r>
            <a:endParaRPr lang="en-US" sz="1600" dirty="0"/>
          </a:p>
        </p:txBody>
      </p:sp>
      <p:sp>
        <p:nvSpPr>
          <p:cNvPr id="24" name="Text 22"/>
          <p:cNvSpPr txBox="1"/>
          <p:nvPr/>
        </p:nvSpPr>
        <p:spPr>
          <a:xfrm>
            <a:off x="6967728" y="2889504"/>
            <a:ext cx="4544568" cy="566928"/>
          </a:xfrm>
          <a:prstGeom prst="rect">
            <a:avLst/>
          </a:prstGeom>
          <a:noFill/>
          <a:ln/>
        </p:spPr>
        <p:txBody>
          <a:bodyPr wrap="square" lIns="0" tIns="0" rIns="0" bIns="0" rtlCol="0" anchor="t"/>
          <a:lstStyle/>
          <a:p>
            <a:pPr indent="0" marL="0">
              <a:buNone/>
            </a:pPr>
            <a:r>
              <a:rPr lang="en-US" sz="1350" dirty="0">
                <a:solidFill>
                  <a:srgbClr val="57534E"/>
                </a:solidFill>
                <a:latin typeface="Calibri" pitchFamily="34" charset="0"/>
                <a:ea typeface="Calibri" pitchFamily="34" charset="-122"/>
                <a:cs typeface="Calibri" pitchFamily="34" charset="-120"/>
              </a:rPr>
              <a:t>Upload the PDF; the public page updates immediately</a:t>
            </a:r>
            <a:endParaRPr lang="en-US" sz="1350" dirty="0"/>
          </a:p>
        </p:txBody>
      </p:sp>
      <p:sp>
        <p:nvSpPr>
          <p:cNvPr id="25" name="Shape 23"/>
          <p:cNvSpPr/>
          <p:nvPr/>
        </p:nvSpPr>
        <p:spPr>
          <a:xfrm>
            <a:off x="6382512" y="3566160"/>
            <a:ext cx="384048" cy="384048"/>
          </a:xfrm>
          <a:prstGeom prst="ellipse">
            <a:avLst/>
          </a:prstGeom>
          <a:solidFill>
            <a:srgbClr val="6D597A"/>
          </a:solidFill>
          <a:ln w="12700">
            <a:solidFill>
              <a:srgbClr val="6D597A"/>
            </a:solidFill>
            <a:prstDash val="solid"/>
          </a:ln>
        </p:spPr>
      </p:sp>
      <p:sp>
        <p:nvSpPr>
          <p:cNvPr id="26" name="Text 24"/>
          <p:cNvSpPr txBox="1"/>
          <p:nvPr/>
        </p:nvSpPr>
        <p:spPr>
          <a:xfrm>
            <a:off x="6382512" y="35661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7" name="Text 25"/>
          <p:cNvSpPr txBox="1"/>
          <p:nvPr/>
        </p:nvSpPr>
        <p:spPr>
          <a:xfrm>
            <a:off x="6967728" y="3547872"/>
            <a:ext cx="4544568" cy="292608"/>
          </a:xfrm>
          <a:prstGeom prst="rect">
            <a:avLst/>
          </a:prstGeom>
          <a:noFill/>
          <a:ln/>
        </p:spPr>
        <p:txBody>
          <a:bodyPr wrap="square" lIns="0" tIns="0" rIns="0" bIns="0" rtlCol="0" anchor="ctr"/>
          <a:lstStyle/>
          <a:p>
            <a:pPr indent="0" marL="0">
              <a:buNone/>
            </a:pPr>
            <a:r>
              <a:rPr lang="en-US" sz="1600" b="1" dirty="0">
                <a:solidFill>
                  <a:srgbClr val="355070"/>
                </a:solidFill>
                <a:latin typeface="Calibri" pitchFamily="34" charset="0"/>
                <a:ea typeface="Calibri" pitchFamily="34" charset="-122"/>
                <a:cs typeface="Calibri" pitchFamily="34" charset="-120"/>
              </a:rPr>
              <a:t>Rankings back to 1970</a:t>
            </a:r>
            <a:endParaRPr lang="en-US" sz="1600" dirty="0"/>
          </a:p>
        </p:txBody>
      </p:sp>
      <p:sp>
        <p:nvSpPr>
          <p:cNvPr id="28" name="Text 26"/>
          <p:cNvSpPr txBox="1"/>
          <p:nvPr/>
        </p:nvSpPr>
        <p:spPr>
          <a:xfrm>
            <a:off x="6967728" y="3849624"/>
            <a:ext cx="4544568" cy="566928"/>
          </a:xfrm>
          <a:prstGeom prst="rect">
            <a:avLst/>
          </a:prstGeom>
          <a:noFill/>
          <a:ln/>
        </p:spPr>
        <p:txBody>
          <a:bodyPr wrap="square" lIns="0" tIns="0" rIns="0" bIns="0" rtlCol="0" anchor="t"/>
          <a:lstStyle/>
          <a:p>
            <a:pPr indent="0" marL="0">
              <a:buNone/>
            </a:pPr>
            <a:r>
              <a:rPr lang="en-US" sz="1350" dirty="0">
                <a:solidFill>
                  <a:srgbClr val="57534E"/>
                </a:solidFill>
                <a:latin typeface="Calibri" pitchFamily="34" charset="0"/>
                <a:ea typeface="Calibri" pitchFamily="34" charset="-122"/>
                <a:cs typeface="Calibri" pitchFamily="34" charset="-120"/>
              </a:rPr>
              <a:t>Click any measure for the full list</a:t>
            </a:r>
            <a:endParaRPr lang="en-US" sz="1350" dirty="0"/>
          </a:p>
        </p:txBody>
      </p:sp>
      <p:sp>
        <p:nvSpPr>
          <p:cNvPr id="29" name="Shape 27"/>
          <p:cNvSpPr/>
          <p:nvPr/>
        </p:nvSpPr>
        <p:spPr>
          <a:xfrm>
            <a:off x="685800" y="4709160"/>
            <a:ext cx="10820095" cy="1371600"/>
          </a:xfrm>
          <a:prstGeom prst="roundRect">
            <a:avLst>
              <a:gd name="adj" fmla="val 5333"/>
            </a:avLst>
          </a:prstGeom>
          <a:solidFill>
            <a:srgbClr val="F4F8FA"/>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30" name="Text 28"/>
          <p:cNvSpPr txBox="1"/>
          <p:nvPr/>
        </p:nvSpPr>
        <p:spPr>
          <a:xfrm>
            <a:off x="1005840" y="4864608"/>
            <a:ext cx="10180015" cy="310896"/>
          </a:xfrm>
          <a:prstGeom prst="rect">
            <a:avLst/>
          </a:prstGeom>
          <a:noFill/>
          <a:ln/>
        </p:spPr>
        <p:txBody>
          <a:bodyPr wrap="square" lIns="0" tIns="0" rIns="0" bIns="0" rtlCol="0" anchor="ctr"/>
          <a:lstStyle/>
          <a:p>
            <a:pPr indent="0" marL="0">
              <a:buNone/>
            </a:pPr>
            <a:r>
              <a:rPr lang="en-US" sz="1700" b="1" dirty="0">
                <a:solidFill>
                  <a:srgbClr val="E56B6F"/>
                </a:solidFill>
                <a:latin typeface="Calibri" pitchFamily="34" charset="0"/>
                <a:ea typeface="Calibri" pitchFamily="34" charset="-122"/>
                <a:cs typeface="Calibri" pitchFamily="34" charset="-120"/>
              </a:rPr>
              <a:t>A record of every change</a:t>
            </a:r>
            <a:endParaRPr lang="en-US" sz="1700" dirty="0"/>
          </a:p>
        </p:txBody>
      </p:sp>
      <p:sp>
        <p:nvSpPr>
          <p:cNvPr id="31" name="Text 29"/>
          <p:cNvSpPr txBox="1"/>
          <p:nvPr/>
        </p:nvSpPr>
        <p:spPr>
          <a:xfrm>
            <a:off x="1005840" y="5212080"/>
            <a:ext cx="10180015" cy="713232"/>
          </a:xfrm>
          <a:prstGeom prst="rect">
            <a:avLst/>
          </a:prstGeom>
          <a:noFill/>
          <a:ln/>
        </p:spPr>
        <p:txBody>
          <a:bodyPr wrap="square" lIns="0" tIns="0" rIns="0" bIns="0" rtlCol="0" anchor="t"/>
          <a:lstStyle/>
          <a:p>
            <a:pPr indent="0" marL="0">
              <a:buNone/>
            </a:pPr>
            <a:r>
              <a:rPr lang="en-US" sz="1450" dirty="0">
                <a:solidFill>
                  <a:srgbClr val="355070"/>
                </a:solidFill>
                <a:latin typeface="Calibri" pitchFamily="34" charset="0"/>
                <a:ea typeface="Calibri" pitchFamily="34" charset="-122"/>
                <a:cs typeface="Calibri" pitchFamily="34" charset="-120"/>
              </a:rPr>
              <a:t>Who made it, when, and what the value was before. If a published number is ever questioned, we can show you exactly where it came from and who touched it.</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9082735" cy="228600"/>
          </a:xfrm>
          <a:prstGeom prst="rect">
            <a:avLst/>
          </a:prstGeom>
          <a:noFill/>
          <a:ln/>
        </p:spPr>
        <p:txBody>
          <a:bodyPr wrap="square" lIns="0" tIns="0" rIns="0" bIns="0" rtlCol="0" anchor="ctr"/>
          <a:lstStyle/>
          <a:p>
            <a:pPr indent="0" marL="0">
              <a:buNone/>
            </a:pPr>
            <a:r>
              <a:rPr lang="en-US" sz="1100" b="1" spc="160" kern="0" dirty="0">
                <a:solidFill>
                  <a:srgbClr val="6D597A"/>
                </a:solidFill>
                <a:latin typeface="Calibri" pitchFamily="34" charset="0"/>
                <a:ea typeface="Calibri" pitchFamily="34" charset="-122"/>
                <a:cs typeface="Calibri" pitchFamily="34" charset="-120"/>
              </a:rPr>
              <a:t>DESIGN, LANGUAGE, HELP</a:t>
            </a:r>
            <a:endParaRPr lang="en-US" sz="1100" dirty="0"/>
          </a:p>
        </p:txBody>
      </p:sp>
      <p:sp>
        <p:nvSpPr>
          <p:cNvPr id="3" name="Text 1"/>
          <p:cNvSpPr txBox="1"/>
          <p:nvPr/>
        </p:nvSpPr>
        <p:spPr>
          <a:xfrm>
            <a:off x="685800" y="713232"/>
            <a:ext cx="9082735" cy="777240"/>
          </a:xfrm>
          <a:prstGeom prst="rect">
            <a:avLst/>
          </a:prstGeom>
          <a:noFill/>
          <a:ln/>
        </p:spPr>
        <p:txBody>
          <a:bodyPr wrap="square" lIns="0" tIns="0" rIns="0" bIns="0" rtlCol="0" anchor="t"/>
          <a:lstStyle/>
          <a:p>
            <a:pPr indent="0" marL="0">
              <a:buNone/>
            </a:pPr>
            <a:r>
              <a:rPr lang="en-US" sz="3000" b="1" dirty="0">
                <a:solidFill>
                  <a:srgbClr val="355070"/>
                </a:solidFill>
                <a:latin typeface="Calibri" pitchFamily="34" charset="0"/>
                <a:ea typeface="Calibri" pitchFamily="34" charset="-122"/>
                <a:cs typeface="Calibri" pitchFamily="34" charset="-120"/>
              </a:rPr>
              <a:t>How it looks, and who it reads for</a:t>
            </a:r>
            <a:endParaRPr lang="en-US" sz="3000" dirty="0"/>
          </a:p>
        </p:txBody>
      </p:sp>
      <p:sp>
        <p:nvSpPr>
          <p:cNvPr id="4" name="Text 2"/>
          <p:cNvSpPr txBox="1"/>
          <p:nvPr/>
        </p:nvSpPr>
        <p:spPr>
          <a:xfrm>
            <a:off x="10042855" y="493776"/>
            <a:ext cx="1463040" cy="274320"/>
          </a:xfrm>
          <a:prstGeom prst="rect">
            <a:avLst/>
          </a:prstGeom>
          <a:noFill/>
          <a:ln/>
        </p:spPr>
        <p:txBody>
          <a:bodyPr wrap="square" lIns="0" tIns="0" rIns="0" bIns="0" rtlCol="0" anchor="ctr"/>
          <a:lstStyle/>
          <a:p>
            <a:pPr algn="r" indent="0" marL="0">
              <a:buNone/>
            </a:pPr>
            <a:r>
              <a:rPr lang="en-US" sz="1100" dirty="0">
                <a:solidFill>
                  <a:srgbClr val="7A8BA0"/>
                </a:solidFill>
                <a:latin typeface="Calibri" pitchFamily="34" charset="0"/>
                <a:ea typeface="Calibri" pitchFamily="34" charset="-122"/>
                <a:cs typeface="Calibri" pitchFamily="34" charset="-120"/>
              </a:rPr>
              <a:t>Meng</a:t>
            </a:r>
            <a:endParaRPr lang="en-US" sz="1100" dirty="0"/>
          </a:p>
        </p:txBody>
      </p:sp>
      <p:sp>
        <p:nvSpPr>
          <p:cNvPr id="5" name="Shape 3"/>
          <p:cNvSpPr/>
          <p:nvPr/>
        </p:nvSpPr>
        <p:spPr>
          <a:xfrm>
            <a:off x="685800" y="1645920"/>
            <a:ext cx="384048" cy="384048"/>
          </a:xfrm>
          <a:prstGeom prst="ellipse">
            <a:avLst/>
          </a:prstGeom>
          <a:solidFill>
            <a:srgbClr val="E56B6F"/>
          </a:solidFill>
          <a:ln w="12700">
            <a:solidFill>
              <a:srgbClr val="E56B6F"/>
            </a:solidFill>
            <a:prstDash val="solid"/>
          </a:ln>
        </p:spPr>
      </p:sp>
      <p:sp>
        <p:nvSpPr>
          <p:cNvPr id="6" name="Text 4"/>
          <p:cNvSpPr txBox="1"/>
          <p:nvPr/>
        </p:nvSpPr>
        <p:spPr>
          <a:xfrm>
            <a:off x="685800" y="1645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271016" y="1627632"/>
            <a:ext cx="4641952" cy="292608"/>
          </a:xfrm>
          <a:prstGeom prst="rect">
            <a:avLst/>
          </a:prstGeom>
          <a:noFill/>
          <a:ln/>
        </p:spPr>
        <p:txBody>
          <a:bodyPr wrap="square" lIns="0" tIns="0" rIns="0" bIns="0" rtlCol="0" anchor="ctr"/>
          <a:lstStyle/>
          <a:p>
            <a:pPr indent="0" marL="0">
              <a:buNone/>
            </a:pPr>
            <a:r>
              <a:rPr lang="en-US" sz="1600" b="1" dirty="0">
                <a:solidFill>
                  <a:srgbClr val="355070"/>
                </a:solidFill>
                <a:latin typeface="Calibri" pitchFamily="34" charset="0"/>
                <a:ea typeface="Calibri" pitchFamily="34" charset="-122"/>
                <a:cs typeface="Calibri" pitchFamily="34" charset="-120"/>
              </a:rPr>
              <a:t>One layout, any screen</a:t>
            </a:r>
            <a:endParaRPr lang="en-US" sz="1600" dirty="0"/>
          </a:p>
        </p:txBody>
      </p:sp>
      <p:sp>
        <p:nvSpPr>
          <p:cNvPr id="8" name="Text 6"/>
          <p:cNvSpPr txBox="1"/>
          <p:nvPr/>
        </p:nvSpPr>
        <p:spPr>
          <a:xfrm>
            <a:off x="1271016" y="1929384"/>
            <a:ext cx="4641952" cy="566928"/>
          </a:xfrm>
          <a:prstGeom prst="rect">
            <a:avLst/>
          </a:prstGeom>
          <a:noFill/>
          <a:ln/>
        </p:spPr>
        <p:txBody>
          <a:bodyPr wrap="square" lIns="0" tIns="0" rIns="0" bIns="0" rtlCol="0" anchor="t"/>
          <a:lstStyle/>
          <a:p>
            <a:pPr indent="0" marL="0">
              <a:buNone/>
            </a:pPr>
            <a:r>
              <a:rPr lang="en-US" sz="1350" dirty="0">
                <a:solidFill>
                  <a:srgbClr val="57534E"/>
                </a:solidFill>
                <a:latin typeface="Calibri" pitchFamily="34" charset="0"/>
                <a:ea typeface="Calibri" pitchFamily="34" charset="-122"/>
                <a:cs typeface="Calibri" pitchFamily="34" charset="-120"/>
              </a:rPr>
              <a:t>From a phone to a wide monitor. Nothing is hidden from you on a small screen.</a:t>
            </a:r>
            <a:endParaRPr lang="en-US" sz="1350" dirty="0"/>
          </a:p>
        </p:txBody>
      </p:sp>
      <p:sp>
        <p:nvSpPr>
          <p:cNvPr id="9" name="Shape 7"/>
          <p:cNvSpPr/>
          <p:nvPr/>
        </p:nvSpPr>
        <p:spPr>
          <a:xfrm>
            <a:off x="685800" y="2670048"/>
            <a:ext cx="384048" cy="384048"/>
          </a:xfrm>
          <a:prstGeom prst="ellipse">
            <a:avLst/>
          </a:prstGeom>
          <a:solidFill>
            <a:srgbClr val="B56576"/>
          </a:solidFill>
          <a:ln w="12700">
            <a:solidFill>
              <a:srgbClr val="B56576"/>
            </a:solidFill>
            <a:prstDash val="solid"/>
          </a:ln>
        </p:spPr>
      </p:sp>
      <p:sp>
        <p:nvSpPr>
          <p:cNvPr id="10" name="Text 8"/>
          <p:cNvSpPr txBox="1"/>
          <p:nvPr/>
        </p:nvSpPr>
        <p:spPr>
          <a:xfrm>
            <a:off x="685800" y="26700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271016" y="2651760"/>
            <a:ext cx="4641952" cy="292608"/>
          </a:xfrm>
          <a:prstGeom prst="rect">
            <a:avLst/>
          </a:prstGeom>
          <a:noFill/>
          <a:ln/>
        </p:spPr>
        <p:txBody>
          <a:bodyPr wrap="square" lIns="0" tIns="0" rIns="0" bIns="0" rtlCol="0" anchor="ctr"/>
          <a:lstStyle/>
          <a:p>
            <a:pPr indent="0" marL="0">
              <a:buNone/>
            </a:pPr>
            <a:r>
              <a:rPr lang="en-US" sz="1600" b="1" dirty="0">
                <a:solidFill>
                  <a:srgbClr val="355070"/>
                </a:solidFill>
                <a:latin typeface="Calibri" pitchFamily="34" charset="0"/>
                <a:ea typeface="Calibri" pitchFamily="34" charset="-122"/>
                <a:cs typeface="Calibri" pitchFamily="34" charset="-120"/>
              </a:rPr>
              <a:t>East Asian type, done properly</a:t>
            </a:r>
            <a:endParaRPr lang="en-US" sz="1600" dirty="0"/>
          </a:p>
        </p:txBody>
      </p:sp>
      <p:sp>
        <p:nvSpPr>
          <p:cNvPr id="12" name="Text 10"/>
          <p:cNvSpPr txBox="1"/>
          <p:nvPr/>
        </p:nvSpPr>
        <p:spPr>
          <a:xfrm>
            <a:off x="1271016" y="2953512"/>
            <a:ext cx="4641952" cy="566928"/>
          </a:xfrm>
          <a:prstGeom prst="rect">
            <a:avLst/>
          </a:prstGeom>
          <a:noFill/>
          <a:ln/>
        </p:spPr>
        <p:txBody>
          <a:bodyPr wrap="square" lIns="0" tIns="0" rIns="0" bIns="0" rtlCol="0" anchor="t"/>
          <a:lstStyle/>
          <a:p>
            <a:pPr indent="0" marL="0">
              <a:buNone/>
            </a:pPr>
            <a:r>
              <a:rPr lang="en-US" sz="1350" dirty="0">
                <a:solidFill>
                  <a:srgbClr val="57534E"/>
                </a:solidFill>
                <a:latin typeface="Calibri" pitchFamily="34" charset="0"/>
                <a:ea typeface="Calibri" pitchFamily="34" charset="-122"/>
                <a:cs typeface="Calibri" pitchFamily="34" charset="-120"/>
              </a:rPr>
              <a:t>A correct typeface per language — so a Japanese title is never set in a Chinese font.</a:t>
            </a:r>
            <a:endParaRPr lang="en-US" sz="1350" dirty="0"/>
          </a:p>
        </p:txBody>
      </p:sp>
      <p:sp>
        <p:nvSpPr>
          <p:cNvPr id="13" name="Shape 11"/>
          <p:cNvSpPr/>
          <p:nvPr/>
        </p:nvSpPr>
        <p:spPr>
          <a:xfrm>
            <a:off x="685800" y="3694176"/>
            <a:ext cx="384048" cy="384048"/>
          </a:xfrm>
          <a:prstGeom prst="ellipse">
            <a:avLst/>
          </a:prstGeom>
          <a:solidFill>
            <a:srgbClr val="6D597A"/>
          </a:solidFill>
          <a:ln w="12700">
            <a:solidFill>
              <a:srgbClr val="6D597A"/>
            </a:solidFill>
            <a:prstDash val="solid"/>
          </a:ln>
        </p:spPr>
      </p:sp>
      <p:sp>
        <p:nvSpPr>
          <p:cNvPr id="14" name="Text 12"/>
          <p:cNvSpPr txBox="1"/>
          <p:nvPr/>
        </p:nvSpPr>
        <p:spPr>
          <a:xfrm>
            <a:off x="685800" y="36941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txBox="1"/>
          <p:nvPr/>
        </p:nvSpPr>
        <p:spPr>
          <a:xfrm>
            <a:off x="1271016" y="3675888"/>
            <a:ext cx="4641952" cy="292608"/>
          </a:xfrm>
          <a:prstGeom prst="rect">
            <a:avLst/>
          </a:prstGeom>
          <a:noFill/>
          <a:ln/>
        </p:spPr>
        <p:txBody>
          <a:bodyPr wrap="square" lIns="0" tIns="0" rIns="0" bIns="0" rtlCol="0" anchor="ctr"/>
          <a:lstStyle/>
          <a:p>
            <a:pPr indent="0" marL="0">
              <a:buNone/>
            </a:pPr>
            <a:r>
              <a:rPr lang="en-US" sz="1600" b="1" dirty="0">
                <a:solidFill>
                  <a:srgbClr val="355070"/>
                </a:solidFill>
                <a:latin typeface="Calibri" pitchFamily="34" charset="0"/>
                <a:ea typeface="Calibri" pitchFamily="34" charset="-122"/>
                <a:cs typeface="Calibri" pitchFamily="34" charset="-120"/>
              </a:rPr>
              <a:t>Keyboard and screen-reader support</a:t>
            </a:r>
            <a:endParaRPr lang="en-US" sz="1600" dirty="0"/>
          </a:p>
        </p:txBody>
      </p:sp>
      <p:sp>
        <p:nvSpPr>
          <p:cNvPr id="16" name="Text 14"/>
          <p:cNvSpPr txBox="1"/>
          <p:nvPr/>
        </p:nvSpPr>
        <p:spPr>
          <a:xfrm>
            <a:off x="1271016" y="3977640"/>
            <a:ext cx="4641952" cy="566928"/>
          </a:xfrm>
          <a:prstGeom prst="rect">
            <a:avLst/>
          </a:prstGeom>
          <a:noFill/>
          <a:ln/>
        </p:spPr>
        <p:txBody>
          <a:bodyPr wrap="square" lIns="0" tIns="0" rIns="0" bIns="0" rtlCol="0" anchor="t"/>
          <a:lstStyle/>
          <a:p>
            <a:pPr indent="0" marL="0">
              <a:buNone/>
            </a:pPr>
            <a:r>
              <a:rPr lang="en-US" sz="1350" dirty="0">
                <a:solidFill>
                  <a:srgbClr val="57534E"/>
                </a:solidFill>
                <a:latin typeface="Calibri" pitchFamily="34" charset="0"/>
                <a:ea typeface="Calibri" pitchFamily="34" charset="-122"/>
                <a:cs typeface="Calibri" pitchFamily="34" charset="-120"/>
              </a:rPr>
              <a:t>Built in from the start, not added afterwards.</a:t>
            </a:r>
            <a:endParaRPr lang="en-US" sz="1350" dirty="0"/>
          </a:p>
        </p:txBody>
      </p:sp>
      <p:sp>
        <p:nvSpPr>
          <p:cNvPr id="17" name="Shape 15"/>
          <p:cNvSpPr/>
          <p:nvPr/>
        </p:nvSpPr>
        <p:spPr>
          <a:xfrm>
            <a:off x="6278728" y="1572768"/>
            <a:ext cx="5227168" cy="3200400"/>
          </a:xfrm>
          <a:prstGeom prst="roundRect">
            <a:avLst>
              <a:gd name="adj" fmla="val 2286"/>
            </a:avLst>
          </a:prstGeom>
          <a:solidFill>
            <a:srgbClr val="F4F8FA"/>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18" name="Text 16"/>
          <p:cNvSpPr txBox="1"/>
          <p:nvPr/>
        </p:nvSpPr>
        <p:spPr>
          <a:xfrm>
            <a:off x="6553048" y="1783080"/>
            <a:ext cx="4678528" cy="320040"/>
          </a:xfrm>
          <a:prstGeom prst="rect">
            <a:avLst/>
          </a:prstGeom>
          <a:noFill/>
          <a:ln/>
        </p:spPr>
        <p:txBody>
          <a:bodyPr wrap="square" lIns="0" tIns="0" rIns="0" bIns="0" rtlCol="0" anchor="ctr"/>
          <a:lstStyle/>
          <a:p>
            <a:pPr indent="0" marL="0">
              <a:buNone/>
            </a:pPr>
            <a:r>
              <a:rPr lang="en-US" sz="1600" b="1" dirty="0">
                <a:solidFill>
                  <a:srgbClr val="355070"/>
                </a:solidFill>
                <a:latin typeface="Calibri" pitchFamily="34" charset="0"/>
                <a:ea typeface="Calibri" pitchFamily="34" charset="-122"/>
                <a:cs typeface="Calibri" pitchFamily="34" charset="-120"/>
              </a:rPr>
              <a:t>Two complete guides, inside the site</a:t>
            </a:r>
            <a:endParaRPr lang="en-US" sz="1600" dirty="0"/>
          </a:p>
        </p:txBody>
      </p:sp>
      <p:sp>
        <p:nvSpPr>
          <p:cNvPr id="19" name="Text 17"/>
          <p:cNvSpPr txBox="1"/>
          <p:nvPr/>
        </p:nvSpPr>
        <p:spPr>
          <a:xfrm>
            <a:off x="6553048" y="2240280"/>
            <a:ext cx="4678528" cy="2377440"/>
          </a:xfrm>
          <a:prstGeom prst="rect">
            <a:avLst/>
          </a:prstGeom>
          <a:noFill/>
          <a:ln/>
        </p:spPr>
        <p:txBody>
          <a:bodyPr wrap="square" lIns="0" tIns="0" rIns="0" bIns="0" rtlCol="0" anchor="t"/>
          <a:lstStyle/>
          <a:p>
            <a:pPr indent="0" marL="0">
              <a:buNone/>
            </a:pPr>
            <a:r>
              <a:rPr lang="en-US" sz="1700" b="1" dirty="0">
                <a:solidFill>
                  <a:srgbClr val="E56B6F"/>
                </a:solidFill>
                <a:latin typeface="Calibri" pitchFamily="34" charset="0"/>
                <a:ea typeface="Calibri" pitchFamily="34" charset="-122"/>
                <a:cs typeface="Calibri" pitchFamily="34" charset="-120"/>
              </a:rPr>
              <a:t>cealstats.org/help</a:t>
            </a:r>
            <a:endParaRPr lang="en-US" sz="1700" dirty="0"/>
          </a:p>
          <a:p>
            <a:pPr indent="0" marL="0">
              <a:buNone/>
            </a:pPr>
            <a:r>
              <a:rPr lang="en-US" sz="1350" dirty="0">
                <a:solidFill>
                  <a:srgbClr val="57534E"/>
                </a:solidFill>
                <a:latin typeface="Calibri" pitchFamily="34" charset="0"/>
                <a:ea typeface="Calibri" pitchFamily="34" charset="-122"/>
                <a:cs typeface="Calibri" pitchFamily="34" charset="-120"/>
              </a:rPr>
              <a:t>For member libraries. Eight chapters, in English and 中文.</a:t>
            </a:r>
            <a:endParaRPr lang="en-US" sz="17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700" dirty="0"/>
          </a:p>
          <a:p>
            <a:pPr indent="0" marL="0">
              <a:buNone/>
            </a:pPr>
            <a:r>
              <a:rPr lang="en-US" sz="1500" b="1" dirty="0">
                <a:solidFill>
                  <a:srgbClr val="6D597A"/>
                </a:solidFill>
                <a:latin typeface="Calibri" pitchFamily="34" charset="0"/>
                <a:ea typeface="Calibri" pitchFamily="34" charset="-122"/>
                <a:cs typeface="Calibri" pitchFamily="34" charset="-120"/>
              </a:rPr>
              <a:t>cealstats.org/admin/superguide</a:t>
            </a:r>
            <a:endParaRPr lang="en-US" sz="1700" dirty="0"/>
          </a:p>
          <a:p>
            <a:pPr indent="0" marL="0">
              <a:buNone/>
            </a:pPr>
            <a:r>
              <a:rPr lang="en-US" sz="1350" dirty="0">
                <a:solidFill>
                  <a:srgbClr val="57534E"/>
                </a:solidFill>
                <a:latin typeface="Calibri" pitchFamily="34" charset="0"/>
                <a:ea typeface="Calibri" pitchFamily="34" charset="-122"/>
                <a:cs typeface="Calibri" pitchFamily="34" charset="-120"/>
              </a:rPr>
              <a:t>For the Committee. Sign-in required.</a:t>
            </a:r>
            <a:endParaRPr lang="en-US" sz="17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700" dirty="0"/>
          </a:p>
          <a:p>
            <a:pPr indent="0" marL="0">
              <a:buNone/>
            </a:pPr>
            <a:r>
              <a:rPr lang="en-US" sz="1350" i="1" dirty="0">
                <a:solidFill>
                  <a:srgbClr val="7A8BA0"/>
                </a:solidFill>
                <a:latin typeface="Calibri" pitchFamily="34" charset="0"/>
                <a:ea typeface="Calibri" pitchFamily="34" charset="-122"/>
                <a:cs typeface="Calibri" pitchFamily="34" charset="-120"/>
              </a:rPr>
              <a:t>Both searchable. Both print cleanly.</a:t>
            </a:r>
            <a:endParaRPr lang="en-US" sz="1700" dirty="0"/>
          </a:p>
        </p:txBody>
      </p:sp>
      <p:sp>
        <p:nvSpPr>
          <p:cNvPr id="20" name="Shape 18"/>
          <p:cNvSpPr/>
          <p:nvPr/>
        </p:nvSpPr>
        <p:spPr>
          <a:xfrm>
            <a:off x="685800" y="5029200"/>
            <a:ext cx="10820095" cy="868680"/>
          </a:xfrm>
          <a:prstGeom prst="roundRect">
            <a:avLst>
              <a:gd name="adj" fmla="val 8421"/>
            </a:avLst>
          </a:prstGeom>
          <a:solidFill>
            <a:srgbClr val="F4F8FA"/>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21" name="Text 19"/>
          <p:cNvSpPr txBox="1"/>
          <p:nvPr/>
        </p:nvSpPr>
        <p:spPr>
          <a:xfrm>
            <a:off x="960120" y="5084064"/>
            <a:ext cx="10271455" cy="758952"/>
          </a:xfrm>
          <a:prstGeom prst="rect">
            <a:avLst/>
          </a:prstGeom>
          <a:noFill/>
          <a:ln/>
        </p:spPr>
        <p:txBody>
          <a:bodyPr wrap="square" lIns="0" tIns="0" rIns="0" bIns="0" rtlCol="0" anchor="ctr"/>
          <a:lstStyle/>
          <a:p>
            <a:pPr indent="0" marL="0">
              <a:buNone/>
            </a:pPr>
            <a:r>
              <a:rPr lang="en-US" sz="1600" b="1" dirty="0">
                <a:solidFill>
                  <a:srgbClr val="E56B6F"/>
                </a:solidFill>
                <a:latin typeface="Calibri" pitchFamily="34" charset="0"/>
                <a:ea typeface="Calibri" pitchFamily="34" charset="-122"/>
                <a:cs typeface="Calibri" pitchFamily="34" charset="-120"/>
              </a:rPr>
              <a:t>If you take one thing away from my part today, make it this: cealstats.org/help</a:t>
            </a:r>
            <a:endParaRPr lang="en-US" sz="1600" dirty="0"/>
          </a:p>
        </p:txBody>
      </p:sp>
      <p:sp>
        <p:nvSpPr>
          <p:cNvPr id="22" name="Text 20"/>
          <p:cNvSpPr txBox="1"/>
          <p:nvPr/>
        </p:nvSpPr>
        <p:spPr>
          <a:xfrm>
            <a:off x="685800" y="6080760"/>
            <a:ext cx="10820095" cy="274320"/>
          </a:xfrm>
          <a:prstGeom prst="rect">
            <a:avLst/>
          </a:prstGeom>
          <a:noFill/>
          <a:ln/>
        </p:spPr>
        <p:txBody>
          <a:bodyPr wrap="square" lIns="0" tIns="0" rIns="0" bIns="0" rtlCol="0" anchor="ctr"/>
          <a:lstStyle/>
          <a:p>
            <a:pPr indent="0" marL="0">
              <a:buNone/>
            </a:pPr>
            <a:r>
              <a:rPr lang="en-US" sz="1000" i="1" dirty="0">
                <a:solidFill>
                  <a:srgbClr val="7A8BA0"/>
                </a:solidFill>
                <a:latin typeface="Calibri" pitchFamily="34" charset="0"/>
                <a:ea typeface="Calibri" pitchFamily="34" charset="-122"/>
                <a:cs typeface="Calibri" pitchFamily="34" charset="-120"/>
              </a:rPr>
              <a:t>[LIVE] drag the browser window narrow, then wide — the old site could not do this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9082735" cy="228600"/>
          </a:xfrm>
          <a:prstGeom prst="rect">
            <a:avLst/>
          </a:prstGeom>
          <a:noFill/>
          <a:ln/>
        </p:spPr>
        <p:txBody>
          <a:bodyPr wrap="square" lIns="0" tIns="0" rIns="0" bIns="0" rtlCol="0" anchor="ctr"/>
          <a:lstStyle/>
          <a:p>
            <a:pPr indent="0" marL="0">
              <a:buNone/>
            </a:pPr>
            <a:r>
              <a:rPr lang="en-US" sz="1100" b="1" spc="160" kern="0" dirty="0">
                <a:solidFill>
                  <a:srgbClr val="6D597A"/>
                </a:solidFill>
                <a:latin typeface="Calibri" pitchFamily="34" charset="0"/>
                <a:ea typeface="Calibri" pitchFamily="34" charset="-122"/>
                <a:cs typeface="Calibri" pitchFamily="34" charset="-120"/>
              </a:rPr>
              <a:t>IN PLAIN TERMS</a:t>
            </a:r>
            <a:endParaRPr lang="en-US" sz="1100" dirty="0"/>
          </a:p>
        </p:txBody>
      </p:sp>
      <p:sp>
        <p:nvSpPr>
          <p:cNvPr id="3" name="Text 1"/>
          <p:cNvSpPr txBox="1"/>
          <p:nvPr/>
        </p:nvSpPr>
        <p:spPr>
          <a:xfrm>
            <a:off x="685800" y="713232"/>
            <a:ext cx="9082735" cy="777240"/>
          </a:xfrm>
          <a:prstGeom prst="rect">
            <a:avLst/>
          </a:prstGeom>
          <a:noFill/>
          <a:ln/>
        </p:spPr>
        <p:txBody>
          <a:bodyPr wrap="square" lIns="0" tIns="0" rIns="0" bIns="0" rtlCol="0" anchor="t"/>
          <a:lstStyle/>
          <a:p>
            <a:pPr indent="0" marL="0">
              <a:buNone/>
            </a:pPr>
            <a:r>
              <a:rPr lang="en-US" sz="3000" b="1" dirty="0">
                <a:solidFill>
                  <a:srgbClr val="355070"/>
                </a:solidFill>
                <a:latin typeface="Calibri" pitchFamily="34" charset="0"/>
                <a:ea typeface="Calibri" pitchFamily="34" charset="-122"/>
                <a:cs typeface="Calibri" pitchFamily="34" charset="-120"/>
              </a:rPr>
              <a:t>What it runs on</a:t>
            </a:r>
            <a:endParaRPr lang="en-US" sz="3000" dirty="0"/>
          </a:p>
        </p:txBody>
      </p:sp>
      <p:sp>
        <p:nvSpPr>
          <p:cNvPr id="4" name="Text 2"/>
          <p:cNvSpPr txBox="1"/>
          <p:nvPr/>
        </p:nvSpPr>
        <p:spPr>
          <a:xfrm>
            <a:off x="10042855" y="493776"/>
            <a:ext cx="1463040" cy="274320"/>
          </a:xfrm>
          <a:prstGeom prst="rect">
            <a:avLst/>
          </a:prstGeom>
          <a:noFill/>
          <a:ln/>
        </p:spPr>
        <p:txBody>
          <a:bodyPr wrap="square" lIns="0" tIns="0" rIns="0" bIns="0" rtlCol="0" anchor="ctr"/>
          <a:lstStyle/>
          <a:p>
            <a:pPr algn="r" indent="0" marL="0">
              <a:buNone/>
            </a:pPr>
            <a:r>
              <a:rPr lang="en-US" sz="1100" dirty="0">
                <a:solidFill>
                  <a:srgbClr val="7A8BA0"/>
                </a:solidFill>
                <a:latin typeface="Calibri" pitchFamily="34" charset="0"/>
                <a:ea typeface="Calibri" pitchFamily="34" charset="-122"/>
                <a:cs typeface="Calibri" pitchFamily="34" charset="-120"/>
              </a:rPr>
              <a:t>Meng</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85800" y="1572768"/>
          <a:ext cx="10820095" cy="914400"/>
        </p:xfrm>
        <a:graphic>
          <a:graphicData uri="http://schemas.openxmlformats.org/drawingml/2006/table">
            <a:tbl>
              <a:tblPr/>
              <a:tblGrid>
                <a:gridCol w="3383280"/>
                <a:gridCol w="2377440"/>
                <a:gridCol w="5056632"/>
              </a:tblGrid>
              <a:tr h="45720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it does</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solidFill>
                      <a:srgbClr val="355070"/>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we chose</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solidFill>
                      <a:srgbClr val="355070"/>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Why</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solidFill>
                      <a:srgbClr val="355070"/>
                    </a:solidFill>
                  </a:tcPr>
                </a:tc>
              </a:tr>
              <a:tr h="457200">
                <a:tc>
                  <a:txBody>
                    <a:bodyPr/>
                    <a:lstStyle/>
                    <a:p>
                      <a:pPr indent="0" marL="0">
                        <a:buNone/>
                      </a:pPr>
                      <a:r>
                        <a:rPr lang="en-US" sz="1350" dirty="0">
                          <a:solidFill>
                            <a:srgbClr val="355070"/>
                          </a:solidFill>
                          <a:latin typeface="Calibri" pitchFamily="34" charset="0"/>
                          <a:ea typeface="Calibri" pitchFamily="34" charset="-122"/>
                          <a:cs typeface="Calibri" pitchFamily="34" charset="-120"/>
                        </a:rPr>
                        <a:t>Builds the pages you see</a:t>
                      </a:r>
                      <a:endParaRPr lang="en-US" sz="13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indent="0" marL="0">
                        <a:buNone/>
                      </a:pPr>
                      <a:r>
                        <a:rPr lang="en-US" sz="1350" b="1" dirty="0">
                          <a:solidFill>
                            <a:srgbClr val="355070"/>
                          </a:solidFill>
                          <a:latin typeface="Calibri" pitchFamily="34" charset="0"/>
                          <a:ea typeface="Calibri" pitchFamily="34" charset="-122"/>
                          <a:cs typeface="Calibri" pitchFamily="34" charset="-120"/>
                        </a:rPr>
                        <a:t>Next.js</a:t>
                      </a:r>
                      <a:endParaRPr lang="en-US" sz="13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indent="0" marL="0">
                        <a:buNone/>
                      </a:pPr>
                      <a:r>
                        <a:rPr lang="en-US" sz="1350" dirty="0">
                          <a:solidFill>
                            <a:srgbClr val="355070"/>
                          </a:solidFill>
                          <a:latin typeface="Calibri" pitchFamily="34" charset="0"/>
                          <a:ea typeface="Calibri" pitchFamily="34" charset="-122"/>
                          <a:cs typeface="Calibri" pitchFamily="34" charset="-120"/>
                        </a:rPr>
                        <a:t>One system for the site and the data behind it</a:t>
                      </a:r>
                      <a:endParaRPr lang="en-US" sz="13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r>
              <a:tr h="457200">
                <a:tc>
                  <a:txBody>
                    <a:bodyPr/>
                    <a:lstStyle/>
                    <a:p>
                      <a:pPr indent="0" marL="0">
                        <a:buNone/>
                      </a:pPr>
                      <a:r>
                        <a:rPr lang="en-US" sz="1350" dirty="0">
                          <a:solidFill>
                            <a:srgbClr val="355070"/>
                          </a:solidFill>
                          <a:latin typeface="Calibri" pitchFamily="34" charset="0"/>
                          <a:ea typeface="Calibri" pitchFamily="34" charset="-122"/>
                          <a:cs typeface="Calibri" pitchFamily="34" charset="-120"/>
                        </a:rPr>
                        <a:t>Stores the data</a:t>
                      </a:r>
                      <a:endParaRPr lang="en-US" sz="13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indent="0" marL="0">
                        <a:buNone/>
                      </a:pPr>
                      <a:r>
                        <a:rPr lang="en-US" sz="1350" b="1" dirty="0">
                          <a:solidFill>
                            <a:srgbClr val="355070"/>
                          </a:solidFill>
                          <a:latin typeface="Calibri" pitchFamily="34" charset="0"/>
                          <a:ea typeface="Calibri" pitchFamily="34" charset="-122"/>
                          <a:cs typeface="Calibri" pitchFamily="34" charset="-120"/>
                        </a:rPr>
                        <a:t>PostgreSQL</a:t>
                      </a:r>
                      <a:endParaRPr lang="en-US" sz="13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indent="0" marL="0">
                        <a:buNone/>
                      </a:pPr>
                      <a:r>
                        <a:rPr lang="en-US" sz="1350" dirty="0">
                          <a:solidFill>
                            <a:srgbClr val="355070"/>
                          </a:solidFill>
                          <a:latin typeface="Calibri" pitchFamily="34" charset="0"/>
                          <a:ea typeface="Calibri" pitchFamily="34" charset="-122"/>
                          <a:cs typeface="Calibri" pitchFamily="34" charset="-120"/>
                        </a:rPr>
                        <a:t>Proven, durable, easy to copy out</a:t>
                      </a:r>
                      <a:endParaRPr lang="en-US" sz="13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r>
              <a:tr h="457200">
                <a:tc>
                  <a:txBody>
                    <a:bodyPr/>
                    <a:lstStyle/>
                    <a:p>
                      <a:pPr indent="0" marL="0">
                        <a:buNone/>
                      </a:pPr>
                      <a:r>
                        <a:rPr lang="en-US" sz="1350" dirty="0">
                          <a:solidFill>
                            <a:srgbClr val="355070"/>
                          </a:solidFill>
                          <a:latin typeface="Calibri" pitchFamily="34" charset="0"/>
                          <a:ea typeface="Calibri" pitchFamily="34" charset="-122"/>
                          <a:cs typeface="Calibri" pitchFamily="34" charset="-120"/>
                        </a:rPr>
                        <a:t>Hosts the database</a:t>
                      </a:r>
                      <a:endParaRPr lang="en-US" sz="13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indent="0" marL="0">
                        <a:buNone/>
                      </a:pPr>
                      <a:r>
                        <a:rPr lang="en-US" sz="1350" b="1" dirty="0">
                          <a:solidFill>
                            <a:srgbClr val="355070"/>
                          </a:solidFill>
                          <a:latin typeface="Calibri" pitchFamily="34" charset="0"/>
                          <a:ea typeface="Calibri" pitchFamily="34" charset="-122"/>
                          <a:cs typeface="Calibri" pitchFamily="34" charset="-120"/>
                        </a:rPr>
                        <a:t>Neon</a:t>
                      </a:r>
                      <a:endParaRPr lang="en-US" sz="13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indent="0" marL="0">
                        <a:buNone/>
                      </a:pPr>
                      <a:r>
                        <a:rPr lang="en-US" sz="1350" dirty="0">
                          <a:solidFill>
                            <a:srgbClr val="355070"/>
                          </a:solidFill>
                          <a:latin typeface="Calibri" pitchFamily="34" charset="0"/>
                          <a:ea typeface="Calibri" pitchFamily="34" charset="-122"/>
                          <a:cs typeface="Calibri" pitchFamily="34" charset="-120"/>
                        </a:rPr>
                        <a:t>Can copy the whole database to test safely</a:t>
                      </a:r>
                      <a:endParaRPr lang="en-US" sz="13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r>
              <a:tr h="457200">
                <a:tc>
                  <a:txBody>
                    <a:bodyPr/>
                    <a:lstStyle/>
                    <a:p>
                      <a:pPr indent="0" marL="0">
                        <a:buNone/>
                      </a:pPr>
                      <a:r>
                        <a:rPr lang="en-US" sz="1350" dirty="0">
                          <a:solidFill>
                            <a:srgbClr val="355070"/>
                          </a:solidFill>
                          <a:latin typeface="Calibri" pitchFamily="34" charset="0"/>
                          <a:ea typeface="Calibri" pitchFamily="34" charset="-122"/>
                          <a:cs typeface="Calibri" pitchFamily="34" charset="-120"/>
                        </a:rPr>
                        <a:t>Hosts the website</a:t>
                      </a:r>
                      <a:endParaRPr lang="en-US" sz="13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indent="0" marL="0">
                        <a:buNone/>
                      </a:pPr>
                      <a:r>
                        <a:rPr lang="en-US" sz="1350" b="1" dirty="0">
                          <a:solidFill>
                            <a:srgbClr val="355070"/>
                          </a:solidFill>
                          <a:latin typeface="Calibri" pitchFamily="34" charset="0"/>
                          <a:ea typeface="Calibri" pitchFamily="34" charset="-122"/>
                          <a:cs typeface="Calibri" pitchFamily="34" charset="-120"/>
                        </a:rPr>
                        <a:t>Vercel</a:t>
                      </a:r>
                      <a:endParaRPr lang="en-US" sz="13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indent="0" marL="0">
                        <a:buNone/>
                      </a:pPr>
                      <a:r>
                        <a:rPr lang="en-US" sz="1350" dirty="0">
                          <a:solidFill>
                            <a:srgbClr val="355070"/>
                          </a:solidFill>
                          <a:latin typeface="Calibri" pitchFamily="34" charset="0"/>
                          <a:ea typeface="Calibri" pitchFamily="34" charset="-122"/>
                          <a:cs typeface="Calibri" pitchFamily="34" charset="-120"/>
                        </a:rPr>
                        <a:t>Runs the scheduled tasks; renews certificates itself</a:t>
                      </a:r>
                      <a:endParaRPr lang="en-US" sz="13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r>
              <a:tr h="457200">
                <a:tc>
                  <a:txBody>
                    <a:bodyPr/>
                    <a:lstStyle/>
                    <a:p>
                      <a:pPr indent="0" marL="0">
                        <a:buNone/>
                      </a:pPr>
                      <a:r>
                        <a:rPr lang="en-US" sz="1350" dirty="0">
                          <a:solidFill>
                            <a:srgbClr val="355070"/>
                          </a:solidFill>
                          <a:latin typeface="Calibri" pitchFamily="34" charset="0"/>
                          <a:ea typeface="Calibri" pitchFamily="34" charset="-122"/>
                          <a:cs typeface="Calibri" pitchFamily="34" charset="-120"/>
                        </a:rPr>
                        <a:t>Sends the email</a:t>
                      </a:r>
                      <a:endParaRPr lang="en-US" sz="13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indent="0" marL="0">
                        <a:buNone/>
                      </a:pPr>
                      <a:r>
                        <a:rPr lang="en-US" sz="1350" b="1" dirty="0">
                          <a:solidFill>
                            <a:srgbClr val="355070"/>
                          </a:solidFill>
                          <a:latin typeface="Calibri" pitchFamily="34" charset="0"/>
                          <a:ea typeface="Calibri" pitchFamily="34" charset="-122"/>
                          <a:cs typeface="Calibri" pitchFamily="34" charset="-120"/>
                        </a:rPr>
                        <a:t>Resend</a:t>
                      </a:r>
                      <a:endParaRPr lang="en-US" sz="13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indent="0" marL="0">
                        <a:buNone/>
                      </a:pPr>
                      <a:r>
                        <a:rPr lang="en-US" sz="1350" dirty="0">
                          <a:solidFill>
                            <a:srgbClr val="355070"/>
                          </a:solidFill>
                          <a:latin typeface="Calibri" pitchFamily="34" charset="0"/>
                          <a:ea typeface="Calibri" pitchFamily="34" charset="-122"/>
                          <a:cs typeface="Calibri" pitchFamily="34" charset="-120"/>
                        </a:rPr>
                        <a:t>Handles the mailing list and shows what was delivered</a:t>
                      </a:r>
                      <a:endParaRPr lang="en-US" sz="13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r>
            </a:tbl>
          </a:graphicData>
        </a:graphic>
      </p:graphicFrame>
      <p:sp>
        <p:nvSpPr>
          <p:cNvPr id="6" name="Shape 3"/>
          <p:cNvSpPr/>
          <p:nvPr/>
        </p:nvSpPr>
        <p:spPr>
          <a:xfrm>
            <a:off x="685800" y="4572000"/>
            <a:ext cx="10820095" cy="1371600"/>
          </a:xfrm>
          <a:prstGeom prst="roundRect">
            <a:avLst>
              <a:gd name="adj" fmla="val 5333"/>
            </a:avLst>
          </a:prstGeom>
          <a:solidFill>
            <a:srgbClr val="F4F8FA"/>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7" name="Text 4"/>
          <p:cNvSpPr txBox="1"/>
          <p:nvPr/>
        </p:nvSpPr>
        <p:spPr>
          <a:xfrm>
            <a:off x="1005840" y="4736592"/>
            <a:ext cx="10180015" cy="310896"/>
          </a:xfrm>
          <a:prstGeom prst="rect">
            <a:avLst/>
          </a:prstGeom>
          <a:noFill/>
          <a:ln/>
        </p:spPr>
        <p:txBody>
          <a:bodyPr wrap="square" lIns="0" tIns="0" rIns="0" bIns="0" rtlCol="0" anchor="ctr"/>
          <a:lstStyle/>
          <a:p>
            <a:pPr indent="0" marL="0">
              <a:buNone/>
            </a:pPr>
            <a:r>
              <a:rPr lang="en-US" sz="1700" b="1" dirty="0">
                <a:solidFill>
                  <a:srgbClr val="E56B6F"/>
                </a:solidFill>
                <a:latin typeface="Calibri" pitchFamily="34" charset="0"/>
                <a:ea typeface="Calibri" pitchFamily="34" charset="-122"/>
                <a:cs typeface="Calibri" pitchFamily="34" charset="-120"/>
              </a:rPr>
              <a:t>Three outside companies. All three replaceable.</a:t>
            </a:r>
            <a:endParaRPr lang="en-US" sz="1700" dirty="0"/>
          </a:p>
        </p:txBody>
      </p:sp>
      <p:sp>
        <p:nvSpPr>
          <p:cNvPr id="8" name="Text 5"/>
          <p:cNvSpPr txBox="1"/>
          <p:nvPr/>
        </p:nvSpPr>
        <p:spPr>
          <a:xfrm>
            <a:off x="1005840" y="5084064"/>
            <a:ext cx="10180015" cy="713232"/>
          </a:xfrm>
          <a:prstGeom prst="rect">
            <a:avLst/>
          </a:prstGeom>
          <a:noFill/>
          <a:ln/>
        </p:spPr>
        <p:txBody>
          <a:bodyPr wrap="square" lIns="0" tIns="0" rIns="0" bIns="0" rtlCol="0" anchor="t"/>
          <a:lstStyle/>
          <a:p>
            <a:pPr indent="0" marL="0">
              <a:buNone/>
            </a:pPr>
            <a:r>
              <a:rPr lang="en-US" sz="1450" dirty="0">
                <a:solidFill>
                  <a:srgbClr val="355070"/>
                </a:solidFill>
                <a:latin typeface="Calibri" pitchFamily="34" charset="0"/>
                <a:ea typeface="Calibri" pitchFamily="34" charset="-122"/>
                <a:cs typeface="Calibri" pitchFamily="34" charset="-120"/>
              </a:rPr>
              <a:t>Four documented routes out: move the database, move the website, move the email, or move all of it onto a university server. You are not locked in to anybody — including us.</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9082735" cy="228600"/>
          </a:xfrm>
          <a:prstGeom prst="rect">
            <a:avLst/>
          </a:prstGeom>
          <a:noFill/>
          <a:ln/>
        </p:spPr>
        <p:txBody>
          <a:bodyPr wrap="square" lIns="0" tIns="0" rIns="0" bIns="0" rtlCol="0" anchor="ctr"/>
          <a:lstStyle/>
          <a:p>
            <a:pPr indent="0" marL="0">
              <a:buNone/>
            </a:pPr>
            <a:r>
              <a:rPr lang="en-US" sz="1100" b="1" spc="160" kern="0" dirty="0">
                <a:solidFill>
                  <a:srgbClr val="6D597A"/>
                </a:solidFill>
                <a:latin typeface="Calibri" pitchFamily="34" charset="0"/>
                <a:ea typeface="Calibri" pitchFamily="34" charset="-122"/>
                <a:cs typeface="Calibri" pitchFamily="34" charset="-120"/>
              </a:rPr>
              <a:t>MARCH 2024 → TODAY · 29 MONTHS</a:t>
            </a:r>
            <a:endParaRPr lang="en-US" sz="1100" dirty="0"/>
          </a:p>
        </p:txBody>
      </p:sp>
      <p:sp>
        <p:nvSpPr>
          <p:cNvPr id="3" name="Text 1"/>
          <p:cNvSpPr txBox="1"/>
          <p:nvPr/>
        </p:nvSpPr>
        <p:spPr>
          <a:xfrm>
            <a:off x="685800" y="713232"/>
            <a:ext cx="9082735" cy="777240"/>
          </a:xfrm>
          <a:prstGeom prst="rect">
            <a:avLst/>
          </a:prstGeom>
          <a:noFill/>
          <a:ln/>
        </p:spPr>
        <p:txBody>
          <a:bodyPr wrap="square" lIns="0" tIns="0" rIns="0" bIns="0" rtlCol="0" anchor="t"/>
          <a:lstStyle/>
          <a:p>
            <a:pPr indent="0" marL="0">
              <a:buNone/>
            </a:pPr>
            <a:r>
              <a:rPr lang="en-US" sz="3000" b="1" dirty="0">
                <a:solidFill>
                  <a:srgbClr val="355070"/>
                </a:solidFill>
                <a:latin typeface="Calibri" pitchFamily="34" charset="0"/>
                <a:ea typeface="Calibri" pitchFamily="34" charset="-122"/>
                <a:cs typeface="Calibri" pitchFamily="34" charset="-120"/>
              </a:rPr>
              <a:t>What this actually took</a:t>
            </a:r>
            <a:endParaRPr lang="en-US" sz="3000" dirty="0"/>
          </a:p>
        </p:txBody>
      </p:sp>
      <p:sp>
        <p:nvSpPr>
          <p:cNvPr id="4" name="Text 2"/>
          <p:cNvSpPr txBox="1"/>
          <p:nvPr/>
        </p:nvSpPr>
        <p:spPr>
          <a:xfrm>
            <a:off x="10042855" y="493776"/>
            <a:ext cx="1463040" cy="274320"/>
          </a:xfrm>
          <a:prstGeom prst="rect">
            <a:avLst/>
          </a:prstGeom>
          <a:noFill/>
          <a:ln/>
        </p:spPr>
        <p:txBody>
          <a:bodyPr wrap="square" lIns="0" tIns="0" rIns="0" bIns="0" rtlCol="0" anchor="ctr"/>
          <a:lstStyle/>
          <a:p>
            <a:pPr algn="r" indent="0" marL="0">
              <a:buNone/>
            </a:pPr>
            <a:r>
              <a:rPr lang="en-US" sz="1100" dirty="0">
                <a:solidFill>
                  <a:srgbClr val="7A8BA0"/>
                </a:solidFill>
                <a:latin typeface="Calibri" pitchFamily="34" charset="0"/>
                <a:ea typeface="Calibri" pitchFamily="34" charset="-122"/>
                <a:cs typeface="Calibri" pitchFamily="34" charset="-120"/>
              </a:rPr>
              <a:t>Meng</a:t>
            </a:r>
            <a:endParaRPr lang="en-US" sz="1100" dirty="0"/>
          </a:p>
        </p:txBody>
      </p:sp>
      <p:sp>
        <p:nvSpPr>
          <p:cNvPr id="5" name="Shape 3"/>
          <p:cNvSpPr/>
          <p:nvPr/>
        </p:nvSpPr>
        <p:spPr>
          <a:xfrm>
            <a:off x="685800" y="1572768"/>
            <a:ext cx="2567864" cy="1417320"/>
          </a:xfrm>
          <a:prstGeom prst="roundRect">
            <a:avLst>
              <a:gd name="adj" fmla="val 5161"/>
            </a:avLst>
          </a:prstGeom>
          <a:solidFill>
            <a:srgbClr val="FFFFFF"/>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6" name="Text 4"/>
          <p:cNvSpPr txBox="1"/>
          <p:nvPr/>
        </p:nvSpPr>
        <p:spPr>
          <a:xfrm>
            <a:off x="685800" y="1719072"/>
            <a:ext cx="2567864" cy="713232"/>
          </a:xfrm>
          <a:prstGeom prst="rect">
            <a:avLst/>
          </a:prstGeom>
          <a:noFill/>
          <a:ln/>
        </p:spPr>
        <p:txBody>
          <a:bodyPr wrap="square" lIns="0" tIns="0" rIns="0" bIns="0" rtlCol="0" anchor="ctr"/>
          <a:lstStyle/>
          <a:p>
            <a:pPr algn="ctr" indent="0" marL="0">
              <a:buNone/>
            </a:pPr>
            <a:r>
              <a:rPr lang="en-US" sz="4000" b="1" dirty="0">
                <a:solidFill>
                  <a:srgbClr val="E56B6F"/>
                </a:solidFill>
                <a:latin typeface="Calibri" pitchFamily="34" charset="0"/>
                <a:ea typeface="Calibri" pitchFamily="34" charset="-122"/>
                <a:cs typeface="Calibri" pitchFamily="34" charset="-120"/>
              </a:rPr>
              <a:t>886</a:t>
            </a:r>
            <a:endParaRPr lang="en-US" sz="4000" dirty="0"/>
          </a:p>
        </p:txBody>
      </p:sp>
      <p:sp>
        <p:nvSpPr>
          <p:cNvPr id="7" name="Text 5"/>
          <p:cNvSpPr txBox="1"/>
          <p:nvPr/>
        </p:nvSpPr>
        <p:spPr>
          <a:xfrm>
            <a:off x="685800" y="2468880"/>
            <a:ext cx="2567864" cy="365760"/>
          </a:xfrm>
          <a:prstGeom prst="rect">
            <a:avLst/>
          </a:prstGeom>
          <a:noFill/>
          <a:ln/>
        </p:spPr>
        <p:txBody>
          <a:bodyPr wrap="square" lIns="0" tIns="0" rIns="0" bIns="0" rtlCol="0" anchor="ctr"/>
          <a:lstStyle/>
          <a:p>
            <a:pPr algn="ctr" indent="0" marL="0">
              <a:buNone/>
            </a:pPr>
            <a:r>
              <a:rPr lang="en-US" sz="1000" spc="140" kern="0" dirty="0">
                <a:solidFill>
                  <a:srgbClr val="7A8BA0"/>
                </a:solidFill>
                <a:latin typeface="Calibri" pitchFamily="34" charset="0"/>
                <a:ea typeface="Calibri" pitchFamily="34" charset="-122"/>
                <a:cs typeface="Calibri" pitchFamily="34" charset="-120"/>
              </a:rPr>
              <a:t>RECORDED BATCHES OF WORK</a:t>
            </a:r>
            <a:endParaRPr lang="en-US" sz="1000" dirty="0"/>
          </a:p>
        </p:txBody>
      </p:sp>
      <p:sp>
        <p:nvSpPr>
          <p:cNvPr id="8" name="Shape 6"/>
          <p:cNvSpPr/>
          <p:nvPr/>
        </p:nvSpPr>
        <p:spPr>
          <a:xfrm>
            <a:off x="3436544" y="1572768"/>
            <a:ext cx="2567864" cy="1417320"/>
          </a:xfrm>
          <a:prstGeom prst="roundRect">
            <a:avLst>
              <a:gd name="adj" fmla="val 5161"/>
            </a:avLst>
          </a:prstGeom>
          <a:solidFill>
            <a:srgbClr val="FFFFFF"/>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9" name="Text 7"/>
          <p:cNvSpPr txBox="1"/>
          <p:nvPr/>
        </p:nvSpPr>
        <p:spPr>
          <a:xfrm>
            <a:off x="3436544" y="1719072"/>
            <a:ext cx="2567864" cy="713232"/>
          </a:xfrm>
          <a:prstGeom prst="rect">
            <a:avLst/>
          </a:prstGeom>
          <a:noFill/>
          <a:ln/>
        </p:spPr>
        <p:txBody>
          <a:bodyPr wrap="square" lIns="0" tIns="0" rIns="0" bIns="0" rtlCol="0" anchor="ctr"/>
          <a:lstStyle/>
          <a:p>
            <a:pPr algn="ctr" indent="0" marL="0">
              <a:buNone/>
            </a:pPr>
            <a:r>
              <a:rPr lang="en-US" sz="4000" b="1" dirty="0">
                <a:solidFill>
                  <a:srgbClr val="355070"/>
                </a:solidFill>
                <a:latin typeface="Calibri" pitchFamily="34" charset="0"/>
                <a:ea typeface="Calibri" pitchFamily="34" charset="-122"/>
                <a:cs typeface="Calibri" pitchFamily="34" charset="-120"/>
              </a:rPr>
              <a:t>154</a:t>
            </a:r>
            <a:endParaRPr lang="en-US" sz="4000" dirty="0"/>
          </a:p>
        </p:txBody>
      </p:sp>
      <p:sp>
        <p:nvSpPr>
          <p:cNvPr id="10" name="Text 8"/>
          <p:cNvSpPr txBox="1"/>
          <p:nvPr/>
        </p:nvSpPr>
        <p:spPr>
          <a:xfrm>
            <a:off x="3436544" y="2468880"/>
            <a:ext cx="2567864" cy="365760"/>
          </a:xfrm>
          <a:prstGeom prst="rect">
            <a:avLst/>
          </a:prstGeom>
          <a:noFill/>
          <a:ln/>
        </p:spPr>
        <p:txBody>
          <a:bodyPr wrap="square" lIns="0" tIns="0" rIns="0" bIns="0" rtlCol="0" anchor="ctr"/>
          <a:lstStyle/>
          <a:p>
            <a:pPr algn="ctr" indent="0" marL="0">
              <a:buNone/>
            </a:pPr>
            <a:r>
              <a:rPr lang="en-US" sz="1000" spc="140" kern="0" dirty="0">
                <a:solidFill>
                  <a:srgbClr val="7A8BA0"/>
                </a:solidFill>
                <a:latin typeface="Calibri" pitchFamily="34" charset="0"/>
                <a:ea typeface="Calibri" pitchFamily="34" charset="-122"/>
                <a:cs typeface="Calibri" pitchFamily="34" charset="-120"/>
              </a:rPr>
              <a:t>REVIEWED CHANGE SETS</a:t>
            </a:r>
            <a:endParaRPr lang="en-US" sz="1000" dirty="0"/>
          </a:p>
        </p:txBody>
      </p:sp>
      <p:sp>
        <p:nvSpPr>
          <p:cNvPr id="11" name="Shape 9"/>
          <p:cNvSpPr/>
          <p:nvPr/>
        </p:nvSpPr>
        <p:spPr>
          <a:xfrm>
            <a:off x="6187288" y="1572768"/>
            <a:ext cx="2567864" cy="1417320"/>
          </a:xfrm>
          <a:prstGeom prst="roundRect">
            <a:avLst>
              <a:gd name="adj" fmla="val 5161"/>
            </a:avLst>
          </a:prstGeom>
          <a:solidFill>
            <a:srgbClr val="FFFFFF"/>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12" name="Text 10"/>
          <p:cNvSpPr txBox="1"/>
          <p:nvPr/>
        </p:nvSpPr>
        <p:spPr>
          <a:xfrm>
            <a:off x="6187288" y="1719072"/>
            <a:ext cx="2567864" cy="713232"/>
          </a:xfrm>
          <a:prstGeom prst="rect">
            <a:avLst/>
          </a:prstGeom>
          <a:noFill/>
          <a:ln/>
        </p:spPr>
        <p:txBody>
          <a:bodyPr wrap="square" lIns="0" tIns="0" rIns="0" bIns="0" rtlCol="0" anchor="ctr"/>
          <a:lstStyle/>
          <a:p>
            <a:pPr algn="ctr" indent="0" marL="0">
              <a:buNone/>
            </a:pPr>
            <a:r>
              <a:rPr lang="en-US" sz="4000" b="1" dirty="0">
                <a:solidFill>
                  <a:srgbClr val="6D597A"/>
                </a:solidFill>
                <a:latin typeface="Calibri" pitchFamily="34" charset="0"/>
                <a:ea typeface="Calibri" pitchFamily="34" charset="-122"/>
                <a:cs typeface="Calibri" pitchFamily="34" charset="-120"/>
              </a:rPr>
              <a:t>3</a:t>
            </a:r>
            <a:endParaRPr lang="en-US" sz="4000" dirty="0"/>
          </a:p>
        </p:txBody>
      </p:sp>
      <p:sp>
        <p:nvSpPr>
          <p:cNvPr id="13" name="Text 11"/>
          <p:cNvSpPr txBox="1"/>
          <p:nvPr/>
        </p:nvSpPr>
        <p:spPr>
          <a:xfrm>
            <a:off x="6187288" y="2468880"/>
            <a:ext cx="2567864" cy="365760"/>
          </a:xfrm>
          <a:prstGeom prst="rect">
            <a:avLst/>
          </a:prstGeom>
          <a:noFill/>
          <a:ln/>
        </p:spPr>
        <p:txBody>
          <a:bodyPr wrap="square" lIns="0" tIns="0" rIns="0" bIns="0" rtlCol="0" anchor="ctr"/>
          <a:lstStyle/>
          <a:p>
            <a:pPr algn="ctr" indent="0" marL="0">
              <a:buNone/>
            </a:pPr>
            <a:r>
              <a:rPr lang="en-US" sz="1000" spc="140" kern="0" dirty="0">
                <a:solidFill>
                  <a:srgbClr val="7A8BA0"/>
                </a:solidFill>
                <a:latin typeface="Calibri" pitchFamily="34" charset="0"/>
                <a:ea typeface="Calibri" pitchFamily="34" charset="-122"/>
                <a:cs typeface="Calibri" pitchFamily="34" charset="-120"/>
              </a:rPr>
              <a:t>RELEASED VERSIONS</a:t>
            </a:r>
            <a:endParaRPr lang="en-US" sz="1000" dirty="0"/>
          </a:p>
        </p:txBody>
      </p:sp>
      <p:sp>
        <p:nvSpPr>
          <p:cNvPr id="14" name="Shape 12"/>
          <p:cNvSpPr/>
          <p:nvPr/>
        </p:nvSpPr>
        <p:spPr>
          <a:xfrm>
            <a:off x="8938031" y="1572768"/>
            <a:ext cx="2567864" cy="1417320"/>
          </a:xfrm>
          <a:prstGeom prst="roundRect">
            <a:avLst>
              <a:gd name="adj" fmla="val 5161"/>
            </a:avLst>
          </a:prstGeom>
          <a:solidFill>
            <a:srgbClr val="FFFFFF"/>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15" name="Text 13"/>
          <p:cNvSpPr txBox="1"/>
          <p:nvPr/>
        </p:nvSpPr>
        <p:spPr>
          <a:xfrm>
            <a:off x="8938031" y="1719072"/>
            <a:ext cx="2567864" cy="713232"/>
          </a:xfrm>
          <a:prstGeom prst="rect">
            <a:avLst/>
          </a:prstGeom>
          <a:noFill/>
          <a:ln/>
        </p:spPr>
        <p:txBody>
          <a:bodyPr wrap="square" lIns="0" tIns="0" rIns="0" bIns="0" rtlCol="0" anchor="ctr"/>
          <a:lstStyle/>
          <a:p>
            <a:pPr algn="ctr" indent="0" marL="0">
              <a:buNone/>
            </a:pPr>
            <a:r>
              <a:rPr lang="en-US" sz="4000" b="1" dirty="0">
                <a:solidFill>
                  <a:srgbClr val="B56576"/>
                </a:solidFill>
                <a:latin typeface="Calibri" pitchFamily="34" charset="0"/>
                <a:ea typeface="Calibri" pitchFamily="34" charset="-122"/>
                <a:cs typeface="Calibri" pitchFamily="34" charset="-120"/>
              </a:rPr>
              <a:t>~100k</a:t>
            </a:r>
            <a:endParaRPr lang="en-US" sz="4000" dirty="0"/>
          </a:p>
        </p:txBody>
      </p:sp>
      <p:sp>
        <p:nvSpPr>
          <p:cNvPr id="16" name="Text 14"/>
          <p:cNvSpPr txBox="1"/>
          <p:nvPr/>
        </p:nvSpPr>
        <p:spPr>
          <a:xfrm>
            <a:off x="8938031" y="2468880"/>
            <a:ext cx="2567864" cy="365760"/>
          </a:xfrm>
          <a:prstGeom prst="rect">
            <a:avLst/>
          </a:prstGeom>
          <a:noFill/>
          <a:ln/>
        </p:spPr>
        <p:txBody>
          <a:bodyPr wrap="square" lIns="0" tIns="0" rIns="0" bIns="0" rtlCol="0" anchor="ctr"/>
          <a:lstStyle/>
          <a:p>
            <a:pPr algn="ctr" indent="0" marL="0">
              <a:buNone/>
            </a:pPr>
            <a:r>
              <a:rPr lang="en-US" sz="1000" spc="140" kern="0" dirty="0">
                <a:solidFill>
                  <a:srgbClr val="7A8BA0"/>
                </a:solidFill>
                <a:latin typeface="Calibri" pitchFamily="34" charset="0"/>
                <a:ea typeface="Calibri" pitchFamily="34" charset="-122"/>
                <a:cs typeface="Calibri" pitchFamily="34" charset="-120"/>
              </a:rPr>
              <a:t>LINES OF CODE, BY HAND</a:t>
            </a:r>
            <a:endParaRPr lang="en-US" sz="1000" dirty="0"/>
          </a:p>
        </p:txBody>
      </p:sp>
      <p:sp>
        <p:nvSpPr>
          <p:cNvPr id="17" name="Shape 15"/>
          <p:cNvSpPr/>
          <p:nvPr/>
        </p:nvSpPr>
        <p:spPr>
          <a:xfrm>
            <a:off x="685800" y="3182112"/>
            <a:ext cx="2567864" cy="1417320"/>
          </a:xfrm>
          <a:prstGeom prst="roundRect">
            <a:avLst>
              <a:gd name="adj" fmla="val 5161"/>
            </a:avLst>
          </a:prstGeom>
          <a:solidFill>
            <a:srgbClr val="FFFFFF"/>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18" name="Text 16"/>
          <p:cNvSpPr txBox="1"/>
          <p:nvPr/>
        </p:nvSpPr>
        <p:spPr>
          <a:xfrm>
            <a:off x="685800" y="3328416"/>
            <a:ext cx="2567864" cy="713232"/>
          </a:xfrm>
          <a:prstGeom prst="rect">
            <a:avLst/>
          </a:prstGeom>
          <a:noFill/>
          <a:ln/>
        </p:spPr>
        <p:txBody>
          <a:bodyPr wrap="square" lIns="0" tIns="0" rIns="0" bIns="0" rtlCol="0" anchor="ctr"/>
          <a:lstStyle/>
          <a:p>
            <a:pPr algn="ctr" indent="0" marL="0">
              <a:buNone/>
            </a:pPr>
            <a:r>
              <a:rPr lang="en-US" sz="4000" b="1" dirty="0">
                <a:solidFill>
                  <a:srgbClr val="57534E"/>
                </a:solidFill>
                <a:latin typeface="Calibri" pitchFamily="34" charset="0"/>
                <a:ea typeface="Calibri" pitchFamily="34" charset="-122"/>
                <a:cs typeface="Calibri" pitchFamily="34" charset="-120"/>
              </a:rPr>
              <a:t>72</a:t>
            </a:r>
            <a:endParaRPr lang="en-US" sz="4000" dirty="0"/>
          </a:p>
        </p:txBody>
      </p:sp>
      <p:sp>
        <p:nvSpPr>
          <p:cNvPr id="19" name="Text 17"/>
          <p:cNvSpPr txBox="1"/>
          <p:nvPr/>
        </p:nvSpPr>
        <p:spPr>
          <a:xfrm>
            <a:off x="685800" y="4078224"/>
            <a:ext cx="2567864" cy="365760"/>
          </a:xfrm>
          <a:prstGeom prst="rect">
            <a:avLst/>
          </a:prstGeom>
          <a:noFill/>
          <a:ln/>
        </p:spPr>
        <p:txBody>
          <a:bodyPr wrap="square" lIns="0" tIns="0" rIns="0" bIns="0" rtlCol="0" anchor="ctr"/>
          <a:lstStyle/>
          <a:p>
            <a:pPr algn="ctr" indent="0" marL="0">
              <a:buNone/>
            </a:pPr>
            <a:r>
              <a:rPr lang="en-US" sz="1000" spc="140" kern="0" dirty="0">
                <a:solidFill>
                  <a:srgbClr val="7A8BA0"/>
                </a:solidFill>
                <a:latin typeface="Calibri" pitchFamily="34" charset="0"/>
                <a:ea typeface="Calibri" pitchFamily="34" charset="-122"/>
                <a:cs typeface="Calibri" pitchFamily="34" charset="-120"/>
              </a:rPr>
              <a:t>PAGES ON THE SITE</a:t>
            </a:r>
            <a:endParaRPr lang="en-US" sz="1000" dirty="0"/>
          </a:p>
        </p:txBody>
      </p:sp>
      <p:sp>
        <p:nvSpPr>
          <p:cNvPr id="20" name="Shape 18"/>
          <p:cNvSpPr/>
          <p:nvPr/>
        </p:nvSpPr>
        <p:spPr>
          <a:xfrm>
            <a:off x="3436544" y="3182112"/>
            <a:ext cx="2567864" cy="1417320"/>
          </a:xfrm>
          <a:prstGeom prst="roundRect">
            <a:avLst>
              <a:gd name="adj" fmla="val 5161"/>
            </a:avLst>
          </a:prstGeom>
          <a:solidFill>
            <a:srgbClr val="FFFFFF"/>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21" name="Text 19"/>
          <p:cNvSpPr txBox="1"/>
          <p:nvPr/>
        </p:nvSpPr>
        <p:spPr>
          <a:xfrm>
            <a:off x="3436544" y="3328416"/>
            <a:ext cx="2567864" cy="713232"/>
          </a:xfrm>
          <a:prstGeom prst="rect">
            <a:avLst/>
          </a:prstGeom>
          <a:noFill/>
          <a:ln/>
        </p:spPr>
        <p:txBody>
          <a:bodyPr wrap="square" lIns="0" tIns="0" rIns="0" bIns="0" rtlCol="0" anchor="ctr"/>
          <a:lstStyle/>
          <a:p>
            <a:pPr algn="ctr" indent="0" marL="0">
              <a:buNone/>
            </a:pPr>
            <a:r>
              <a:rPr lang="en-US" sz="4000" b="1" dirty="0">
                <a:solidFill>
                  <a:srgbClr val="57534E"/>
                </a:solidFill>
                <a:latin typeface="Calibri" pitchFamily="34" charset="0"/>
                <a:ea typeface="Calibri" pitchFamily="34" charset="-122"/>
                <a:cs typeface="Calibri" pitchFamily="34" charset="-120"/>
              </a:rPr>
              <a:t>41</a:t>
            </a:r>
            <a:endParaRPr lang="en-US" sz="4000" dirty="0"/>
          </a:p>
        </p:txBody>
      </p:sp>
      <p:sp>
        <p:nvSpPr>
          <p:cNvPr id="22" name="Text 20"/>
          <p:cNvSpPr txBox="1"/>
          <p:nvPr/>
        </p:nvSpPr>
        <p:spPr>
          <a:xfrm>
            <a:off x="3436544" y="4078224"/>
            <a:ext cx="2567864" cy="365760"/>
          </a:xfrm>
          <a:prstGeom prst="rect">
            <a:avLst/>
          </a:prstGeom>
          <a:noFill/>
          <a:ln/>
        </p:spPr>
        <p:txBody>
          <a:bodyPr wrap="square" lIns="0" tIns="0" rIns="0" bIns="0" rtlCol="0" anchor="ctr"/>
          <a:lstStyle/>
          <a:p>
            <a:pPr algn="ctr" indent="0" marL="0">
              <a:buNone/>
            </a:pPr>
            <a:r>
              <a:rPr lang="en-US" sz="1000" spc="140" kern="0" dirty="0">
                <a:solidFill>
                  <a:srgbClr val="7A8BA0"/>
                </a:solidFill>
                <a:latin typeface="Calibri" pitchFamily="34" charset="0"/>
                <a:ea typeface="Calibri" pitchFamily="34" charset="-122"/>
                <a:cs typeface="Calibri" pitchFamily="34" charset="-120"/>
              </a:rPr>
              <a:t>DATABASE TABLES</a:t>
            </a:r>
            <a:endParaRPr lang="en-US" sz="1000" dirty="0"/>
          </a:p>
        </p:txBody>
      </p:sp>
      <p:sp>
        <p:nvSpPr>
          <p:cNvPr id="23" name="Shape 21"/>
          <p:cNvSpPr/>
          <p:nvPr/>
        </p:nvSpPr>
        <p:spPr>
          <a:xfrm>
            <a:off x="6187288" y="3182112"/>
            <a:ext cx="2567864" cy="1417320"/>
          </a:xfrm>
          <a:prstGeom prst="roundRect">
            <a:avLst>
              <a:gd name="adj" fmla="val 5161"/>
            </a:avLst>
          </a:prstGeom>
          <a:solidFill>
            <a:srgbClr val="FFFFFF"/>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24" name="Text 22"/>
          <p:cNvSpPr txBox="1"/>
          <p:nvPr/>
        </p:nvSpPr>
        <p:spPr>
          <a:xfrm>
            <a:off x="6187288" y="3328416"/>
            <a:ext cx="2567864" cy="713232"/>
          </a:xfrm>
          <a:prstGeom prst="rect">
            <a:avLst/>
          </a:prstGeom>
          <a:noFill/>
          <a:ln/>
        </p:spPr>
        <p:txBody>
          <a:bodyPr wrap="square" lIns="0" tIns="0" rIns="0" bIns="0" rtlCol="0" anchor="ctr"/>
          <a:lstStyle/>
          <a:p>
            <a:pPr algn="ctr" indent="0" marL="0">
              <a:buNone/>
            </a:pPr>
            <a:r>
              <a:rPr lang="en-US" sz="4000" b="1" dirty="0">
                <a:solidFill>
                  <a:srgbClr val="57534E"/>
                </a:solidFill>
                <a:latin typeface="Calibri" pitchFamily="34" charset="0"/>
                <a:ea typeface="Calibri" pitchFamily="34" charset="-122"/>
                <a:cs typeface="Calibri" pitchFamily="34" charset="-120"/>
              </a:rPr>
              <a:t>3,793</a:t>
            </a:r>
            <a:endParaRPr lang="en-US" sz="4000" dirty="0"/>
          </a:p>
        </p:txBody>
      </p:sp>
      <p:sp>
        <p:nvSpPr>
          <p:cNvPr id="25" name="Text 23"/>
          <p:cNvSpPr txBox="1"/>
          <p:nvPr/>
        </p:nvSpPr>
        <p:spPr>
          <a:xfrm>
            <a:off x="6187288" y="4078224"/>
            <a:ext cx="2567864" cy="365760"/>
          </a:xfrm>
          <a:prstGeom prst="rect">
            <a:avLst/>
          </a:prstGeom>
          <a:noFill/>
          <a:ln/>
        </p:spPr>
        <p:txBody>
          <a:bodyPr wrap="square" lIns="0" tIns="0" rIns="0" bIns="0" rtlCol="0" anchor="ctr"/>
          <a:lstStyle/>
          <a:p>
            <a:pPr algn="ctr" indent="0" marL="0">
              <a:buNone/>
            </a:pPr>
            <a:r>
              <a:rPr lang="en-US" sz="1000" spc="140" kern="0" dirty="0">
                <a:solidFill>
                  <a:srgbClr val="7A8BA0"/>
                </a:solidFill>
                <a:latin typeface="Calibri" pitchFamily="34" charset="0"/>
                <a:ea typeface="Calibri" pitchFamily="34" charset="-122"/>
                <a:cs typeface="Calibri" pitchFamily="34" charset="-120"/>
              </a:rPr>
              <a:t>LINES OF DOCUMENTATION</a:t>
            </a:r>
            <a:endParaRPr lang="en-US" sz="1000" dirty="0"/>
          </a:p>
        </p:txBody>
      </p:sp>
      <p:sp>
        <p:nvSpPr>
          <p:cNvPr id="26" name="Shape 24"/>
          <p:cNvSpPr/>
          <p:nvPr/>
        </p:nvSpPr>
        <p:spPr>
          <a:xfrm>
            <a:off x="8938031" y="3182112"/>
            <a:ext cx="2567864" cy="1417320"/>
          </a:xfrm>
          <a:prstGeom prst="roundRect">
            <a:avLst>
              <a:gd name="adj" fmla="val 5161"/>
            </a:avLst>
          </a:prstGeom>
          <a:solidFill>
            <a:srgbClr val="FFFFFF"/>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27" name="Text 25"/>
          <p:cNvSpPr txBox="1"/>
          <p:nvPr/>
        </p:nvSpPr>
        <p:spPr>
          <a:xfrm>
            <a:off x="8938031" y="3328416"/>
            <a:ext cx="2567864" cy="713232"/>
          </a:xfrm>
          <a:prstGeom prst="rect">
            <a:avLst/>
          </a:prstGeom>
          <a:noFill/>
          <a:ln/>
        </p:spPr>
        <p:txBody>
          <a:bodyPr wrap="square" lIns="0" tIns="0" rIns="0" bIns="0" rtlCol="0" anchor="ctr"/>
          <a:lstStyle/>
          <a:p>
            <a:pPr algn="ctr" indent="0" marL="0">
              <a:buNone/>
            </a:pPr>
            <a:r>
              <a:rPr lang="en-US" sz="4000" b="1" dirty="0">
                <a:solidFill>
                  <a:srgbClr val="E56B6F"/>
                </a:solidFill>
                <a:latin typeface="Calibri" pitchFamily="34" charset="0"/>
                <a:ea typeface="Calibri" pitchFamily="34" charset="-122"/>
                <a:cs typeface="Calibri" pitchFamily="34" charset="-120"/>
              </a:rPr>
              <a:t>2</a:t>
            </a:r>
            <a:endParaRPr lang="en-US" sz="4000" dirty="0"/>
          </a:p>
        </p:txBody>
      </p:sp>
      <p:sp>
        <p:nvSpPr>
          <p:cNvPr id="28" name="Text 26"/>
          <p:cNvSpPr txBox="1"/>
          <p:nvPr/>
        </p:nvSpPr>
        <p:spPr>
          <a:xfrm>
            <a:off x="8938031" y="4078224"/>
            <a:ext cx="2567864" cy="365760"/>
          </a:xfrm>
          <a:prstGeom prst="rect">
            <a:avLst/>
          </a:prstGeom>
          <a:noFill/>
          <a:ln/>
        </p:spPr>
        <p:txBody>
          <a:bodyPr wrap="square" lIns="0" tIns="0" rIns="0" bIns="0" rtlCol="0" anchor="ctr"/>
          <a:lstStyle/>
          <a:p>
            <a:pPr algn="ctr" indent="0" marL="0">
              <a:buNone/>
            </a:pPr>
            <a:r>
              <a:rPr lang="en-US" sz="1000" spc="140" kern="0" dirty="0">
                <a:solidFill>
                  <a:srgbClr val="7A8BA0"/>
                </a:solidFill>
                <a:latin typeface="Calibri" pitchFamily="34" charset="0"/>
                <a:ea typeface="Calibri" pitchFamily="34" charset="-122"/>
                <a:cs typeface="Calibri" pitchFamily="34" charset="-120"/>
              </a:rPr>
              <a:t>DEVELOPERS</a:t>
            </a:r>
            <a:endParaRPr lang="en-US" sz="1000" dirty="0"/>
          </a:p>
        </p:txBody>
      </p:sp>
      <p:sp>
        <p:nvSpPr>
          <p:cNvPr id="29" name="Shape 27"/>
          <p:cNvSpPr/>
          <p:nvPr/>
        </p:nvSpPr>
        <p:spPr>
          <a:xfrm>
            <a:off x="685800" y="4937760"/>
            <a:ext cx="10820095" cy="868680"/>
          </a:xfrm>
          <a:prstGeom prst="roundRect">
            <a:avLst>
              <a:gd name="adj" fmla="val 8421"/>
            </a:avLst>
          </a:prstGeom>
          <a:solidFill>
            <a:srgbClr val="F4F8FA"/>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30" name="Text 28"/>
          <p:cNvSpPr txBox="1"/>
          <p:nvPr/>
        </p:nvSpPr>
        <p:spPr>
          <a:xfrm>
            <a:off x="960120" y="4992624"/>
            <a:ext cx="10271455" cy="758952"/>
          </a:xfrm>
          <a:prstGeom prst="rect">
            <a:avLst/>
          </a:prstGeom>
          <a:noFill/>
          <a:ln/>
        </p:spPr>
        <p:txBody>
          <a:bodyPr wrap="square" lIns="0" tIns="0" rIns="0" bIns="0" rtlCol="0" anchor="ctr"/>
          <a:lstStyle/>
          <a:p>
            <a:pPr indent="0" marL="0">
              <a:buNone/>
            </a:pPr>
            <a:r>
              <a:rPr lang="en-US" sz="1600" b="1" dirty="0">
                <a:solidFill>
                  <a:srgbClr val="355070"/>
                </a:solidFill>
                <a:latin typeface="Calibri" pitchFamily="34" charset="0"/>
                <a:ea typeface="Calibri" pitchFamily="34" charset="-122"/>
                <a:cs typeface="Calibri" pitchFamily="34" charset="-120"/>
              </a:rPr>
              <a:t>About thirty units of work every month, for twenty-nine months. Alongside our regular jobs.</a:t>
            </a:r>
            <a:endParaRPr lang="en-US" sz="1600" dirty="0"/>
          </a:p>
        </p:txBody>
      </p:sp>
      <p:sp>
        <p:nvSpPr>
          <p:cNvPr id="31" name="Text 29"/>
          <p:cNvSpPr txBox="1"/>
          <p:nvPr/>
        </p:nvSpPr>
        <p:spPr>
          <a:xfrm>
            <a:off x="685800" y="5989320"/>
            <a:ext cx="10820095" cy="292608"/>
          </a:xfrm>
          <a:prstGeom prst="rect">
            <a:avLst/>
          </a:prstGeom>
          <a:noFill/>
          <a:ln/>
        </p:spPr>
        <p:txBody>
          <a:bodyPr wrap="square" lIns="0" tIns="0" rIns="0" bIns="0" rtlCol="0" anchor="ctr"/>
          <a:lstStyle/>
          <a:p>
            <a:pPr indent="0" marL="0">
              <a:buNone/>
            </a:pPr>
            <a:r>
              <a:rPr lang="en-US" sz="1200" i="1" dirty="0">
                <a:solidFill>
                  <a:srgbClr val="7A8BA0"/>
                </a:solidFill>
                <a:latin typeface="Calibri" pitchFamily="34" charset="0"/>
                <a:ea typeface="Calibri" pitchFamily="34" charset="-122"/>
                <a:cs typeface="Calibri" pitchFamily="34" charset="-120"/>
              </a:rPr>
              <a:t>A “batch of work” is one recorded change — think of it as one entry in a very detailed lab notebook.</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9082735" cy="228600"/>
          </a:xfrm>
          <a:prstGeom prst="rect">
            <a:avLst/>
          </a:prstGeom>
          <a:noFill/>
          <a:ln/>
        </p:spPr>
        <p:txBody>
          <a:bodyPr wrap="square" lIns="0" tIns="0" rIns="0" bIns="0" rtlCol="0" anchor="ctr"/>
          <a:lstStyle/>
          <a:p>
            <a:pPr indent="0" marL="0">
              <a:buNone/>
            </a:pPr>
            <a:r>
              <a:rPr lang="en-US" sz="1100" b="1" spc="160" kern="0" dirty="0">
                <a:solidFill>
                  <a:srgbClr val="6D597A"/>
                </a:solidFill>
                <a:latin typeface="Calibri" pitchFamily="34" charset="0"/>
                <a:ea typeface="Calibri" pitchFamily="34" charset="-122"/>
                <a:cs typeface="Calibri" pitchFamily="34" charset="-120"/>
              </a:rPr>
              <a:t>TEN STAGES</a:t>
            </a:r>
            <a:endParaRPr lang="en-US" sz="1100" dirty="0"/>
          </a:p>
        </p:txBody>
      </p:sp>
      <p:sp>
        <p:nvSpPr>
          <p:cNvPr id="3" name="Text 1"/>
          <p:cNvSpPr txBox="1"/>
          <p:nvPr/>
        </p:nvSpPr>
        <p:spPr>
          <a:xfrm>
            <a:off x="685800" y="713232"/>
            <a:ext cx="9082735" cy="777240"/>
          </a:xfrm>
          <a:prstGeom prst="rect">
            <a:avLst/>
          </a:prstGeom>
          <a:noFill/>
          <a:ln/>
        </p:spPr>
        <p:txBody>
          <a:bodyPr wrap="square" lIns="0" tIns="0" rIns="0" bIns="0" rtlCol="0" anchor="t"/>
          <a:lstStyle/>
          <a:p>
            <a:pPr indent="0" marL="0">
              <a:buNone/>
            </a:pPr>
            <a:r>
              <a:rPr lang="en-US" sz="3000" b="1" dirty="0">
                <a:solidFill>
                  <a:srgbClr val="355070"/>
                </a:solidFill>
                <a:latin typeface="Calibri" pitchFamily="34" charset="0"/>
                <a:ea typeface="Calibri" pitchFamily="34" charset="-122"/>
                <a:cs typeface="Calibri" pitchFamily="34" charset="-120"/>
              </a:rPr>
              <a:t>How it was built</a:t>
            </a:r>
            <a:endParaRPr lang="en-US" sz="3000" dirty="0"/>
          </a:p>
        </p:txBody>
      </p:sp>
      <p:sp>
        <p:nvSpPr>
          <p:cNvPr id="4" name="Text 2"/>
          <p:cNvSpPr txBox="1"/>
          <p:nvPr/>
        </p:nvSpPr>
        <p:spPr>
          <a:xfrm>
            <a:off x="10042855" y="493776"/>
            <a:ext cx="1463040" cy="274320"/>
          </a:xfrm>
          <a:prstGeom prst="rect">
            <a:avLst/>
          </a:prstGeom>
          <a:noFill/>
          <a:ln/>
        </p:spPr>
        <p:txBody>
          <a:bodyPr wrap="square" lIns="0" tIns="0" rIns="0" bIns="0" rtlCol="0" anchor="ctr"/>
          <a:lstStyle/>
          <a:p>
            <a:pPr algn="r" indent="0" marL="0">
              <a:buNone/>
            </a:pPr>
            <a:r>
              <a:rPr lang="en-US" sz="1100" dirty="0">
                <a:solidFill>
                  <a:srgbClr val="7A8BA0"/>
                </a:solidFill>
                <a:latin typeface="Calibri" pitchFamily="34" charset="0"/>
                <a:ea typeface="Calibri" pitchFamily="34" charset="-122"/>
                <a:cs typeface="Calibri" pitchFamily="34" charset="-120"/>
              </a:rPr>
              <a:t>Meng</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85800" y="1536192"/>
          <a:ext cx="10820095" cy="914400"/>
        </p:xfrm>
        <a:graphic>
          <a:graphicData uri="http://schemas.openxmlformats.org/drawingml/2006/table">
            <a:tbl>
              <a:tblPr/>
              <a:tblGrid>
                <a:gridCol w="685800"/>
                <a:gridCol w="6035040"/>
                <a:gridCol w="2834640"/>
                <a:gridCol w="1261872"/>
              </a:tblGrid>
              <a:tr h="365760">
                <a:tc>
                  <a:txBody>
                    <a:bodyPr/>
                    <a:lstStyle/>
                    <a:p>
                      <a:pPr indent="0" marL="0">
                        <a:buNone/>
                      </a:pP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solidFill>
                      <a:srgbClr val="355070"/>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Stage</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solidFill>
                      <a:srgbClr val="355070"/>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When</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solidFill>
                      <a:srgbClr val="355070"/>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Units of work</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solidFill>
                      <a:srgbClr val="355070"/>
                    </a:solidFill>
                  </a:tcPr>
                </a:tc>
              </a:tr>
              <a:tr h="365760">
                <a:tc>
                  <a:txBody>
                    <a:bodyPr/>
                    <a:lstStyle/>
                    <a:p>
                      <a:pPr algn="ctr" indent="0" marL="0">
                        <a:buNone/>
                      </a:pPr>
                      <a:r>
                        <a:rPr lang="en-US" sz="1250" dirty="0">
                          <a:solidFill>
                            <a:srgbClr val="355070"/>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indent="0" marL="0">
                        <a:buNone/>
                      </a:pPr>
                      <a:r>
                        <a:rPr lang="en-US" sz="1250" dirty="0">
                          <a:solidFill>
                            <a:srgbClr val="355070"/>
                          </a:solidFill>
                          <a:latin typeface="Calibri" pitchFamily="34" charset="0"/>
                          <a:ea typeface="Calibri" pitchFamily="34" charset="-122"/>
                          <a:cs typeface="Calibri" pitchFamily="34" charset="-120"/>
                        </a:rPr>
                        <a:t>Foundations</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indent="0" marL="0">
                        <a:buNone/>
                      </a:pPr>
                      <a:r>
                        <a:rPr lang="en-US" sz="1250" dirty="0">
                          <a:solidFill>
                            <a:srgbClr val="355070"/>
                          </a:solidFill>
                          <a:latin typeface="Calibri" pitchFamily="34" charset="0"/>
                          <a:ea typeface="Calibri" pitchFamily="34" charset="-122"/>
                          <a:cs typeface="Calibri" pitchFamily="34" charset="-120"/>
                        </a:rPr>
                        <a:t>Mar – May 2024</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algn="ctr" indent="0" marL="0">
                        <a:buNone/>
                      </a:pPr>
                      <a:r>
                        <a:rPr lang="en-US" sz="1250" dirty="0">
                          <a:solidFill>
                            <a:srgbClr val="355070"/>
                          </a:solidFill>
                          <a:latin typeface="Calibri" pitchFamily="34" charset="0"/>
                          <a:ea typeface="Calibri" pitchFamily="34" charset="-122"/>
                          <a:cs typeface="Calibri" pitchFamily="34" charset="-120"/>
                        </a:rPr>
                        <a:t>95</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r>
              <a:tr h="365760">
                <a:tc>
                  <a:txBody>
                    <a:bodyPr/>
                    <a:lstStyle/>
                    <a:p>
                      <a:pPr algn="ctr" indent="0" marL="0">
                        <a:buNone/>
                      </a:pPr>
                      <a:r>
                        <a:rPr lang="en-US" sz="1250" dirty="0">
                          <a:solidFill>
                            <a:srgbClr val="355070"/>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indent="0" marL="0">
                        <a:buNone/>
                      </a:pPr>
                      <a:r>
                        <a:rPr lang="en-US" sz="1250" dirty="0">
                          <a:solidFill>
                            <a:srgbClr val="355070"/>
                          </a:solidFill>
                          <a:latin typeface="Calibri" pitchFamily="34" charset="0"/>
                          <a:ea typeface="Calibri" pitchFamily="34" charset="-122"/>
                          <a:cs typeface="Calibri" pitchFamily="34" charset="-120"/>
                        </a:rPr>
                        <a:t>Accounts and sign-in</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indent="0" marL="0">
                        <a:buNone/>
                      </a:pPr>
                      <a:r>
                        <a:rPr lang="en-US" sz="1250" dirty="0">
                          <a:solidFill>
                            <a:srgbClr val="355070"/>
                          </a:solidFill>
                          <a:latin typeface="Calibri" pitchFamily="34" charset="0"/>
                          <a:ea typeface="Calibri" pitchFamily="34" charset="-122"/>
                          <a:cs typeface="Calibri" pitchFamily="34" charset="-120"/>
                        </a:rPr>
                        <a:t>May – Aug 2024</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algn="ctr" indent="0" marL="0">
                        <a:buNone/>
                      </a:pPr>
                      <a:r>
                        <a:rPr lang="en-US" sz="1250" dirty="0">
                          <a:solidFill>
                            <a:srgbClr val="355070"/>
                          </a:solidFill>
                          <a:latin typeface="Calibri" pitchFamily="34" charset="0"/>
                          <a:ea typeface="Calibri" pitchFamily="34" charset="-122"/>
                          <a:cs typeface="Calibri" pitchFamily="34" charset="-120"/>
                        </a:rPr>
                        <a:t>90</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r>
              <a:tr h="365760">
                <a:tc>
                  <a:txBody>
                    <a:bodyPr/>
                    <a:lstStyle/>
                    <a:p>
                      <a:pPr algn="ctr" indent="0" marL="0">
                        <a:buNone/>
                      </a:pPr>
                      <a:r>
                        <a:rPr lang="en-US" sz="1250" dirty="0">
                          <a:solidFill>
                            <a:srgbClr val="355070"/>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indent="0" marL="0">
                        <a:buNone/>
                      </a:pPr>
                      <a:r>
                        <a:rPr lang="en-US" sz="1250" dirty="0">
                          <a:solidFill>
                            <a:srgbClr val="355070"/>
                          </a:solidFill>
                          <a:latin typeface="Calibri" pitchFamily="34" charset="0"/>
                          <a:ea typeface="Calibri" pitchFamily="34" charset="-122"/>
                          <a:cs typeface="Calibri" pitchFamily="34" charset="-120"/>
                        </a:rPr>
                        <a:t>The data model, and importing the old data</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indent="0" marL="0">
                        <a:buNone/>
                      </a:pPr>
                      <a:r>
                        <a:rPr lang="en-US" sz="1250" dirty="0">
                          <a:solidFill>
                            <a:srgbClr val="355070"/>
                          </a:solidFill>
                          <a:latin typeface="Calibri" pitchFamily="34" charset="0"/>
                          <a:ea typeface="Calibri" pitchFamily="34" charset="-122"/>
                          <a:cs typeface="Calibri" pitchFamily="34" charset="-120"/>
                        </a:rPr>
                        <a:t>Aug – Oct 2024</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algn="ctr" indent="0" marL="0">
                        <a:buNone/>
                      </a:pPr>
                      <a:r>
                        <a:rPr lang="en-US" sz="1250" dirty="0">
                          <a:solidFill>
                            <a:srgbClr val="355070"/>
                          </a:solidFill>
                          <a:latin typeface="Calibri" pitchFamily="34" charset="0"/>
                          <a:ea typeface="Calibri" pitchFamily="34" charset="-122"/>
                          <a:cs typeface="Calibri" pitchFamily="34" charset="-120"/>
                        </a:rPr>
                        <a:t>50</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r>
              <a:tr h="365760">
                <a:tc>
                  <a:txBody>
                    <a:bodyPr/>
                    <a:lstStyle/>
                    <a:p>
                      <a:pPr algn="ctr" indent="0" marL="0">
                        <a:buNone/>
                      </a:pPr>
                      <a:r>
                        <a:rPr lang="en-US" sz="1250" dirty="0">
                          <a:solidFill>
                            <a:srgbClr val="355070"/>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indent="0" marL="0">
                        <a:buNone/>
                      </a:pPr>
                      <a:r>
                        <a:rPr lang="en-US" sz="1250" dirty="0">
                          <a:solidFill>
                            <a:srgbClr val="355070"/>
                          </a:solidFill>
                          <a:latin typeface="Calibri" pitchFamily="34" charset="0"/>
                          <a:ea typeface="Calibri" pitchFamily="34" charset="-122"/>
                          <a:cs typeface="Calibri" pitchFamily="34" charset="-120"/>
                        </a:rPr>
                        <a:t>The shared database lists; first admin tools</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indent="0" marL="0">
                        <a:buNone/>
                      </a:pPr>
                      <a:r>
                        <a:rPr lang="en-US" sz="1250" dirty="0">
                          <a:solidFill>
                            <a:srgbClr val="355070"/>
                          </a:solidFill>
                          <a:latin typeface="Calibri" pitchFamily="34" charset="0"/>
                          <a:ea typeface="Calibri" pitchFamily="34" charset="-122"/>
                          <a:cs typeface="Calibri" pitchFamily="34" charset="-120"/>
                        </a:rPr>
                        <a:t>Oct 2024 – Mar 2025</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algn="ctr" indent="0" marL="0">
                        <a:buNone/>
                      </a:pPr>
                      <a:r>
                        <a:rPr lang="en-US" sz="1250" dirty="0">
                          <a:solidFill>
                            <a:srgbClr val="355070"/>
                          </a:solidFill>
                          <a:latin typeface="Calibri" pitchFamily="34" charset="0"/>
                          <a:ea typeface="Calibri" pitchFamily="34" charset="-122"/>
                          <a:cs typeface="Calibri" pitchFamily="34" charset="-120"/>
                        </a:rPr>
                        <a:t>110</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r>
              <a:tr h="365760">
                <a:tc>
                  <a:txBody>
                    <a:bodyPr/>
                    <a:lstStyle/>
                    <a:p>
                      <a:pPr algn="ctr" indent="0" marL="0">
                        <a:buNone/>
                      </a:pPr>
                      <a:r>
                        <a:rPr lang="en-US" sz="1250" dirty="0">
                          <a:solidFill>
                            <a:srgbClr val="355070"/>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indent="0" marL="0">
                        <a:buNone/>
                      </a:pPr>
                      <a:r>
                        <a:rPr lang="en-US" sz="1250" dirty="0">
                          <a:solidFill>
                            <a:srgbClr val="355070"/>
                          </a:solidFill>
                          <a:latin typeface="Calibri" pitchFamily="34" charset="0"/>
                          <a:ea typeface="Calibri" pitchFamily="34" charset="-122"/>
                          <a:cs typeface="Calibri" pitchFamily="34" charset="-120"/>
                        </a:rPr>
                        <a:t>The ten survey forms</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indent="0" marL="0">
                        <a:buNone/>
                      </a:pPr>
                      <a:r>
                        <a:rPr lang="en-US" sz="1250" dirty="0">
                          <a:solidFill>
                            <a:srgbClr val="355070"/>
                          </a:solidFill>
                          <a:latin typeface="Calibri" pitchFamily="34" charset="0"/>
                          <a:ea typeface="Calibri" pitchFamily="34" charset="-122"/>
                          <a:cs typeface="Calibri" pitchFamily="34" charset="-120"/>
                        </a:rPr>
                        <a:t>Apr – Aug 2025</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algn="ctr" indent="0" marL="0">
                        <a:buNone/>
                      </a:pPr>
                      <a:r>
                        <a:rPr lang="en-US" sz="1250" dirty="0">
                          <a:solidFill>
                            <a:srgbClr val="355070"/>
                          </a:solidFill>
                          <a:latin typeface="Calibri" pitchFamily="34" charset="0"/>
                          <a:ea typeface="Calibri" pitchFamily="34" charset="-122"/>
                          <a:cs typeface="Calibri" pitchFamily="34" charset="-120"/>
                        </a:rPr>
                        <a:t>115</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r>
              <a:tr h="365760">
                <a:tc>
                  <a:txBody>
                    <a:bodyPr/>
                    <a:lstStyle/>
                    <a:p>
                      <a:pPr algn="ctr" indent="0" marL="0">
                        <a:buNone/>
                      </a:pPr>
                      <a:r>
                        <a:rPr lang="en-US" sz="1250" dirty="0">
                          <a:solidFill>
                            <a:srgbClr val="355070"/>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indent="0" marL="0">
                        <a:buNone/>
                      </a:pPr>
                      <a:r>
                        <a:rPr lang="en-US" sz="1250" dirty="0">
                          <a:solidFill>
                            <a:srgbClr val="355070"/>
                          </a:solidFill>
                          <a:latin typeface="Calibri" pitchFamily="34" charset="0"/>
                          <a:ea typeface="Calibri" pitchFamily="34" charset="-122"/>
                          <a:cs typeface="Calibri" pitchFamily="34" charset="-120"/>
                        </a:rPr>
                        <a:t>Getting ready to go live</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indent="0" marL="0">
                        <a:buNone/>
                      </a:pPr>
                      <a:r>
                        <a:rPr lang="en-US" sz="1250" dirty="0">
                          <a:solidFill>
                            <a:srgbClr val="355070"/>
                          </a:solidFill>
                          <a:latin typeface="Calibri" pitchFamily="34" charset="0"/>
                          <a:ea typeface="Calibri" pitchFamily="34" charset="-122"/>
                          <a:cs typeface="Calibri" pitchFamily="34" charset="-120"/>
                        </a:rPr>
                        <a:t>Sept 2025</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algn="ctr" indent="0" marL="0">
                        <a:buNone/>
                      </a:pPr>
                      <a:r>
                        <a:rPr lang="en-US" sz="1250" dirty="0">
                          <a:solidFill>
                            <a:srgbClr val="355070"/>
                          </a:solidFill>
                          <a:latin typeface="Calibri" pitchFamily="34" charset="0"/>
                          <a:ea typeface="Calibri" pitchFamily="34" charset="-122"/>
                          <a:cs typeface="Calibri" pitchFamily="34" charset="-120"/>
                        </a:rPr>
                        <a:t>116</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r>
              <a:tr h="365760">
                <a:tc>
                  <a:txBody>
                    <a:bodyPr/>
                    <a:lstStyle/>
                    <a:p>
                      <a:pPr algn="ctr" indent="0" marL="0">
                        <a:buNone/>
                      </a:pPr>
                      <a:r>
                        <a:rPr lang="en-US" sz="1250" b="1" dirty="0">
                          <a:solidFill>
                            <a:srgbClr val="E56B6F"/>
                          </a:solidFill>
                          <a:latin typeface="Calibri" pitchFamily="34" charset="0"/>
                          <a:ea typeface="Calibri" pitchFamily="34" charset="-122"/>
                          <a:cs typeface="Calibri" pitchFamily="34" charset="-120"/>
                        </a:rPr>
                        <a:t>7</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solidFill>
                      <a:srgbClr val="F4F8FA"/>
                    </a:solidFill>
                  </a:tcPr>
                </a:tc>
                <a:tc>
                  <a:txBody>
                    <a:bodyPr/>
                    <a:lstStyle/>
                    <a:p>
                      <a:pPr indent="0" marL="0">
                        <a:buNone/>
                      </a:pPr>
                      <a:r>
                        <a:rPr lang="en-US" sz="1250" b="1" dirty="0">
                          <a:solidFill>
                            <a:srgbClr val="E56B6F"/>
                          </a:solidFill>
                          <a:latin typeface="Calibri" pitchFamily="34" charset="0"/>
                          <a:ea typeface="Calibri" pitchFamily="34" charset="-122"/>
                          <a:cs typeface="Calibri" pitchFamily="34" charset="-120"/>
                        </a:rPr>
                        <a:t>The 2025 collection, live</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solidFill>
                      <a:srgbClr val="F4F8FA"/>
                    </a:solidFill>
                  </a:tcPr>
                </a:tc>
                <a:tc>
                  <a:txBody>
                    <a:bodyPr/>
                    <a:lstStyle/>
                    <a:p>
                      <a:pPr indent="0" marL="0">
                        <a:buNone/>
                      </a:pPr>
                      <a:r>
                        <a:rPr lang="en-US" sz="1250" b="1" dirty="0">
                          <a:solidFill>
                            <a:srgbClr val="E56B6F"/>
                          </a:solidFill>
                          <a:latin typeface="Calibri" pitchFamily="34" charset="0"/>
                          <a:ea typeface="Calibri" pitchFamily="34" charset="-122"/>
                          <a:cs typeface="Calibri" pitchFamily="34" charset="-120"/>
                        </a:rPr>
                        <a:t>Oct – Dec 2025</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solidFill>
                      <a:srgbClr val="F4F8FA"/>
                    </a:solidFill>
                  </a:tcPr>
                </a:tc>
                <a:tc>
                  <a:txBody>
                    <a:bodyPr/>
                    <a:lstStyle/>
                    <a:p>
                      <a:pPr algn="ctr" indent="0" marL="0">
                        <a:buNone/>
                      </a:pPr>
                      <a:r>
                        <a:rPr lang="en-US" sz="1250" b="1" dirty="0">
                          <a:solidFill>
                            <a:srgbClr val="E56B6F"/>
                          </a:solidFill>
                          <a:latin typeface="Calibri" pitchFamily="34" charset="0"/>
                          <a:ea typeface="Calibri" pitchFamily="34" charset="-122"/>
                          <a:cs typeface="Calibri" pitchFamily="34" charset="-120"/>
                        </a:rPr>
                        <a:t>218</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solidFill>
                      <a:srgbClr val="F4F8FA"/>
                    </a:solidFill>
                  </a:tcPr>
                </a:tc>
              </a:tr>
              <a:tr h="365760">
                <a:tc>
                  <a:txBody>
                    <a:bodyPr/>
                    <a:lstStyle/>
                    <a:p>
                      <a:pPr algn="ctr" indent="0" marL="0">
                        <a:buNone/>
                      </a:pPr>
                      <a:r>
                        <a:rPr lang="en-US" sz="1250" dirty="0">
                          <a:solidFill>
                            <a:srgbClr val="355070"/>
                          </a:solidFill>
                          <a:latin typeface="Calibri" pitchFamily="34" charset="0"/>
                          <a:ea typeface="Calibri" pitchFamily="34" charset="-122"/>
                          <a:cs typeface="Calibri" pitchFamily="34" charset="-120"/>
                        </a:rPr>
                        <a:t>8</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indent="0" marL="0">
                        <a:buNone/>
                      </a:pPr>
                      <a:r>
                        <a:rPr lang="en-US" sz="1250" dirty="0">
                          <a:solidFill>
                            <a:srgbClr val="355070"/>
                          </a:solidFill>
                          <a:latin typeface="Calibri" pitchFamily="34" charset="0"/>
                          <a:ea typeface="Calibri" pitchFamily="34" charset="-122"/>
                          <a:cs typeface="Calibri" pitchFamily="34" charset="-120"/>
                        </a:rPr>
                        <a:t>Reports and exports</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indent="0" marL="0">
                        <a:buNone/>
                      </a:pPr>
                      <a:r>
                        <a:rPr lang="en-US" sz="1250" dirty="0">
                          <a:solidFill>
                            <a:srgbClr val="355070"/>
                          </a:solidFill>
                          <a:latin typeface="Calibri" pitchFamily="34" charset="0"/>
                          <a:ea typeface="Calibri" pitchFamily="34" charset="-122"/>
                          <a:cs typeface="Calibri" pitchFamily="34" charset="-120"/>
                        </a:rPr>
                        <a:t>Jan – Mar 2026</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algn="ctr" indent="0" marL="0">
                        <a:buNone/>
                      </a:pPr>
                      <a:r>
                        <a:rPr lang="en-US" sz="1250" dirty="0">
                          <a:solidFill>
                            <a:srgbClr val="355070"/>
                          </a:solidFill>
                          <a:latin typeface="Calibri" pitchFamily="34" charset="0"/>
                          <a:ea typeface="Calibri" pitchFamily="34" charset="-122"/>
                          <a:cs typeface="Calibri" pitchFamily="34" charset="-120"/>
                        </a:rPr>
                        <a:t>55</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r>
              <a:tr h="365760">
                <a:tc>
                  <a:txBody>
                    <a:bodyPr/>
                    <a:lstStyle/>
                    <a:p>
                      <a:pPr algn="ctr" indent="0" marL="0">
                        <a:buNone/>
                      </a:pPr>
                      <a:r>
                        <a:rPr lang="en-US" sz="1250" dirty="0">
                          <a:solidFill>
                            <a:srgbClr val="355070"/>
                          </a:solidFill>
                          <a:latin typeface="Calibri" pitchFamily="34" charset="0"/>
                          <a:ea typeface="Calibri" pitchFamily="34" charset="-122"/>
                          <a:cs typeface="Calibri" pitchFamily="34" charset="-120"/>
                        </a:rPr>
                        <a:t>9</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indent="0" marL="0">
                        <a:buNone/>
                      </a:pPr>
                      <a:r>
                        <a:rPr lang="en-US" sz="1250" dirty="0">
                          <a:solidFill>
                            <a:srgbClr val="355070"/>
                          </a:solidFill>
                          <a:latin typeface="Calibri" pitchFamily="34" charset="0"/>
                          <a:ea typeface="Calibri" pitchFamily="34" charset="-122"/>
                          <a:cs typeface="Calibri" pitchFamily="34" charset="-120"/>
                        </a:rPr>
                        <a:t>The public statistics pages</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indent="0" marL="0">
                        <a:buNone/>
                      </a:pPr>
                      <a:r>
                        <a:rPr lang="en-US" sz="1250" dirty="0">
                          <a:solidFill>
                            <a:srgbClr val="355070"/>
                          </a:solidFill>
                          <a:latin typeface="Calibri" pitchFamily="34" charset="0"/>
                          <a:ea typeface="Calibri" pitchFamily="34" charset="-122"/>
                          <a:cs typeface="Calibri" pitchFamily="34" charset="-120"/>
                        </a:rPr>
                        <a:t>May – Jun 2026</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algn="ctr" indent="0" marL="0">
                        <a:buNone/>
                      </a:pPr>
                      <a:r>
                        <a:rPr lang="en-US" sz="1250" dirty="0">
                          <a:solidFill>
                            <a:srgbClr val="355070"/>
                          </a:solidFill>
                          <a:latin typeface="Calibri" pitchFamily="34" charset="0"/>
                          <a:ea typeface="Calibri" pitchFamily="34" charset="-122"/>
                          <a:cs typeface="Calibri" pitchFamily="34" charset="-120"/>
                        </a:rPr>
                        <a:t>63</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r>
              <a:tr h="365760">
                <a:tc>
                  <a:txBody>
                    <a:bodyPr/>
                    <a:lstStyle/>
                    <a:p>
                      <a:pPr algn="ctr" indent="0" marL="0">
                        <a:buNone/>
                      </a:pPr>
                      <a:r>
                        <a:rPr lang="en-US" sz="1250" dirty="0">
                          <a:solidFill>
                            <a:srgbClr val="355070"/>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indent="0" marL="0">
                        <a:buNone/>
                      </a:pPr>
                      <a:r>
                        <a:rPr lang="en-US" sz="1250" dirty="0">
                          <a:solidFill>
                            <a:srgbClr val="355070"/>
                          </a:solidFill>
                          <a:latin typeface="Calibri" pitchFamily="34" charset="0"/>
                          <a:ea typeface="Calibri" pitchFamily="34" charset="-122"/>
                          <a:cs typeface="Calibri" pitchFamily="34" charset="-120"/>
                        </a:rPr>
                        <a:t>Tightening security</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indent="0" marL="0">
                        <a:buNone/>
                      </a:pPr>
                      <a:r>
                        <a:rPr lang="en-US" sz="1250" dirty="0">
                          <a:solidFill>
                            <a:srgbClr val="355070"/>
                          </a:solidFill>
                          <a:latin typeface="Calibri" pitchFamily="34" charset="0"/>
                          <a:ea typeface="Calibri" pitchFamily="34" charset="-122"/>
                          <a:cs typeface="Calibri" pitchFamily="34" charset="-120"/>
                        </a:rPr>
                        <a:t>Aug 2026</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algn="ctr" indent="0" marL="0">
                        <a:buNone/>
                      </a:pPr>
                      <a:r>
                        <a:rPr lang="en-US" sz="1250" dirty="0">
                          <a:solidFill>
                            <a:srgbClr val="355070"/>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r>
            </a:tbl>
          </a:graphicData>
        </a:graphic>
      </p:graphicFrame>
      <p:sp>
        <p:nvSpPr>
          <p:cNvPr id="6" name="Shape 3"/>
          <p:cNvSpPr/>
          <p:nvPr/>
        </p:nvSpPr>
        <p:spPr>
          <a:xfrm>
            <a:off x="685800" y="5504688"/>
            <a:ext cx="10820095" cy="868680"/>
          </a:xfrm>
          <a:prstGeom prst="roundRect">
            <a:avLst>
              <a:gd name="adj" fmla="val 8421"/>
            </a:avLst>
          </a:prstGeom>
          <a:solidFill>
            <a:srgbClr val="F4F8FA"/>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7" name="Text 4"/>
          <p:cNvSpPr txBox="1"/>
          <p:nvPr/>
        </p:nvSpPr>
        <p:spPr>
          <a:xfrm>
            <a:off x="960120" y="5559552"/>
            <a:ext cx="10271455" cy="758952"/>
          </a:xfrm>
          <a:prstGeom prst="rect">
            <a:avLst/>
          </a:prstGeom>
          <a:noFill/>
          <a:ln/>
        </p:spPr>
        <p:txBody>
          <a:bodyPr wrap="square" lIns="0" tIns="0" rIns="0" bIns="0" rtlCol="0" anchor="ctr"/>
          <a:lstStyle/>
          <a:p>
            <a:pPr indent="0" marL="0">
              <a:buNone/>
            </a:pPr>
            <a:r>
              <a:rPr lang="en-US" sz="1600" b="1" dirty="0">
                <a:solidFill>
                  <a:srgbClr val="6D597A"/>
                </a:solidFill>
                <a:latin typeface="Calibri" pitchFamily="34" charset="0"/>
                <a:ea typeface="Calibri" pitchFamily="34" charset="-122"/>
                <a:cs typeface="Calibri" pitchFamily="34" charset="-120"/>
              </a:rPr>
              <a:t>Stages one to five were building. Six to ten were keeping it alive.</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9082735" cy="228600"/>
          </a:xfrm>
          <a:prstGeom prst="rect">
            <a:avLst/>
          </a:prstGeom>
          <a:noFill/>
          <a:ln/>
        </p:spPr>
        <p:txBody>
          <a:bodyPr wrap="square" lIns="0" tIns="0" rIns="0" bIns="0" rtlCol="0" anchor="ctr"/>
          <a:lstStyle/>
          <a:p>
            <a:pPr indent="0" marL="0">
              <a:buNone/>
            </a:pPr>
            <a:r>
              <a:rPr lang="en-US" sz="1100" b="1" spc="160" kern="0" dirty="0">
                <a:solidFill>
                  <a:srgbClr val="6D597A"/>
                </a:solidFill>
                <a:latin typeface="Calibri" pitchFamily="34" charset="0"/>
                <a:ea typeface="Calibri" pitchFamily="34" charset="-122"/>
                <a:cs typeface="Calibri" pitchFamily="34" charset="-120"/>
              </a:rPr>
              <a:t>STAGE SEVEN</a:t>
            </a:r>
            <a:endParaRPr lang="en-US" sz="1100" dirty="0"/>
          </a:p>
        </p:txBody>
      </p:sp>
      <p:sp>
        <p:nvSpPr>
          <p:cNvPr id="3" name="Text 1"/>
          <p:cNvSpPr txBox="1"/>
          <p:nvPr/>
        </p:nvSpPr>
        <p:spPr>
          <a:xfrm>
            <a:off x="685800" y="713232"/>
            <a:ext cx="9082735" cy="777240"/>
          </a:xfrm>
          <a:prstGeom prst="rect">
            <a:avLst/>
          </a:prstGeom>
          <a:noFill/>
          <a:ln/>
        </p:spPr>
        <p:txBody>
          <a:bodyPr wrap="square" lIns="0" tIns="0" rIns="0" bIns="0" rtlCol="0" anchor="t"/>
          <a:lstStyle/>
          <a:p>
            <a:pPr indent="0" marL="0">
              <a:buNone/>
            </a:pPr>
            <a:r>
              <a:rPr lang="en-US" sz="3000" b="1" dirty="0">
                <a:solidFill>
                  <a:srgbClr val="355070"/>
                </a:solidFill>
                <a:latin typeface="Calibri" pitchFamily="34" charset="0"/>
                <a:ea typeface="Calibri" pitchFamily="34" charset="-122"/>
                <a:cs typeface="Calibri" pitchFamily="34" charset="-120"/>
              </a:rPr>
              <a:t>The 2025 collection ran, start to finish</a:t>
            </a:r>
            <a:endParaRPr lang="en-US" sz="3000" dirty="0"/>
          </a:p>
        </p:txBody>
      </p:sp>
      <p:sp>
        <p:nvSpPr>
          <p:cNvPr id="4" name="Text 2"/>
          <p:cNvSpPr txBox="1"/>
          <p:nvPr/>
        </p:nvSpPr>
        <p:spPr>
          <a:xfrm>
            <a:off x="10042855" y="493776"/>
            <a:ext cx="1463040" cy="274320"/>
          </a:xfrm>
          <a:prstGeom prst="rect">
            <a:avLst/>
          </a:prstGeom>
          <a:noFill/>
          <a:ln/>
        </p:spPr>
        <p:txBody>
          <a:bodyPr wrap="square" lIns="0" tIns="0" rIns="0" bIns="0" rtlCol="0" anchor="ctr"/>
          <a:lstStyle/>
          <a:p>
            <a:pPr algn="r" indent="0" marL="0">
              <a:buNone/>
            </a:pPr>
            <a:r>
              <a:rPr lang="en-US" sz="1100" dirty="0">
                <a:solidFill>
                  <a:srgbClr val="7A8BA0"/>
                </a:solidFill>
                <a:latin typeface="Calibri" pitchFamily="34" charset="0"/>
                <a:ea typeface="Calibri" pitchFamily="34" charset="-122"/>
                <a:cs typeface="Calibri" pitchFamily="34" charset="-120"/>
              </a:rPr>
              <a:t>Meng</a:t>
            </a:r>
            <a:endParaRPr lang="en-US" sz="1100" dirty="0"/>
          </a:p>
        </p:txBody>
      </p:sp>
      <p:sp>
        <p:nvSpPr>
          <p:cNvPr id="5" name="Shape 3"/>
          <p:cNvSpPr/>
          <p:nvPr/>
        </p:nvSpPr>
        <p:spPr>
          <a:xfrm>
            <a:off x="685800" y="1536192"/>
            <a:ext cx="3931920" cy="1600200"/>
          </a:xfrm>
          <a:prstGeom prst="roundRect">
            <a:avLst>
              <a:gd name="adj" fmla="val 4571"/>
            </a:avLst>
          </a:prstGeom>
          <a:solidFill>
            <a:srgbClr val="F4F8FA"/>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6" name="Text 4"/>
          <p:cNvSpPr txBox="1"/>
          <p:nvPr/>
        </p:nvSpPr>
        <p:spPr>
          <a:xfrm>
            <a:off x="685800" y="1700784"/>
            <a:ext cx="3931920" cy="1280160"/>
          </a:xfrm>
          <a:prstGeom prst="rect">
            <a:avLst/>
          </a:prstGeom>
          <a:noFill/>
          <a:ln/>
        </p:spPr>
        <p:txBody>
          <a:bodyPr wrap="square" lIns="0" tIns="0" rIns="0" bIns="0" rtlCol="0" anchor="ctr"/>
          <a:lstStyle/>
          <a:p>
            <a:pPr algn="ctr" indent="0" marL="0">
              <a:buNone/>
            </a:pPr>
            <a:r>
              <a:rPr lang="en-US" sz="4600" b="1" dirty="0">
                <a:solidFill>
                  <a:srgbClr val="E56B6F"/>
                </a:solidFill>
                <a:latin typeface="Calibri" pitchFamily="34" charset="0"/>
                <a:ea typeface="Calibri" pitchFamily="34" charset="-122"/>
                <a:cs typeface="Calibri" pitchFamily="34" charset="-120"/>
              </a:rPr>
              <a:t>⅓</a:t>
            </a:r>
            <a:endParaRPr lang="en-US" sz="4600" dirty="0"/>
          </a:p>
          <a:p>
            <a:pPr algn="ctr" indent="0" marL="0">
              <a:buNone/>
            </a:pPr>
            <a:r>
              <a:rPr lang="en-US" sz="950" spc="110" kern="0" dirty="0">
                <a:solidFill>
                  <a:srgbClr val="7A8BA0"/>
                </a:solidFill>
                <a:latin typeface="Calibri" pitchFamily="34" charset="0"/>
                <a:ea typeface="Calibri" pitchFamily="34" charset="-122"/>
                <a:cs typeface="Calibri" pitchFamily="34" charset="-120"/>
              </a:rPr>
              <a:t>OF THE ENTIRE PROJECT, IN TWO MONTHS</a:t>
            </a:r>
            <a:endParaRPr lang="en-US" sz="4600" dirty="0"/>
          </a:p>
        </p:txBody>
      </p:sp>
      <p:sp>
        <p:nvSpPr>
          <p:cNvPr id="7" name="Text 5"/>
          <p:cNvSpPr txBox="1"/>
          <p:nvPr/>
        </p:nvSpPr>
        <p:spPr>
          <a:xfrm>
            <a:off x="4937760" y="1600200"/>
            <a:ext cx="6568135" cy="1463040"/>
          </a:xfrm>
          <a:prstGeom prst="rect">
            <a:avLst/>
          </a:prstGeom>
          <a:noFill/>
          <a:ln/>
        </p:spPr>
        <p:txBody>
          <a:bodyPr wrap="square" lIns="0" tIns="0" rIns="0" bIns="0" rtlCol="0" anchor="ctr"/>
          <a:lstStyle/>
          <a:p>
            <a:pPr indent="0" marL="0">
              <a:lnSpc>
                <a:spcPct val="115000"/>
              </a:lnSpc>
              <a:buNone/>
            </a:pPr>
            <a:r>
              <a:rPr lang="en-US" sz="1700" b="1" dirty="0">
                <a:solidFill>
                  <a:srgbClr val="355070"/>
                </a:solidFill>
                <a:latin typeface="Calibri" pitchFamily="34" charset="0"/>
                <a:ea typeface="Calibri" pitchFamily="34" charset="-122"/>
                <a:cs typeface="Calibri" pitchFamily="34" charset="-120"/>
              </a:rPr>
              <a:t>That is what it looks like to support a survey while it is running — with your data in it.</a:t>
            </a:r>
            <a:endParaRPr lang="en-US" sz="1700" dirty="0"/>
          </a:p>
        </p:txBody>
      </p:sp>
      <p:sp>
        <p:nvSpPr>
          <p:cNvPr id="8" name="Text 6"/>
          <p:cNvSpPr txBox="1"/>
          <p:nvPr/>
        </p:nvSpPr>
        <p:spPr>
          <a:xfrm>
            <a:off x="685800" y="3310128"/>
            <a:ext cx="10820095" cy="1691640"/>
          </a:xfrm>
          <a:prstGeom prst="rect">
            <a:avLst/>
          </a:prstGeom>
          <a:noFill/>
          <a:ln/>
        </p:spPr>
        <p:txBody>
          <a:bodyPr wrap="square" lIns="0" tIns="0" rIns="0" bIns="0" rtlCol="0" anchor="t"/>
          <a:lstStyle/>
          <a:p>
            <a:pPr marL="203200" indent="-203200">
              <a:spcAft>
                <a:spcPts val="900"/>
              </a:spcAft>
              <a:buSzPct val="100000"/>
              <a:buChar char="•"/>
            </a:pPr>
            <a:r>
              <a:rPr lang="en-US" sz="1450" dirty="0">
                <a:solidFill>
                  <a:srgbClr val="355070"/>
                </a:solidFill>
                <a:latin typeface="Calibri" pitchFamily="34" charset="0"/>
                <a:ea typeface="Calibri" pitchFamily="34" charset="-122"/>
                <a:cs typeface="Calibri" pitchFamily="34" charset="-120"/>
              </a:rPr>
              <a:t>Set up the automatic opening and closing — and tuned it live</a:t>
            </a:r>
            <a:endParaRPr lang="en-US" sz="1450" dirty="0"/>
          </a:p>
          <a:p>
            <a:pPr marL="203200" indent="-203200">
              <a:spcAft>
                <a:spcPts val="900"/>
              </a:spcAft>
              <a:buSzPct val="100000"/>
              <a:buChar char="•"/>
            </a:pPr>
            <a:r>
              <a:rPr lang="en-US" sz="1450" dirty="0">
                <a:solidFill>
                  <a:srgbClr val="355070"/>
                </a:solidFill>
                <a:latin typeface="Calibri" pitchFamily="34" charset="0"/>
                <a:ea typeface="Calibri" pitchFamily="34" charset="-122"/>
                <a:cs typeface="Calibri" pitchFamily="34" charset="-120"/>
              </a:rPr>
              <a:t>Corrected the arithmetic on several forms against the real questionnaire</a:t>
            </a:r>
            <a:endParaRPr lang="en-US" sz="1450" dirty="0"/>
          </a:p>
          <a:p>
            <a:pPr marL="203200" indent="-203200">
              <a:spcAft>
                <a:spcPts val="900"/>
              </a:spcAft>
              <a:buSzPct val="100000"/>
              <a:buChar char="•"/>
            </a:pPr>
            <a:r>
              <a:rPr lang="en-US" sz="1450" dirty="0">
                <a:solidFill>
                  <a:srgbClr val="355070"/>
                </a:solidFill>
                <a:latin typeface="Calibri" pitchFamily="34" charset="0"/>
                <a:ea typeface="Calibri" pitchFamily="34" charset="-122"/>
                <a:cs typeface="Calibri" pitchFamily="34" charset="-120"/>
              </a:rPr>
              <a:t>Added “see your last five years” to all ten forms, mid-season, because people asked</a:t>
            </a:r>
            <a:endParaRPr lang="en-US" sz="1450" dirty="0"/>
          </a:p>
          <a:p>
            <a:pPr marL="203200" indent="-203200">
              <a:spcAft>
                <a:spcPts val="900"/>
              </a:spcAft>
              <a:buSzPct val="100000"/>
              <a:buChar char="•"/>
            </a:pPr>
            <a:r>
              <a:rPr lang="en-US" sz="1450" dirty="0">
                <a:solidFill>
                  <a:srgbClr val="355070"/>
                </a:solidFill>
                <a:latin typeface="Calibri" pitchFamily="34" charset="0"/>
                <a:ea typeface="Calibri" pitchFamily="34" charset="-122"/>
                <a:cs typeface="Calibri" pitchFamily="34" charset="-120"/>
              </a:rPr>
              <a:t>Fixed gaps in Save Draft; repaired East Asian text in the exports</a:t>
            </a:r>
            <a:endParaRPr lang="en-US" sz="1450" dirty="0"/>
          </a:p>
        </p:txBody>
      </p:sp>
      <p:sp>
        <p:nvSpPr>
          <p:cNvPr id="9" name="Shape 7"/>
          <p:cNvSpPr/>
          <p:nvPr/>
        </p:nvSpPr>
        <p:spPr>
          <a:xfrm>
            <a:off x="685800" y="5120640"/>
            <a:ext cx="10820095" cy="1188720"/>
          </a:xfrm>
          <a:prstGeom prst="roundRect">
            <a:avLst>
              <a:gd name="adj" fmla="val 6154"/>
            </a:avLst>
          </a:prstGeom>
          <a:solidFill>
            <a:srgbClr val="FFFFFF"/>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10" name="Text 8"/>
          <p:cNvSpPr txBox="1"/>
          <p:nvPr/>
        </p:nvSpPr>
        <p:spPr>
          <a:xfrm>
            <a:off x="1005840" y="5257800"/>
            <a:ext cx="10180015" cy="274320"/>
          </a:xfrm>
          <a:prstGeom prst="rect">
            <a:avLst/>
          </a:prstGeom>
          <a:noFill/>
          <a:ln/>
        </p:spPr>
        <p:txBody>
          <a:bodyPr wrap="square" lIns="0" tIns="0" rIns="0" bIns="0" rtlCol="0" anchor="ctr"/>
          <a:lstStyle/>
          <a:p>
            <a:pPr indent="0" marL="0">
              <a:buNone/>
            </a:pPr>
            <a:r>
              <a:rPr lang="en-US" sz="1500" b="1" dirty="0">
                <a:solidFill>
                  <a:srgbClr val="E56B6F"/>
                </a:solidFill>
                <a:latin typeface="Calibri" pitchFamily="34" charset="0"/>
                <a:ea typeface="Calibri" pitchFamily="34" charset="-122"/>
                <a:cs typeface="Calibri" pitchFamily="34" charset="-120"/>
              </a:rPr>
              <a:t>And one we are proud of</a:t>
            </a:r>
            <a:endParaRPr lang="en-US" sz="1500" dirty="0"/>
          </a:p>
        </p:txBody>
      </p:sp>
      <p:sp>
        <p:nvSpPr>
          <p:cNvPr id="11" name="Text 9"/>
          <p:cNvSpPr txBox="1"/>
          <p:nvPr/>
        </p:nvSpPr>
        <p:spPr>
          <a:xfrm>
            <a:off x="1005840" y="5559552"/>
            <a:ext cx="10180015" cy="658368"/>
          </a:xfrm>
          <a:prstGeom prst="rect">
            <a:avLst/>
          </a:prstGeom>
          <a:noFill/>
          <a:ln/>
        </p:spPr>
        <p:txBody>
          <a:bodyPr wrap="square" lIns="0" tIns="0" rIns="0" bIns="0" rtlCol="0" anchor="t"/>
          <a:lstStyle/>
          <a:p>
            <a:pPr indent="0" marL="0">
              <a:buNone/>
            </a:pPr>
            <a:r>
              <a:rPr lang="en-US" sz="1400" dirty="0">
                <a:solidFill>
                  <a:srgbClr val="355070"/>
                </a:solidFill>
                <a:latin typeface="Calibri" pitchFamily="34" charset="0"/>
                <a:ea typeface="Calibri" pitchFamily="34" charset="-122"/>
                <a:cs typeface="Calibri" pitchFamily="34" charset="-120"/>
              </a:rPr>
              <a:t>We tried a major upgrade in mid-October, saw it put the live season at risk, and undid it within the hour. We shipped it ten months later, when nobody’s data was on the line.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9082735" cy="228600"/>
          </a:xfrm>
          <a:prstGeom prst="rect">
            <a:avLst/>
          </a:prstGeom>
          <a:noFill/>
          <a:ln/>
        </p:spPr>
        <p:txBody>
          <a:bodyPr wrap="square" lIns="0" tIns="0" rIns="0" bIns="0" rtlCol="0" anchor="ctr"/>
          <a:lstStyle/>
          <a:p>
            <a:pPr indent="0" marL="0">
              <a:buNone/>
            </a:pPr>
            <a:r>
              <a:rPr lang="en-US" sz="1100" b="1" spc="160" kern="0" dirty="0">
                <a:solidFill>
                  <a:srgbClr val="6D597A"/>
                </a:solidFill>
                <a:latin typeface="Calibri" pitchFamily="34" charset="0"/>
                <a:ea typeface="Calibri" pitchFamily="34" charset="-122"/>
                <a:cs typeface="Calibri" pitchFamily="34" charset="-120"/>
              </a:rPr>
              <a:t>2026</a:t>
            </a:r>
            <a:endParaRPr lang="en-US" sz="1100" dirty="0"/>
          </a:p>
        </p:txBody>
      </p:sp>
      <p:sp>
        <p:nvSpPr>
          <p:cNvPr id="3" name="Text 1"/>
          <p:cNvSpPr txBox="1"/>
          <p:nvPr/>
        </p:nvSpPr>
        <p:spPr>
          <a:xfrm>
            <a:off x="685800" y="713232"/>
            <a:ext cx="9082735" cy="777240"/>
          </a:xfrm>
          <a:prstGeom prst="rect">
            <a:avLst/>
          </a:prstGeom>
          <a:noFill/>
          <a:ln/>
        </p:spPr>
        <p:txBody>
          <a:bodyPr wrap="square" lIns="0" tIns="0" rIns="0" bIns="0" rtlCol="0" anchor="t"/>
          <a:lstStyle/>
          <a:p>
            <a:pPr indent="0" marL="0">
              <a:buNone/>
            </a:pPr>
            <a:r>
              <a:rPr lang="en-US" sz="3000" b="1" dirty="0">
                <a:solidFill>
                  <a:srgbClr val="355070"/>
                </a:solidFill>
                <a:latin typeface="Calibri" pitchFamily="34" charset="0"/>
                <a:ea typeface="Calibri" pitchFamily="34" charset="-122"/>
                <a:cs typeface="Calibri" pitchFamily="34" charset="-120"/>
              </a:rPr>
              <a:t>The same two people are still behind it</a:t>
            </a:r>
            <a:endParaRPr lang="en-US" sz="3000" dirty="0"/>
          </a:p>
        </p:txBody>
      </p:sp>
      <p:sp>
        <p:nvSpPr>
          <p:cNvPr id="4" name="Text 2"/>
          <p:cNvSpPr txBox="1"/>
          <p:nvPr/>
        </p:nvSpPr>
        <p:spPr>
          <a:xfrm>
            <a:off x="10042855" y="493776"/>
            <a:ext cx="1463040" cy="274320"/>
          </a:xfrm>
          <a:prstGeom prst="rect">
            <a:avLst/>
          </a:prstGeom>
          <a:noFill/>
          <a:ln/>
        </p:spPr>
        <p:txBody>
          <a:bodyPr wrap="square" lIns="0" tIns="0" rIns="0" bIns="0" rtlCol="0" anchor="ctr"/>
          <a:lstStyle/>
          <a:p>
            <a:pPr algn="r" indent="0" marL="0">
              <a:buNone/>
            </a:pPr>
            <a:r>
              <a:rPr lang="en-US" sz="1100" dirty="0">
                <a:solidFill>
                  <a:srgbClr val="7A8BA0"/>
                </a:solidFill>
                <a:latin typeface="Calibri" pitchFamily="34" charset="0"/>
                <a:ea typeface="Calibri" pitchFamily="34" charset="-122"/>
                <a:cs typeface="Calibri" pitchFamily="34" charset="-120"/>
              </a:rPr>
              <a:t>Meng</a:t>
            </a:r>
            <a:endParaRPr lang="en-US" sz="1100" dirty="0"/>
          </a:p>
        </p:txBody>
      </p:sp>
      <p:sp>
        <p:nvSpPr>
          <p:cNvPr id="5" name="Text 3"/>
          <p:cNvSpPr txBox="1"/>
          <p:nvPr/>
        </p:nvSpPr>
        <p:spPr>
          <a:xfrm>
            <a:off x="685800" y="1627632"/>
            <a:ext cx="10820095" cy="2377440"/>
          </a:xfrm>
          <a:prstGeom prst="rect">
            <a:avLst/>
          </a:prstGeom>
          <a:noFill/>
          <a:ln/>
        </p:spPr>
        <p:txBody>
          <a:bodyPr wrap="square" lIns="0" tIns="0" rIns="0" bIns="0" rtlCol="0" anchor="t"/>
          <a:lstStyle/>
          <a:p>
            <a:pPr marL="203200" indent="-203200">
              <a:spcAft>
                <a:spcPts val="900"/>
              </a:spcAft>
              <a:buSzPct val="100000"/>
              <a:buChar char="•"/>
            </a:pPr>
            <a:r>
              <a:rPr lang="en-US" sz="1600" dirty="0">
                <a:solidFill>
                  <a:srgbClr val="355070"/>
                </a:solidFill>
                <a:latin typeface="Calibri" pitchFamily="34" charset="0"/>
                <a:ea typeface="Calibri" pitchFamily="34" charset="-122"/>
                <a:cs typeface="Calibri" pitchFamily="34" charset="-120"/>
              </a:rPr>
              <a:t>The 2025 collection was completed successfully</a:t>
            </a:r>
            <a:endParaRPr lang="en-US" sz="1600" dirty="0"/>
          </a:p>
          <a:p>
            <a:pPr marL="203200" indent="-203200">
              <a:spcAft>
                <a:spcPts val="900"/>
              </a:spcAft>
              <a:buSzPct val="100000"/>
              <a:buChar char="•"/>
            </a:pPr>
            <a:r>
              <a:rPr lang="en-US" sz="1600" dirty="0">
                <a:solidFill>
                  <a:srgbClr val="355070"/>
                </a:solidFill>
                <a:latin typeface="Calibri" pitchFamily="34" charset="0"/>
                <a:ea typeface="Calibri" pitchFamily="34" charset="-122"/>
                <a:cs typeface="Calibri" pitchFamily="34" charset="-120"/>
              </a:rPr>
              <a:t>Yifan and I are watching the system through this year’s season</a:t>
            </a:r>
            <a:endParaRPr lang="en-US" sz="1600" dirty="0"/>
          </a:p>
          <a:p>
            <a:pPr marL="203200" indent="-203200">
              <a:spcAft>
                <a:spcPts val="900"/>
              </a:spcAft>
              <a:buSzPct val="100000"/>
              <a:buChar char="•"/>
            </a:pPr>
            <a:r>
              <a:rPr lang="en-US" sz="1600" dirty="0">
                <a:solidFill>
                  <a:srgbClr val="355070"/>
                </a:solidFill>
                <a:latin typeface="Calibri" pitchFamily="34" charset="0"/>
                <a:ea typeface="Calibri" pitchFamily="34" charset="-122"/>
                <a:cs typeface="Calibri" pitchFamily="34" charset="-120"/>
              </a:rPr>
              <a:t>Report a problem and we aim to fix it that week — not in the next release</a:t>
            </a:r>
            <a:endParaRPr lang="en-US" sz="1600" dirty="0"/>
          </a:p>
          <a:p>
            <a:pPr marL="203200" indent="-203200">
              <a:spcAft>
                <a:spcPts val="900"/>
              </a:spcAft>
              <a:buSzPct val="100000"/>
              <a:buChar char="•"/>
            </a:pPr>
            <a:r>
              <a:rPr lang="en-US" sz="1600" dirty="0">
                <a:solidFill>
                  <a:srgbClr val="355070"/>
                </a:solidFill>
                <a:latin typeface="Calibri" pitchFamily="34" charset="0"/>
                <a:ea typeface="Calibri" pitchFamily="34" charset="-122"/>
                <a:cs typeface="Calibri" pitchFamily="34" charset="-120"/>
              </a:rPr>
              <a:t>The documentation is kept current, in English and Chinese</a:t>
            </a:r>
            <a:endParaRPr lang="en-US" sz="1600" dirty="0"/>
          </a:p>
          <a:p>
            <a:pPr marL="203200" indent="-203200">
              <a:spcAft>
                <a:spcPts val="900"/>
              </a:spcAft>
              <a:buSzPct val="100000"/>
              <a:buChar char="•"/>
            </a:pPr>
            <a:r>
              <a:rPr lang="en-US" sz="1600" dirty="0">
                <a:solidFill>
                  <a:srgbClr val="355070"/>
                </a:solidFill>
                <a:latin typeface="Calibri" pitchFamily="34" charset="0"/>
                <a:ea typeface="Calibri" pitchFamily="34" charset="-122"/>
                <a:cs typeface="Calibri" pitchFamily="34" charset="-120"/>
              </a:rPr>
              <a:t>A written handover checklist exists, listing every account a new maintainer would need</a:t>
            </a:r>
            <a:endParaRPr lang="en-US" sz="1600" dirty="0"/>
          </a:p>
        </p:txBody>
      </p:sp>
      <p:sp>
        <p:nvSpPr>
          <p:cNvPr id="6" name="Shape 4"/>
          <p:cNvSpPr/>
          <p:nvPr/>
        </p:nvSpPr>
        <p:spPr>
          <a:xfrm>
            <a:off x="685800" y="4206240"/>
            <a:ext cx="10820095" cy="868680"/>
          </a:xfrm>
          <a:prstGeom prst="roundRect">
            <a:avLst>
              <a:gd name="adj" fmla="val 8421"/>
            </a:avLst>
          </a:prstGeom>
          <a:solidFill>
            <a:srgbClr val="F4F8FA"/>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7" name="Text 5"/>
          <p:cNvSpPr txBox="1"/>
          <p:nvPr/>
        </p:nvSpPr>
        <p:spPr>
          <a:xfrm>
            <a:off x="960120" y="4261104"/>
            <a:ext cx="10271455" cy="758952"/>
          </a:xfrm>
          <a:prstGeom prst="rect">
            <a:avLst/>
          </a:prstGeom>
          <a:noFill/>
          <a:ln/>
        </p:spPr>
        <p:txBody>
          <a:bodyPr wrap="square" lIns="0" tIns="0" rIns="0" bIns="0" rtlCol="0" anchor="ctr"/>
          <a:lstStyle/>
          <a:p>
            <a:pPr indent="0" marL="0">
              <a:buNone/>
            </a:pPr>
            <a:r>
              <a:rPr lang="en-US" sz="1600" b="1" dirty="0">
                <a:solidFill>
                  <a:srgbClr val="E56B6F"/>
                </a:solidFill>
                <a:latin typeface="Calibri" pitchFamily="34" charset="0"/>
                <a:ea typeface="Calibri" pitchFamily="34" charset="-122"/>
                <a:cs typeface="Calibri" pitchFamily="34" charset="-120"/>
              </a:rPr>
              <a:t>A volunteer committee should not depend on any one person indefinitely — including me.</a:t>
            </a:r>
            <a:endParaRPr lang="en-US" sz="1600" dirty="0"/>
          </a:p>
        </p:txBody>
      </p:sp>
      <p:sp>
        <p:nvSpPr>
          <p:cNvPr id="8" name="Shape 6"/>
          <p:cNvSpPr/>
          <p:nvPr/>
        </p:nvSpPr>
        <p:spPr>
          <a:xfrm>
            <a:off x="685800" y="5257800"/>
            <a:ext cx="10820095" cy="1051560"/>
          </a:xfrm>
          <a:prstGeom prst="roundRect">
            <a:avLst>
              <a:gd name="adj" fmla="val 6957"/>
            </a:avLst>
          </a:prstGeom>
          <a:solidFill>
            <a:srgbClr val="F4F8FA"/>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9" name="Text 7"/>
          <p:cNvSpPr txBox="1"/>
          <p:nvPr/>
        </p:nvSpPr>
        <p:spPr>
          <a:xfrm>
            <a:off x="1005840" y="5349240"/>
            <a:ext cx="10180015" cy="868680"/>
          </a:xfrm>
          <a:prstGeom prst="rect">
            <a:avLst/>
          </a:prstGeom>
          <a:noFill/>
          <a:ln/>
        </p:spPr>
        <p:txBody>
          <a:bodyPr wrap="square" lIns="0" tIns="0" rIns="0" bIns="0" rtlCol="0" anchor="ctr"/>
          <a:lstStyle/>
          <a:p>
            <a:pPr indent="0" marL="0">
              <a:buNone/>
            </a:pPr>
            <a:r>
              <a:rPr lang="en-US" sz="1500" b="1" dirty="0">
                <a:solidFill>
                  <a:srgbClr val="6D597A"/>
                </a:solidFill>
                <a:latin typeface="Calibri" pitchFamily="34" charset="0"/>
                <a:ea typeface="Calibri" pitchFamily="34" charset="-122"/>
                <a:cs typeface="Calibri" pitchFamily="34" charset="-120"/>
              </a:rPr>
              <a:t>Next: Yifan on what sits underneath — how twenty-five years of data got moved, and how it is kept safe.</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9082735" cy="228600"/>
          </a:xfrm>
          <a:prstGeom prst="rect">
            <a:avLst/>
          </a:prstGeom>
          <a:noFill/>
          <a:ln/>
        </p:spPr>
        <p:txBody>
          <a:bodyPr wrap="square" lIns="0" tIns="0" rIns="0" bIns="0" rtlCol="0" anchor="ctr"/>
          <a:lstStyle/>
          <a:p>
            <a:pPr indent="0" marL="0">
              <a:buNone/>
            </a:pPr>
            <a:r>
              <a:rPr lang="en-US" sz="1100" b="1" spc="160" kern="0" dirty="0">
                <a:solidFill>
                  <a:srgbClr val="6D597A"/>
                </a:solidFill>
                <a:latin typeface="Calibri" pitchFamily="34" charset="0"/>
                <a:ea typeface="Calibri" pitchFamily="34" charset="-122"/>
                <a:cs typeface="Calibri" pitchFamily="34" charset="-120"/>
              </a:rPr>
              <a:t>THE MIGRATION PROBLEM</a:t>
            </a:r>
            <a:endParaRPr lang="en-US" sz="1100" dirty="0"/>
          </a:p>
        </p:txBody>
      </p:sp>
      <p:sp>
        <p:nvSpPr>
          <p:cNvPr id="3" name="Text 1"/>
          <p:cNvSpPr txBox="1"/>
          <p:nvPr/>
        </p:nvSpPr>
        <p:spPr>
          <a:xfrm>
            <a:off x="685800" y="713232"/>
            <a:ext cx="9082735" cy="777240"/>
          </a:xfrm>
          <a:prstGeom prst="rect">
            <a:avLst/>
          </a:prstGeom>
          <a:noFill/>
          <a:ln/>
        </p:spPr>
        <p:txBody>
          <a:bodyPr wrap="square" lIns="0" tIns="0" rIns="0" bIns="0" rtlCol="0" anchor="t"/>
          <a:lstStyle/>
          <a:p>
            <a:pPr indent="0" marL="0">
              <a:buNone/>
            </a:pPr>
            <a:r>
              <a:rPr lang="en-US" sz="3000" b="1" dirty="0">
                <a:solidFill>
                  <a:srgbClr val="355070"/>
                </a:solidFill>
                <a:latin typeface="Calibri" pitchFamily="34" charset="0"/>
                <a:ea typeface="Calibri" pitchFamily="34" charset="-122"/>
                <a:cs typeface="Calibri" pitchFamily="34" charset="-120"/>
              </a:rPr>
              <a:t>Moving twenty-five years of data</a:t>
            </a:r>
            <a:endParaRPr lang="en-US" sz="3000" dirty="0"/>
          </a:p>
        </p:txBody>
      </p:sp>
      <p:sp>
        <p:nvSpPr>
          <p:cNvPr id="4" name="Text 2"/>
          <p:cNvSpPr txBox="1"/>
          <p:nvPr/>
        </p:nvSpPr>
        <p:spPr>
          <a:xfrm>
            <a:off x="10042855" y="493776"/>
            <a:ext cx="1463040" cy="274320"/>
          </a:xfrm>
          <a:prstGeom prst="rect">
            <a:avLst/>
          </a:prstGeom>
          <a:noFill/>
          <a:ln/>
        </p:spPr>
        <p:txBody>
          <a:bodyPr wrap="square" lIns="0" tIns="0" rIns="0" bIns="0" rtlCol="0" anchor="ctr"/>
          <a:lstStyle/>
          <a:p>
            <a:pPr algn="r" indent="0" marL="0">
              <a:buNone/>
            </a:pPr>
            <a:r>
              <a:rPr lang="en-US" sz="1100" dirty="0">
                <a:solidFill>
                  <a:srgbClr val="7A8BA0"/>
                </a:solidFill>
                <a:latin typeface="Calibri" pitchFamily="34" charset="0"/>
                <a:ea typeface="Calibri" pitchFamily="34" charset="-122"/>
                <a:cs typeface="Calibri" pitchFamily="34" charset="-120"/>
              </a:rPr>
              <a:t>Yifan</a:t>
            </a:r>
            <a:endParaRPr lang="en-US" sz="1100" dirty="0"/>
          </a:p>
        </p:txBody>
      </p:sp>
      <p:sp>
        <p:nvSpPr>
          <p:cNvPr id="5" name="Text 3"/>
          <p:cNvSpPr txBox="1"/>
          <p:nvPr/>
        </p:nvSpPr>
        <p:spPr>
          <a:xfrm>
            <a:off x="685800" y="1627632"/>
            <a:ext cx="10820095" cy="2194560"/>
          </a:xfrm>
          <a:prstGeom prst="rect">
            <a:avLst/>
          </a:prstGeom>
          <a:noFill/>
          <a:ln/>
        </p:spPr>
        <p:txBody>
          <a:bodyPr wrap="square" lIns="0" tIns="0" rIns="0" bIns="0" rtlCol="0" anchor="t"/>
          <a:lstStyle/>
          <a:p>
            <a:pPr marL="203200" indent="-203200">
              <a:spcAft>
                <a:spcPts val="900"/>
              </a:spcAft>
              <a:buSzPct val="100000"/>
              <a:buChar char="•"/>
            </a:pPr>
            <a:r>
              <a:rPr lang="en-US" sz="1600" dirty="0">
                <a:solidFill>
                  <a:srgbClr val="355070"/>
                </a:solidFill>
                <a:latin typeface="Calibri" pitchFamily="34" charset="0"/>
                <a:ea typeface="Calibri" pitchFamily="34" charset="-122"/>
                <a:cs typeface="Calibri" pitchFamily="34" charset="-120"/>
              </a:rPr>
              <a:t>Decades of statistics, and the full structure of every form, had to arrive intact</a:t>
            </a:r>
            <a:endParaRPr lang="en-US" sz="1600" dirty="0"/>
          </a:p>
          <a:p>
            <a:pPr marL="203200" indent="-203200">
              <a:spcAft>
                <a:spcPts val="900"/>
              </a:spcAft>
              <a:buSzPct val="100000"/>
              <a:buChar char="•"/>
            </a:pPr>
            <a:r>
              <a:rPr lang="en-US" sz="1600" dirty="0">
                <a:solidFill>
                  <a:srgbClr val="355070"/>
                </a:solidFill>
                <a:latin typeface="Calibri" pitchFamily="34" charset="0"/>
                <a:ea typeface="Calibri" pitchFamily="34" charset="-122"/>
                <a:cs typeface="Calibri" pitchFamily="34" charset="-120"/>
              </a:rPr>
              <a:t>Two different database systems, with different rules about what a number is</a:t>
            </a:r>
            <a:endParaRPr lang="en-US" sz="1600" dirty="0"/>
          </a:p>
          <a:p>
            <a:pPr marL="203200" indent="-203200">
              <a:spcAft>
                <a:spcPts val="900"/>
              </a:spcAft>
              <a:buSzPct val="100000"/>
              <a:buChar char="•"/>
            </a:pPr>
            <a:r>
              <a:rPr lang="en-US" sz="1600" dirty="0">
                <a:solidFill>
                  <a:srgbClr val="355070"/>
                </a:solidFill>
                <a:latin typeface="Calibri" pitchFamily="34" charset="0"/>
                <a:ea typeface="Calibri" pitchFamily="34" charset="-122"/>
                <a:cs typeface="Calibri" pitchFamily="34" charset="-120"/>
              </a:rPr>
              <a:t>No downtime allowed — the historical record had to stay online</a:t>
            </a:r>
            <a:endParaRPr lang="en-US" sz="1600" dirty="0"/>
          </a:p>
          <a:p>
            <a:pPr marL="203200" indent="-203200">
              <a:spcAft>
                <a:spcPts val="900"/>
              </a:spcAft>
              <a:buSzPct val="100000"/>
              <a:buChar char="•"/>
            </a:pPr>
            <a:r>
              <a:rPr lang="en-US" sz="1600" dirty="0">
                <a:solidFill>
                  <a:srgbClr val="355070"/>
                </a:solidFill>
                <a:latin typeface="Calibri" pitchFamily="34" charset="0"/>
                <a:ea typeface="Calibri" pitchFamily="34" charset="-122"/>
                <a:cs typeface="Calibri" pitchFamily="34" charset="-120"/>
              </a:rPr>
              <a:t>Nothing could be quietly lost, rounded, or reinterpreted</a:t>
            </a:r>
            <a:endParaRPr lang="en-US" sz="1600" dirty="0"/>
          </a:p>
        </p:txBody>
      </p:sp>
      <p:sp>
        <p:nvSpPr>
          <p:cNvPr id="6" name="Shape 4"/>
          <p:cNvSpPr/>
          <p:nvPr/>
        </p:nvSpPr>
        <p:spPr>
          <a:xfrm>
            <a:off x="685800" y="3977640"/>
            <a:ext cx="10820095" cy="1097280"/>
          </a:xfrm>
          <a:prstGeom prst="roundRect">
            <a:avLst>
              <a:gd name="adj" fmla="val 6667"/>
            </a:avLst>
          </a:prstGeom>
          <a:solidFill>
            <a:srgbClr val="F4F8FA"/>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7" name="Text 5"/>
          <p:cNvSpPr txBox="1"/>
          <p:nvPr/>
        </p:nvSpPr>
        <p:spPr>
          <a:xfrm>
            <a:off x="1005840" y="4069080"/>
            <a:ext cx="10180015" cy="914400"/>
          </a:xfrm>
          <a:prstGeom prst="rect">
            <a:avLst/>
          </a:prstGeom>
          <a:noFill/>
          <a:ln/>
        </p:spPr>
        <p:txBody>
          <a:bodyPr wrap="square" lIns="0" tIns="0" rIns="0" bIns="0" rtlCol="0" anchor="ctr"/>
          <a:lstStyle/>
          <a:p>
            <a:pPr indent="0" marL="0">
              <a:buNone/>
            </a:pPr>
            <a:r>
              <a:rPr lang="en-US" sz="1800" b="1" dirty="0">
                <a:solidFill>
                  <a:srgbClr val="355070"/>
                </a:solidFill>
                <a:latin typeface="Calibri" pitchFamily="34" charset="0"/>
                <a:ea typeface="Calibri" pitchFamily="34" charset="-122"/>
                <a:cs typeface="Calibri" pitchFamily="34" charset="-120"/>
              </a:rPr>
              <a:t>When people hear “we moved the database,” they picture copying files. It is not that.</a:t>
            </a:r>
            <a:endParaRPr lang="en-US" sz="1800" dirty="0"/>
          </a:p>
        </p:txBody>
      </p:sp>
      <p:sp>
        <p:nvSpPr>
          <p:cNvPr id="8" name="Text 6"/>
          <p:cNvSpPr txBox="1"/>
          <p:nvPr/>
        </p:nvSpPr>
        <p:spPr>
          <a:xfrm>
            <a:off x="685800" y="5440680"/>
            <a:ext cx="10820095" cy="457200"/>
          </a:xfrm>
          <a:prstGeom prst="rect">
            <a:avLst/>
          </a:prstGeom>
          <a:noFill/>
          <a:ln/>
        </p:spPr>
        <p:txBody>
          <a:bodyPr wrap="square" lIns="0" tIns="0" rIns="0" bIns="0" rtlCol="0" anchor="ctr"/>
          <a:lstStyle/>
          <a:p>
            <a:pPr indent="0" marL="0">
              <a:buNone/>
            </a:pPr>
            <a:r>
              <a:rPr lang="en-US" sz="1600" i="1" dirty="0">
                <a:solidFill>
                  <a:srgbClr val="6D597A"/>
                </a:solidFill>
                <a:latin typeface="Calibri" pitchFamily="34" charset="0"/>
                <a:ea typeface="Calibri" pitchFamily="34" charset="-122"/>
                <a:cs typeface="Calibri" pitchFamily="34" charset="-120"/>
              </a:rPr>
              <a:t>“We have already done the hardest possible migration once.”</a:t>
            </a:r>
            <a:endParaRPr lang="en-US" sz="1600" dirty="0"/>
          </a:p>
        </p:txBody>
      </p:sp>
      <p:sp>
        <p:nvSpPr>
          <p:cNvPr id="9" name="Text 7"/>
          <p:cNvSpPr txBox="1"/>
          <p:nvPr/>
        </p:nvSpPr>
        <p:spPr>
          <a:xfrm>
            <a:off x="685800" y="5852160"/>
            <a:ext cx="10820095" cy="274320"/>
          </a:xfrm>
          <a:prstGeom prst="rect">
            <a:avLst/>
          </a:prstGeom>
          <a:noFill/>
          <a:ln/>
        </p:spPr>
        <p:txBody>
          <a:bodyPr wrap="square" lIns="0" tIns="0" rIns="0" bIns="0" rtlCol="0" anchor="ctr"/>
          <a:lstStyle/>
          <a:p>
            <a:pPr indent="0" marL="0">
              <a:buNone/>
            </a:pPr>
            <a:r>
              <a:rPr lang="en-US" sz="1150" dirty="0">
                <a:solidFill>
                  <a:srgbClr val="7A8BA0"/>
                </a:solidFill>
                <a:latin typeface="Calibri" pitchFamily="34" charset="0"/>
                <a:ea typeface="Calibri" pitchFamily="34" charset="-122"/>
                <a:cs typeface="Calibri" pitchFamily="34" charset="-120"/>
              </a:rPr>
              <a:t>— from our own maintenance documentation</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9082735" cy="228600"/>
          </a:xfrm>
          <a:prstGeom prst="rect">
            <a:avLst/>
          </a:prstGeom>
          <a:noFill/>
          <a:ln/>
        </p:spPr>
        <p:txBody>
          <a:bodyPr wrap="square" lIns="0" tIns="0" rIns="0" bIns="0" rtlCol="0" anchor="ctr"/>
          <a:lstStyle/>
          <a:p>
            <a:pPr indent="0" marL="0">
              <a:buNone/>
            </a:pPr>
            <a:r>
              <a:rPr lang="en-US" sz="1100" b="1" spc="160" kern="0" dirty="0">
                <a:solidFill>
                  <a:srgbClr val="6D597A"/>
                </a:solidFill>
                <a:latin typeface="Calibri" pitchFamily="34" charset="0"/>
                <a:ea typeface="Calibri" pitchFamily="34" charset="-122"/>
                <a:cs typeface="Calibri" pitchFamily="34" charset="-120"/>
              </a:rPr>
              <a:t>AND HOW EACH WAS FIXED</a:t>
            </a:r>
            <a:endParaRPr lang="en-US" sz="1100" dirty="0"/>
          </a:p>
        </p:txBody>
      </p:sp>
      <p:sp>
        <p:nvSpPr>
          <p:cNvPr id="3" name="Text 1"/>
          <p:cNvSpPr txBox="1"/>
          <p:nvPr/>
        </p:nvSpPr>
        <p:spPr>
          <a:xfrm>
            <a:off x="685800" y="713232"/>
            <a:ext cx="9082735" cy="777240"/>
          </a:xfrm>
          <a:prstGeom prst="rect">
            <a:avLst/>
          </a:prstGeom>
          <a:noFill/>
          <a:ln/>
        </p:spPr>
        <p:txBody>
          <a:bodyPr wrap="square" lIns="0" tIns="0" rIns="0" bIns="0" rtlCol="0" anchor="t"/>
          <a:lstStyle/>
          <a:p>
            <a:pPr indent="0" marL="0">
              <a:buNone/>
            </a:pPr>
            <a:r>
              <a:rPr lang="en-US" sz="3000" b="1" dirty="0">
                <a:solidFill>
                  <a:srgbClr val="355070"/>
                </a:solidFill>
                <a:latin typeface="Calibri" pitchFamily="34" charset="0"/>
                <a:ea typeface="Calibri" pitchFamily="34" charset="-122"/>
                <a:cs typeface="Calibri" pitchFamily="34" charset="-120"/>
              </a:rPr>
              <a:t>Three things went wrong</a:t>
            </a:r>
            <a:endParaRPr lang="en-US" sz="3000" dirty="0"/>
          </a:p>
        </p:txBody>
      </p:sp>
      <p:sp>
        <p:nvSpPr>
          <p:cNvPr id="4" name="Text 2"/>
          <p:cNvSpPr txBox="1"/>
          <p:nvPr/>
        </p:nvSpPr>
        <p:spPr>
          <a:xfrm>
            <a:off x="10042855" y="493776"/>
            <a:ext cx="1463040" cy="274320"/>
          </a:xfrm>
          <a:prstGeom prst="rect">
            <a:avLst/>
          </a:prstGeom>
          <a:noFill/>
          <a:ln/>
        </p:spPr>
        <p:txBody>
          <a:bodyPr wrap="square" lIns="0" tIns="0" rIns="0" bIns="0" rtlCol="0" anchor="ctr"/>
          <a:lstStyle/>
          <a:p>
            <a:pPr algn="r" indent="0" marL="0">
              <a:buNone/>
            </a:pPr>
            <a:r>
              <a:rPr lang="en-US" sz="1100" dirty="0">
                <a:solidFill>
                  <a:srgbClr val="7A8BA0"/>
                </a:solidFill>
                <a:latin typeface="Calibri" pitchFamily="34" charset="0"/>
                <a:ea typeface="Calibri" pitchFamily="34" charset="-122"/>
                <a:cs typeface="Calibri" pitchFamily="34" charset="-120"/>
              </a:rPr>
              <a:t>Yifan</a:t>
            </a:r>
            <a:endParaRPr lang="en-US" sz="1100" dirty="0"/>
          </a:p>
        </p:txBody>
      </p:sp>
      <p:sp>
        <p:nvSpPr>
          <p:cNvPr id="5" name="Shape 3"/>
          <p:cNvSpPr/>
          <p:nvPr/>
        </p:nvSpPr>
        <p:spPr>
          <a:xfrm>
            <a:off x="685800" y="1572768"/>
            <a:ext cx="10820095" cy="1417320"/>
          </a:xfrm>
          <a:prstGeom prst="roundRect">
            <a:avLst>
              <a:gd name="adj" fmla="val 5161"/>
            </a:avLst>
          </a:prstGeom>
          <a:solidFill>
            <a:srgbClr val="FFFFFF"/>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6" name="Shape 4"/>
          <p:cNvSpPr/>
          <p:nvPr/>
        </p:nvSpPr>
        <p:spPr>
          <a:xfrm>
            <a:off x="941832" y="1792224"/>
            <a:ext cx="365760" cy="365760"/>
          </a:xfrm>
          <a:prstGeom prst="ellipse">
            <a:avLst/>
          </a:prstGeom>
          <a:solidFill>
            <a:srgbClr val="E56B6F"/>
          </a:solidFill>
          <a:ln w="12700">
            <a:solidFill>
              <a:srgbClr val="333333"/>
            </a:solidFill>
            <a:prstDash val="solid"/>
          </a:ln>
        </p:spPr>
      </p:sp>
      <p:sp>
        <p:nvSpPr>
          <p:cNvPr id="7" name="Text 5"/>
          <p:cNvSpPr txBox="1"/>
          <p:nvPr/>
        </p:nvSpPr>
        <p:spPr>
          <a:xfrm>
            <a:off x="941832" y="179222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463040" y="1755648"/>
            <a:ext cx="2743200" cy="457200"/>
          </a:xfrm>
          <a:prstGeom prst="rect">
            <a:avLst/>
          </a:prstGeom>
          <a:noFill/>
          <a:ln/>
        </p:spPr>
        <p:txBody>
          <a:bodyPr wrap="square" lIns="0" tIns="0" rIns="0" bIns="0" rtlCol="0" anchor="t"/>
          <a:lstStyle/>
          <a:p>
            <a:pPr indent="0" marL="0">
              <a:buNone/>
            </a:pPr>
            <a:r>
              <a:rPr lang="en-US" sz="1600" b="1" dirty="0">
                <a:solidFill>
                  <a:srgbClr val="355070"/>
                </a:solidFill>
                <a:latin typeface="Calibri" pitchFamily="34" charset="0"/>
                <a:ea typeface="Calibri" pitchFamily="34" charset="-122"/>
                <a:cs typeface="Calibri" pitchFamily="34" charset="-120"/>
              </a:rPr>
              <a:t>The counter problem</a:t>
            </a:r>
            <a:endParaRPr lang="en-US" sz="1600" dirty="0"/>
          </a:p>
        </p:txBody>
      </p:sp>
      <p:sp>
        <p:nvSpPr>
          <p:cNvPr id="9" name="Text 7"/>
          <p:cNvSpPr txBox="1"/>
          <p:nvPr/>
        </p:nvSpPr>
        <p:spPr>
          <a:xfrm>
            <a:off x="1463040" y="2212848"/>
            <a:ext cx="4572000" cy="640080"/>
          </a:xfrm>
          <a:prstGeom prst="rect">
            <a:avLst/>
          </a:prstGeom>
          <a:noFill/>
          <a:ln/>
        </p:spPr>
        <p:txBody>
          <a:bodyPr wrap="square" lIns="0" tIns="0" rIns="0" bIns="0" rtlCol="0" anchor="t"/>
          <a:lstStyle/>
          <a:p>
            <a:pPr indent="0" marL="0">
              <a:buNone/>
            </a:pPr>
            <a:r>
              <a:rPr lang="en-US" sz="1250" dirty="0">
                <a:solidFill>
                  <a:srgbClr val="57534E"/>
                </a:solidFill>
                <a:latin typeface="Calibri" pitchFamily="34" charset="0"/>
                <a:ea typeface="Calibri" pitchFamily="34" charset="-122"/>
                <a:cs typeface="Calibri" pitchFamily="34" charset="-120"/>
              </a:rPr>
              <a:t>The database’s internal counter came across behind the data. The first new record collided with an existing one.</a:t>
            </a:r>
            <a:endParaRPr lang="en-US" sz="1250" dirty="0"/>
          </a:p>
        </p:txBody>
      </p:sp>
      <p:sp>
        <p:nvSpPr>
          <p:cNvPr id="10" name="Text 8"/>
          <p:cNvSpPr txBox="1"/>
          <p:nvPr/>
        </p:nvSpPr>
        <p:spPr>
          <a:xfrm>
            <a:off x="6355080" y="1828800"/>
            <a:ext cx="4876495" cy="914400"/>
          </a:xfrm>
          <a:prstGeom prst="rect">
            <a:avLst/>
          </a:prstGeom>
          <a:noFill/>
          <a:ln/>
        </p:spPr>
        <p:txBody>
          <a:bodyPr wrap="square" lIns="0" tIns="0" rIns="0" bIns="0" rtlCol="0" anchor="ctr"/>
          <a:lstStyle/>
          <a:p>
            <a:pPr indent="0" marL="0">
              <a:buNone/>
            </a:pPr>
            <a:r>
              <a:rPr lang="en-US" sz="1300" b="1" dirty="0">
                <a:solidFill>
                  <a:srgbClr val="E56B6F"/>
                </a:solidFill>
                <a:latin typeface="Calibri" pitchFamily="34" charset="0"/>
                <a:ea typeface="Calibri" pitchFamily="34" charset="-122"/>
                <a:cs typeface="Calibri" pitchFamily="34" charset="-120"/>
              </a:rPr>
              <a:t>→  </a:t>
            </a:r>
            <a:pPr indent="0" marL="0">
              <a:buNone/>
            </a:pPr>
            <a:r>
              <a:rPr lang="en-US" sz="1300" dirty="0">
                <a:solidFill>
                  <a:srgbClr val="355070"/>
                </a:solidFill>
                <a:latin typeface="Calibri" pitchFamily="34" charset="0"/>
                <a:ea typeface="Calibri" pitchFamily="34" charset="-122"/>
                <a:cs typeface="Calibri" pitchFamily="34" charset="-120"/>
              </a:rPr>
              <a:t>We wrote a repair tool that resets every counter, and made it run automatically. It has not come back.</a:t>
            </a:r>
            <a:endParaRPr lang="en-US" sz="1300" dirty="0"/>
          </a:p>
        </p:txBody>
      </p:sp>
      <p:sp>
        <p:nvSpPr>
          <p:cNvPr id="11" name="Shape 9"/>
          <p:cNvSpPr/>
          <p:nvPr/>
        </p:nvSpPr>
        <p:spPr>
          <a:xfrm>
            <a:off x="685800" y="3145536"/>
            <a:ext cx="10820095" cy="1417320"/>
          </a:xfrm>
          <a:prstGeom prst="roundRect">
            <a:avLst>
              <a:gd name="adj" fmla="val 5161"/>
            </a:avLst>
          </a:prstGeom>
          <a:solidFill>
            <a:srgbClr val="F4F8FA"/>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12" name="Shape 10"/>
          <p:cNvSpPr/>
          <p:nvPr/>
        </p:nvSpPr>
        <p:spPr>
          <a:xfrm>
            <a:off x="941832" y="3364992"/>
            <a:ext cx="365760" cy="365760"/>
          </a:xfrm>
          <a:prstGeom prst="ellipse">
            <a:avLst/>
          </a:prstGeom>
          <a:solidFill>
            <a:srgbClr val="355070"/>
          </a:solidFill>
          <a:ln w="12700">
            <a:solidFill>
              <a:srgbClr val="333333"/>
            </a:solidFill>
            <a:prstDash val="solid"/>
          </a:ln>
        </p:spPr>
      </p:sp>
      <p:sp>
        <p:nvSpPr>
          <p:cNvPr id="13" name="Text 11"/>
          <p:cNvSpPr txBox="1"/>
          <p:nvPr/>
        </p:nvSpPr>
        <p:spPr>
          <a:xfrm>
            <a:off x="941832" y="336499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1463040" y="3328416"/>
            <a:ext cx="2743200" cy="457200"/>
          </a:xfrm>
          <a:prstGeom prst="rect">
            <a:avLst/>
          </a:prstGeom>
          <a:noFill/>
          <a:ln/>
        </p:spPr>
        <p:txBody>
          <a:bodyPr wrap="square" lIns="0" tIns="0" rIns="0" bIns="0" rtlCol="0" anchor="t"/>
          <a:lstStyle/>
          <a:p>
            <a:pPr indent="0" marL="0">
              <a:buNone/>
            </a:pPr>
            <a:r>
              <a:rPr lang="en-US" sz="1600" b="1" dirty="0">
                <a:solidFill>
                  <a:srgbClr val="355070"/>
                </a:solidFill>
                <a:latin typeface="Calibri" pitchFamily="34" charset="0"/>
                <a:ea typeface="Calibri" pitchFamily="34" charset="-122"/>
                <a:cs typeface="Calibri" pitchFamily="34" charset="-120"/>
              </a:rPr>
              <a:t>Old passwords</a:t>
            </a:r>
            <a:endParaRPr lang="en-US" sz="1600" dirty="0"/>
          </a:p>
        </p:txBody>
      </p:sp>
      <p:sp>
        <p:nvSpPr>
          <p:cNvPr id="15" name="Text 13"/>
          <p:cNvSpPr txBox="1"/>
          <p:nvPr/>
        </p:nvSpPr>
        <p:spPr>
          <a:xfrm>
            <a:off x="1463040" y="3785616"/>
            <a:ext cx="4572000" cy="640080"/>
          </a:xfrm>
          <a:prstGeom prst="rect">
            <a:avLst/>
          </a:prstGeom>
          <a:noFill/>
          <a:ln/>
        </p:spPr>
        <p:txBody>
          <a:bodyPr wrap="square" lIns="0" tIns="0" rIns="0" bIns="0" rtlCol="0" anchor="t"/>
          <a:lstStyle/>
          <a:p>
            <a:pPr indent="0" marL="0">
              <a:buNone/>
            </a:pPr>
            <a:r>
              <a:rPr lang="en-US" sz="1250" dirty="0">
                <a:solidFill>
                  <a:srgbClr val="57534E"/>
                </a:solidFill>
                <a:latin typeface="Calibri" pitchFamily="34" charset="0"/>
                <a:ea typeface="Calibri" pitchFamily="34" charset="-122"/>
                <a:cs typeface="Calibri" pitchFamily="34" charset="-120"/>
              </a:rPr>
              <a:t>Some accounts still carried credentials stored in a way that is no longer considered safe.</a:t>
            </a:r>
            <a:endParaRPr lang="en-US" sz="1250" dirty="0"/>
          </a:p>
        </p:txBody>
      </p:sp>
      <p:sp>
        <p:nvSpPr>
          <p:cNvPr id="16" name="Text 14"/>
          <p:cNvSpPr txBox="1"/>
          <p:nvPr/>
        </p:nvSpPr>
        <p:spPr>
          <a:xfrm>
            <a:off x="6355080" y="3401568"/>
            <a:ext cx="4876495" cy="914400"/>
          </a:xfrm>
          <a:prstGeom prst="rect">
            <a:avLst/>
          </a:prstGeom>
          <a:noFill/>
          <a:ln/>
        </p:spPr>
        <p:txBody>
          <a:bodyPr wrap="square" lIns="0" tIns="0" rIns="0" bIns="0" rtlCol="0" anchor="ctr"/>
          <a:lstStyle/>
          <a:p>
            <a:pPr indent="0" marL="0">
              <a:buNone/>
            </a:pPr>
            <a:r>
              <a:rPr lang="en-US" sz="1300" b="1" dirty="0">
                <a:solidFill>
                  <a:srgbClr val="355070"/>
                </a:solidFill>
                <a:latin typeface="Calibri" pitchFamily="34" charset="0"/>
                <a:ea typeface="Calibri" pitchFamily="34" charset="-122"/>
                <a:cs typeface="Calibri" pitchFamily="34" charset="-120"/>
              </a:rPr>
              <a:t>→  </a:t>
            </a:r>
            <a:pPr indent="0" marL="0">
              <a:buNone/>
            </a:pPr>
            <a:r>
              <a:rPr lang="en-US" sz="1300" dirty="0">
                <a:solidFill>
                  <a:srgbClr val="355070"/>
                </a:solidFill>
                <a:latin typeface="Calibri" pitchFamily="34" charset="0"/>
                <a:ea typeface="Calibri" pitchFamily="34" charset="-122"/>
                <a:cs typeface="Calibri" pitchFamily="34" charset="-120"/>
              </a:rPr>
              <a:t>We refused to weaken the new system to accept them. The site recognises the old format and emails that person a link to set a new password.</a:t>
            </a:r>
            <a:endParaRPr lang="en-US" sz="1300" dirty="0"/>
          </a:p>
        </p:txBody>
      </p:sp>
      <p:sp>
        <p:nvSpPr>
          <p:cNvPr id="17" name="Shape 15"/>
          <p:cNvSpPr/>
          <p:nvPr/>
        </p:nvSpPr>
        <p:spPr>
          <a:xfrm>
            <a:off x="685800" y="4718304"/>
            <a:ext cx="10820095" cy="1417320"/>
          </a:xfrm>
          <a:prstGeom prst="roundRect">
            <a:avLst>
              <a:gd name="adj" fmla="val 5161"/>
            </a:avLst>
          </a:prstGeom>
          <a:solidFill>
            <a:srgbClr val="FFFFFF"/>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18" name="Shape 16"/>
          <p:cNvSpPr/>
          <p:nvPr/>
        </p:nvSpPr>
        <p:spPr>
          <a:xfrm>
            <a:off x="941832" y="4937760"/>
            <a:ext cx="365760" cy="365760"/>
          </a:xfrm>
          <a:prstGeom prst="ellipse">
            <a:avLst/>
          </a:prstGeom>
          <a:solidFill>
            <a:srgbClr val="B56576"/>
          </a:solidFill>
          <a:ln w="12700">
            <a:solidFill>
              <a:srgbClr val="333333"/>
            </a:solidFill>
            <a:prstDash val="solid"/>
          </a:ln>
        </p:spPr>
      </p:sp>
      <p:sp>
        <p:nvSpPr>
          <p:cNvPr id="19" name="Text 17"/>
          <p:cNvSpPr txBox="1"/>
          <p:nvPr/>
        </p:nvSpPr>
        <p:spPr>
          <a:xfrm>
            <a:off x="941832" y="49377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1463040" y="4901184"/>
            <a:ext cx="2743200" cy="457200"/>
          </a:xfrm>
          <a:prstGeom prst="rect">
            <a:avLst/>
          </a:prstGeom>
          <a:noFill/>
          <a:ln/>
        </p:spPr>
        <p:txBody>
          <a:bodyPr wrap="square" lIns="0" tIns="0" rIns="0" bIns="0" rtlCol="0" anchor="t"/>
          <a:lstStyle/>
          <a:p>
            <a:pPr indent="0" marL="0">
              <a:buNone/>
            </a:pPr>
            <a:r>
              <a:rPr lang="en-US" sz="1600" b="1" dirty="0">
                <a:solidFill>
                  <a:srgbClr val="355070"/>
                </a:solidFill>
                <a:latin typeface="Calibri" pitchFamily="34" charset="0"/>
                <a:ea typeface="Calibri" pitchFamily="34" charset="-122"/>
                <a:cs typeface="Calibri" pitchFamily="34" charset="-120"/>
              </a:rPr>
              <a:t>Broken characters</a:t>
            </a:r>
            <a:endParaRPr lang="en-US" sz="1600" dirty="0"/>
          </a:p>
        </p:txBody>
      </p:sp>
      <p:sp>
        <p:nvSpPr>
          <p:cNvPr id="21" name="Text 19"/>
          <p:cNvSpPr txBox="1"/>
          <p:nvPr/>
        </p:nvSpPr>
        <p:spPr>
          <a:xfrm>
            <a:off x="1463040" y="5358384"/>
            <a:ext cx="4572000" cy="640080"/>
          </a:xfrm>
          <a:prstGeom prst="rect">
            <a:avLst/>
          </a:prstGeom>
          <a:noFill/>
          <a:ln/>
        </p:spPr>
        <p:txBody>
          <a:bodyPr wrap="square" lIns="0" tIns="0" rIns="0" bIns="0" rtlCol="0" anchor="t"/>
          <a:lstStyle/>
          <a:p>
            <a:pPr indent="0" marL="0">
              <a:buNone/>
            </a:pPr>
            <a:r>
              <a:rPr lang="en-US" sz="1250" dirty="0">
                <a:solidFill>
                  <a:srgbClr val="57534E"/>
                </a:solidFill>
                <a:latin typeface="Calibri" pitchFamily="34" charset="0"/>
                <a:ea typeface="Calibri" pitchFamily="34" charset="-122"/>
                <a:cs typeface="Calibri" pitchFamily="34" charset="-120"/>
              </a:rPr>
              <a:t>Some Chinese, Japanese and Korean titles arrived damaged — the wrong bytes, so the wrong characters.</a:t>
            </a:r>
            <a:endParaRPr lang="en-US" sz="1250" dirty="0"/>
          </a:p>
        </p:txBody>
      </p:sp>
      <p:sp>
        <p:nvSpPr>
          <p:cNvPr id="22" name="Text 20"/>
          <p:cNvSpPr txBox="1"/>
          <p:nvPr/>
        </p:nvSpPr>
        <p:spPr>
          <a:xfrm>
            <a:off x="6355080" y="4974336"/>
            <a:ext cx="4876495" cy="914400"/>
          </a:xfrm>
          <a:prstGeom prst="rect">
            <a:avLst/>
          </a:prstGeom>
          <a:noFill/>
          <a:ln/>
        </p:spPr>
        <p:txBody>
          <a:bodyPr wrap="square" lIns="0" tIns="0" rIns="0" bIns="0" rtlCol="0" anchor="ctr"/>
          <a:lstStyle/>
          <a:p>
            <a:pPr indent="0" marL="0">
              <a:buNone/>
            </a:pPr>
            <a:r>
              <a:rPr lang="en-US" sz="1300" b="1" dirty="0">
                <a:solidFill>
                  <a:srgbClr val="B56576"/>
                </a:solidFill>
                <a:latin typeface="Calibri" pitchFamily="34" charset="0"/>
                <a:ea typeface="Calibri" pitchFamily="34" charset="-122"/>
                <a:cs typeface="Calibri" pitchFamily="34" charset="-120"/>
              </a:rPr>
              <a:t>→  </a:t>
            </a:r>
            <a:pPr indent="0" marL="0">
              <a:buNone/>
            </a:pPr>
            <a:r>
              <a:rPr lang="en-US" sz="1300" dirty="0">
                <a:solidFill>
                  <a:srgbClr val="355070"/>
                </a:solidFill>
                <a:latin typeface="Calibri" pitchFamily="34" charset="0"/>
                <a:ea typeface="Calibri" pitchFamily="34" charset="-122"/>
                <a:cs typeface="Calibri" pitchFamily="34" charset="-120"/>
              </a:rPr>
              <a:t>Fixed where titles are displayed and where they are exported, then checked against the original records.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9082735" cy="228600"/>
          </a:xfrm>
          <a:prstGeom prst="rect">
            <a:avLst/>
          </a:prstGeom>
          <a:noFill/>
          <a:ln/>
        </p:spPr>
        <p:txBody>
          <a:bodyPr wrap="square" lIns="0" tIns="0" rIns="0" bIns="0" rtlCol="0" anchor="ctr"/>
          <a:lstStyle/>
          <a:p>
            <a:pPr indent="0" marL="0">
              <a:buNone/>
            </a:pPr>
            <a:r>
              <a:rPr lang="en-US" sz="1100" b="1" spc="160" kern="0" dirty="0">
                <a:solidFill>
                  <a:srgbClr val="6D597A"/>
                </a:solidFill>
                <a:latin typeface="Calibri" pitchFamily="34" charset="0"/>
                <a:ea typeface="Calibri" pitchFamily="34" charset="-122"/>
                <a:cs typeface="Calibri" pitchFamily="34" charset="-120"/>
              </a:rPr>
              <a:t>ONE RECORD PER LIBRARY, PER YEAR</a:t>
            </a:r>
            <a:endParaRPr lang="en-US" sz="1100" dirty="0"/>
          </a:p>
        </p:txBody>
      </p:sp>
      <p:sp>
        <p:nvSpPr>
          <p:cNvPr id="3" name="Text 1"/>
          <p:cNvSpPr txBox="1"/>
          <p:nvPr/>
        </p:nvSpPr>
        <p:spPr>
          <a:xfrm>
            <a:off x="685800" y="713232"/>
            <a:ext cx="9082735" cy="777240"/>
          </a:xfrm>
          <a:prstGeom prst="rect">
            <a:avLst/>
          </a:prstGeom>
          <a:noFill/>
          <a:ln/>
        </p:spPr>
        <p:txBody>
          <a:bodyPr wrap="square" lIns="0" tIns="0" rIns="0" bIns="0" rtlCol="0" anchor="t"/>
          <a:lstStyle/>
          <a:p>
            <a:pPr indent="0" marL="0">
              <a:buNone/>
            </a:pPr>
            <a:r>
              <a:rPr lang="en-US" sz="3000" b="1" dirty="0">
                <a:solidFill>
                  <a:srgbClr val="355070"/>
                </a:solidFill>
                <a:latin typeface="Calibri" pitchFamily="34" charset="0"/>
                <a:ea typeface="Calibri" pitchFamily="34" charset="-122"/>
                <a:cs typeface="Calibri" pitchFamily="34" charset="-120"/>
              </a:rPr>
              <a:t>One idea holds the whole thing together</a:t>
            </a:r>
            <a:endParaRPr lang="en-US" sz="3000" dirty="0"/>
          </a:p>
        </p:txBody>
      </p:sp>
      <p:sp>
        <p:nvSpPr>
          <p:cNvPr id="4" name="Text 2"/>
          <p:cNvSpPr txBox="1"/>
          <p:nvPr/>
        </p:nvSpPr>
        <p:spPr>
          <a:xfrm>
            <a:off x="10042855" y="493776"/>
            <a:ext cx="1463040" cy="274320"/>
          </a:xfrm>
          <a:prstGeom prst="rect">
            <a:avLst/>
          </a:prstGeom>
          <a:noFill/>
          <a:ln/>
        </p:spPr>
        <p:txBody>
          <a:bodyPr wrap="square" lIns="0" tIns="0" rIns="0" bIns="0" rtlCol="0" anchor="ctr"/>
          <a:lstStyle/>
          <a:p>
            <a:pPr algn="r" indent="0" marL="0">
              <a:buNone/>
            </a:pPr>
            <a:r>
              <a:rPr lang="en-US" sz="1100" dirty="0">
                <a:solidFill>
                  <a:srgbClr val="7A8BA0"/>
                </a:solidFill>
                <a:latin typeface="Calibri" pitchFamily="34" charset="0"/>
                <a:ea typeface="Calibri" pitchFamily="34" charset="-122"/>
                <a:cs typeface="Calibri" pitchFamily="34" charset="-120"/>
              </a:rPr>
              <a:t>Yifan</a:t>
            </a:r>
            <a:endParaRPr lang="en-US" sz="1100" dirty="0"/>
          </a:p>
        </p:txBody>
      </p:sp>
      <p:sp>
        <p:nvSpPr>
          <p:cNvPr id="5" name="Shape 3"/>
          <p:cNvSpPr/>
          <p:nvPr/>
        </p:nvSpPr>
        <p:spPr>
          <a:xfrm>
            <a:off x="685800" y="1691640"/>
            <a:ext cx="5120640" cy="960120"/>
          </a:xfrm>
          <a:prstGeom prst="roundRect">
            <a:avLst>
              <a:gd name="adj" fmla="val 7619"/>
            </a:avLst>
          </a:prstGeom>
          <a:solidFill>
            <a:srgbClr val="FFFFFF"/>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6" name="Text 4"/>
          <p:cNvSpPr txBox="1"/>
          <p:nvPr/>
        </p:nvSpPr>
        <p:spPr>
          <a:xfrm>
            <a:off x="941832" y="1810512"/>
            <a:ext cx="4206240" cy="329184"/>
          </a:xfrm>
          <a:prstGeom prst="rect">
            <a:avLst/>
          </a:prstGeom>
          <a:noFill/>
          <a:ln/>
        </p:spPr>
        <p:txBody>
          <a:bodyPr wrap="square" lIns="0" tIns="0" rIns="0" bIns="0" rtlCol="0" anchor="ctr"/>
          <a:lstStyle/>
          <a:p>
            <a:pPr indent="0" marL="0">
              <a:buNone/>
            </a:pPr>
            <a:r>
              <a:rPr lang="en-US" sz="1700" b="1" dirty="0">
                <a:solidFill>
                  <a:srgbClr val="355070"/>
                </a:solidFill>
                <a:latin typeface="Calibri" pitchFamily="34" charset="0"/>
                <a:ea typeface="Calibri" pitchFamily="34" charset="-122"/>
                <a:cs typeface="Calibri" pitchFamily="34" charset="-120"/>
              </a:rPr>
              <a:t>Library</a:t>
            </a:r>
            <a:endParaRPr lang="en-US" sz="1700" dirty="0"/>
          </a:p>
        </p:txBody>
      </p:sp>
      <p:sp>
        <p:nvSpPr>
          <p:cNvPr id="7" name="Text 5"/>
          <p:cNvSpPr txBox="1"/>
          <p:nvPr/>
        </p:nvSpPr>
        <p:spPr>
          <a:xfrm>
            <a:off x="941832" y="2167128"/>
            <a:ext cx="4206240" cy="329184"/>
          </a:xfrm>
          <a:prstGeom prst="rect">
            <a:avLst/>
          </a:prstGeom>
          <a:noFill/>
          <a:ln/>
        </p:spPr>
        <p:txBody>
          <a:bodyPr wrap="square" lIns="0" tIns="0" rIns="0" bIns="0" rtlCol="0" anchor="ctr"/>
          <a:lstStyle/>
          <a:p>
            <a:pPr indent="0" marL="0">
              <a:buNone/>
            </a:pPr>
            <a:r>
              <a:rPr lang="en-US" sz="1250" dirty="0">
                <a:solidFill>
                  <a:srgbClr val="7A8BA0"/>
                </a:solidFill>
                <a:latin typeface="Calibri" pitchFamily="34" charset="0"/>
                <a:ea typeface="Calibri" pitchFamily="34" charset="-122"/>
                <a:cs typeface="Calibri" pitchFamily="34" charset="-120"/>
              </a:rPr>
              <a:t>one for each institution</a:t>
            </a:r>
            <a:endParaRPr lang="en-US" sz="1250" dirty="0"/>
          </a:p>
        </p:txBody>
      </p:sp>
      <p:sp>
        <p:nvSpPr>
          <p:cNvPr id="8" name="Text 6"/>
          <p:cNvSpPr txBox="1"/>
          <p:nvPr/>
        </p:nvSpPr>
        <p:spPr>
          <a:xfrm>
            <a:off x="941832" y="2624328"/>
            <a:ext cx="457200" cy="347472"/>
          </a:xfrm>
          <a:prstGeom prst="rect">
            <a:avLst/>
          </a:prstGeom>
          <a:noFill/>
          <a:ln/>
        </p:spPr>
        <p:txBody>
          <a:bodyPr wrap="square" lIns="0" tIns="0" rIns="0" bIns="0" rtlCol="0" anchor="ctr"/>
          <a:lstStyle/>
          <a:p>
            <a:pPr indent="0" marL="0">
              <a:buNone/>
            </a:pPr>
            <a:r>
              <a:rPr lang="en-US" sz="1800" b="1" dirty="0">
                <a:solidFill>
                  <a:srgbClr val="EAAC8B"/>
                </a:solidFill>
                <a:latin typeface="Calibri" pitchFamily="34" charset="0"/>
                <a:ea typeface="Calibri" pitchFamily="34" charset="-122"/>
                <a:cs typeface="Calibri" pitchFamily="34" charset="-120"/>
              </a:rPr>
              <a:t>↓</a:t>
            </a:r>
            <a:endParaRPr lang="en-US" sz="1800" dirty="0"/>
          </a:p>
        </p:txBody>
      </p:sp>
      <p:sp>
        <p:nvSpPr>
          <p:cNvPr id="9" name="Shape 7"/>
          <p:cNvSpPr/>
          <p:nvPr/>
        </p:nvSpPr>
        <p:spPr>
          <a:xfrm>
            <a:off x="1143000" y="2990088"/>
            <a:ext cx="4663440" cy="960120"/>
          </a:xfrm>
          <a:prstGeom prst="roundRect">
            <a:avLst>
              <a:gd name="adj" fmla="val 7619"/>
            </a:avLst>
          </a:prstGeom>
          <a:solidFill>
            <a:srgbClr val="F4F8FA"/>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10" name="Text 8"/>
          <p:cNvSpPr txBox="1"/>
          <p:nvPr/>
        </p:nvSpPr>
        <p:spPr>
          <a:xfrm>
            <a:off x="1399032" y="3108960"/>
            <a:ext cx="4206240" cy="329184"/>
          </a:xfrm>
          <a:prstGeom prst="rect">
            <a:avLst/>
          </a:prstGeom>
          <a:noFill/>
          <a:ln/>
        </p:spPr>
        <p:txBody>
          <a:bodyPr wrap="square" lIns="0" tIns="0" rIns="0" bIns="0" rtlCol="0" anchor="ctr"/>
          <a:lstStyle/>
          <a:p>
            <a:pPr indent="0" marL="0">
              <a:buNone/>
            </a:pPr>
            <a:r>
              <a:rPr lang="en-US" sz="1700" b="1" dirty="0">
                <a:solidFill>
                  <a:srgbClr val="E56B6F"/>
                </a:solidFill>
                <a:latin typeface="Calibri" pitchFamily="34" charset="0"/>
                <a:ea typeface="Calibri" pitchFamily="34" charset="-122"/>
                <a:cs typeface="Calibri" pitchFamily="34" charset="-120"/>
              </a:rPr>
              <a:t>Library-Year</a:t>
            </a:r>
            <a:endParaRPr lang="en-US" sz="1700" dirty="0"/>
          </a:p>
        </p:txBody>
      </p:sp>
      <p:sp>
        <p:nvSpPr>
          <p:cNvPr id="11" name="Text 9"/>
          <p:cNvSpPr txBox="1"/>
          <p:nvPr/>
        </p:nvSpPr>
        <p:spPr>
          <a:xfrm>
            <a:off x="1399032" y="3465576"/>
            <a:ext cx="4206240" cy="329184"/>
          </a:xfrm>
          <a:prstGeom prst="rect">
            <a:avLst/>
          </a:prstGeom>
          <a:noFill/>
          <a:ln/>
        </p:spPr>
        <p:txBody>
          <a:bodyPr wrap="square" lIns="0" tIns="0" rIns="0" bIns="0" rtlCol="0" anchor="ctr"/>
          <a:lstStyle/>
          <a:p>
            <a:pPr indent="0" marL="0">
              <a:buNone/>
            </a:pPr>
            <a:r>
              <a:rPr lang="en-US" sz="1250" dirty="0">
                <a:solidFill>
                  <a:srgbClr val="7A8BA0"/>
                </a:solidFill>
                <a:latin typeface="Calibri" pitchFamily="34" charset="0"/>
                <a:ea typeface="Calibri" pitchFamily="34" charset="-122"/>
                <a:cs typeface="Calibri" pitchFamily="34" charset="-120"/>
              </a:rPr>
              <a:t>one for each institution, each year</a:t>
            </a:r>
            <a:endParaRPr lang="en-US" sz="1250" dirty="0"/>
          </a:p>
        </p:txBody>
      </p:sp>
      <p:sp>
        <p:nvSpPr>
          <p:cNvPr id="12" name="Text 10"/>
          <p:cNvSpPr txBox="1"/>
          <p:nvPr/>
        </p:nvSpPr>
        <p:spPr>
          <a:xfrm>
            <a:off x="1399032" y="3922776"/>
            <a:ext cx="457200" cy="347472"/>
          </a:xfrm>
          <a:prstGeom prst="rect">
            <a:avLst/>
          </a:prstGeom>
          <a:noFill/>
          <a:ln/>
        </p:spPr>
        <p:txBody>
          <a:bodyPr wrap="square" lIns="0" tIns="0" rIns="0" bIns="0" rtlCol="0" anchor="ctr"/>
          <a:lstStyle/>
          <a:p>
            <a:pPr indent="0" marL="0">
              <a:buNone/>
            </a:pPr>
            <a:r>
              <a:rPr lang="en-US" sz="1800" b="1" dirty="0">
                <a:solidFill>
                  <a:srgbClr val="EAAC8B"/>
                </a:solidFill>
                <a:latin typeface="Calibri" pitchFamily="34" charset="0"/>
                <a:ea typeface="Calibri" pitchFamily="34" charset="-122"/>
                <a:cs typeface="Calibri" pitchFamily="34" charset="-120"/>
              </a:rPr>
              <a:t>↓</a:t>
            </a:r>
            <a:endParaRPr lang="en-US" sz="1800" dirty="0"/>
          </a:p>
        </p:txBody>
      </p:sp>
      <p:sp>
        <p:nvSpPr>
          <p:cNvPr id="13" name="Shape 11"/>
          <p:cNvSpPr/>
          <p:nvPr/>
        </p:nvSpPr>
        <p:spPr>
          <a:xfrm>
            <a:off x="1600200" y="4288536"/>
            <a:ext cx="4206240" cy="960120"/>
          </a:xfrm>
          <a:prstGeom prst="roundRect">
            <a:avLst>
              <a:gd name="adj" fmla="val 7619"/>
            </a:avLst>
          </a:prstGeom>
          <a:solidFill>
            <a:srgbClr val="FFFFFF"/>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14" name="Text 12"/>
          <p:cNvSpPr txBox="1"/>
          <p:nvPr/>
        </p:nvSpPr>
        <p:spPr>
          <a:xfrm>
            <a:off x="1856232" y="4407408"/>
            <a:ext cx="4206240" cy="329184"/>
          </a:xfrm>
          <a:prstGeom prst="rect">
            <a:avLst/>
          </a:prstGeom>
          <a:noFill/>
          <a:ln/>
        </p:spPr>
        <p:txBody>
          <a:bodyPr wrap="square" lIns="0" tIns="0" rIns="0" bIns="0" rtlCol="0" anchor="ctr"/>
          <a:lstStyle/>
          <a:p>
            <a:pPr indent="0" marL="0">
              <a:buNone/>
            </a:pPr>
            <a:r>
              <a:rPr lang="en-US" sz="1700" b="1" dirty="0">
                <a:solidFill>
                  <a:srgbClr val="6D597A"/>
                </a:solidFill>
                <a:latin typeface="Calibri" pitchFamily="34" charset="0"/>
                <a:ea typeface="Calibri" pitchFamily="34" charset="-122"/>
                <a:cs typeface="Calibri" pitchFamily="34" charset="-120"/>
              </a:rPr>
              <a:t>The ten forms</a:t>
            </a:r>
            <a:endParaRPr lang="en-US" sz="1700" dirty="0"/>
          </a:p>
        </p:txBody>
      </p:sp>
      <p:sp>
        <p:nvSpPr>
          <p:cNvPr id="15" name="Text 13"/>
          <p:cNvSpPr txBox="1"/>
          <p:nvPr/>
        </p:nvSpPr>
        <p:spPr>
          <a:xfrm>
            <a:off x="1856232" y="4764024"/>
            <a:ext cx="4206240" cy="329184"/>
          </a:xfrm>
          <a:prstGeom prst="rect">
            <a:avLst/>
          </a:prstGeom>
          <a:noFill/>
          <a:ln/>
        </p:spPr>
        <p:txBody>
          <a:bodyPr wrap="square" lIns="0" tIns="0" rIns="0" bIns="0" rtlCol="0" anchor="ctr"/>
          <a:lstStyle/>
          <a:p>
            <a:pPr indent="0" marL="0">
              <a:buNone/>
            </a:pPr>
            <a:r>
              <a:rPr lang="en-US" sz="1250" dirty="0">
                <a:solidFill>
                  <a:srgbClr val="7A8BA0"/>
                </a:solidFill>
                <a:latin typeface="Calibri" pitchFamily="34" charset="0"/>
                <a:ea typeface="Calibri" pitchFamily="34" charset="-122"/>
                <a:cs typeface="Calibri" pitchFamily="34" charset="-120"/>
              </a:rPr>
              <a:t>one of each, hanging off that year</a:t>
            </a:r>
            <a:endParaRPr lang="en-US" sz="1250" dirty="0"/>
          </a:p>
        </p:txBody>
      </p:sp>
      <p:sp>
        <p:nvSpPr>
          <p:cNvPr id="16" name="Text 14"/>
          <p:cNvSpPr txBox="1"/>
          <p:nvPr/>
        </p:nvSpPr>
        <p:spPr>
          <a:xfrm>
            <a:off x="6446520" y="1691640"/>
            <a:ext cx="5059375" cy="3108960"/>
          </a:xfrm>
          <a:prstGeom prst="rect">
            <a:avLst/>
          </a:prstGeom>
          <a:noFill/>
          <a:ln/>
        </p:spPr>
        <p:txBody>
          <a:bodyPr wrap="square" lIns="0" tIns="0" rIns="0" bIns="0" rtlCol="0" anchor="t"/>
          <a:lstStyle/>
          <a:p>
            <a:pPr marL="203200" indent="-203200">
              <a:spcAft>
                <a:spcPts val="900"/>
              </a:spcAft>
              <a:buSzPct val="100000"/>
              <a:buChar char="•"/>
            </a:pPr>
            <a:r>
              <a:rPr lang="en-US" sz="1450" dirty="0">
                <a:solidFill>
                  <a:srgbClr val="355070"/>
                </a:solidFill>
                <a:latin typeface="Calibri" pitchFamily="34" charset="0"/>
                <a:ea typeface="Calibri" pitchFamily="34" charset="-122"/>
                <a:cs typeface="Calibri" pitchFamily="34" charset="-120"/>
              </a:rPr>
              <a:t>Every form you submit is attached to your library and that year</a:t>
            </a:r>
            <a:endParaRPr lang="en-US" sz="1450" dirty="0"/>
          </a:p>
          <a:p>
            <a:pPr marL="203200" indent="-203200">
              <a:spcAft>
                <a:spcPts val="900"/>
              </a:spcAft>
              <a:buSzPct val="100000"/>
              <a:buChar char="•"/>
            </a:pPr>
            <a:r>
              <a:rPr lang="en-US" sz="1450" dirty="0">
                <a:solidFill>
                  <a:srgbClr val="355070"/>
                </a:solidFill>
                <a:latin typeface="Calibri" pitchFamily="34" charset="0"/>
                <a:ea typeface="Calibri" pitchFamily="34" charset="-122"/>
                <a:cs typeface="Calibri" pitchFamily="34" charset="-120"/>
              </a:rPr>
              <a:t>A single switch on it decides whether you can edit that year</a:t>
            </a:r>
            <a:endParaRPr lang="en-US" sz="1450" dirty="0"/>
          </a:p>
          <a:p>
            <a:pPr marL="203200" indent="-203200">
              <a:spcAft>
                <a:spcPts val="900"/>
              </a:spcAft>
              <a:buSzPct val="100000"/>
              <a:buChar char="•"/>
            </a:pPr>
            <a:r>
              <a:rPr lang="en-US" sz="1450" dirty="0">
                <a:solidFill>
                  <a:srgbClr val="355070"/>
                </a:solidFill>
                <a:latin typeface="Calibri" pitchFamily="34" charset="0"/>
                <a:ea typeface="Calibri" pitchFamily="34" charset="-122"/>
                <a:cs typeface="Calibri" pitchFamily="34" charset="-120"/>
              </a:rPr>
              <a:t>That switch is what the opening and closing dates actually control</a:t>
            </a:r>
            <a:endParaRPr lang="en-US" sz="1450" dirty="0"/>
          </a:p>
          <a:p>
            <a:pPr marL="203200" indent="-203200">
              <a:spcAft>
                <a:spcPts val="900"/>
              </a:spcAft>
              <a:buSzPct val="100000"/>
              <a:buChar char="•"/>
            </a:pPr>
            <a:r>
              <a:rPr lang="en-US" sz="1450" dirty="0">
                <a:solidFill>
                  <a:srgbClr val="355070"/>
                </a:solidFill>
                <a:latin typeface="Calibri" pitchFamily="34" charset="0"/>
                <a:ea typeface="Calibri" pitchFamily="34" charset="-122"/>
                <a:cs typeface="Calibri" pitchFamily="34" charset="-120"/>
              </a:rPr>
              <a:t>Empty records are created in advance — a library that submits nothing still has a place in the record</a:t>
            </a:r>
            <a:endParaRPr lang="en-US" sz="1450" dirty="0"/>
          </a:p>
        </p:txBody>
      </p:sp>
      <p:sp>
        <p:nvSpPr>
          <p:cNvPr id="17" name="Shape 15"/>
          <p:cNvSpPr/>
          <p:nvPr/>
        </p:nvSpPr>
        <p:spPr>
          <a:xfrm>
            <a:off x="685800" y="5394960"/>
            <a:ext cx="10820095" cy="868680"/>
          </a:xfrm>
          <a:prstGeom prst="roundRect">
            <a:avLst>
              <a:gd name="adj" fmla="val 8421"/>
            </a:avLst>
          </a:prstGeom>
          <a:solidFill>
            <a:srgbClr val="F4F8FA"/>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18" name="Text 16"/>
          <p:cNvSpPr txBox="1"/>
          <p:nvPr/>
        </p:nvSpPr>
        <p:spPr>
          <a:xfrm>
            <a:off x="960120" y="5449824"/>
            <a:ext cx="10271455" cy="758952"/>
          </a:xfrm>
          <a:prstGeom prst="rect">
            <a:avLst/>
          </a:prstGeom>
          <a:noFill/>
          <a:ln/>
        </p:spPr>
        <p:txBody>
          <a:bodyPr wrap="square" lIns="0" tIns="0" rIns="0" bIns="0" rtlCol="0" anchor="ctr"/>
          <a:lstStyle/>
          <a:p>
            <a:pPr indent="0" marL="0">
              <a:buNone/>
            </a:pPr>
            <a:r>
              <a:rPr lang="en-US" sz="1600" b="1" dirty="0">
                <a:solidFill>
                  <a:srgbClr val="E56B6F"/>
                </a:solidFill>
                <a:latin typeface="Calibri" pitchFamily="34" charset="0"/>
                <a:ea typeface="Calibri" pitchFamily="34" charset="-122"/>
                <a:cs typeface="Calibri" pitchFamily="34" charset="-120"/>
              </a:rPr>
              <a:t>So the Committee can reopen ONE library’s forms for a few more days, without reopening them for everybody.</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9082735" cy="228600"/>
          </a:xfrm>
          <a:prstGeom prst="rect">
            <a:avLst/>
          </a:prstGeom>
          <a:noFill/>
          <a:ln/>
        </p:spPr>
        <p:txBody>
          <a:bodyPr wrap="square" lIns="0" tIns="0" rIns="0" bIns="0" rtlCol="0" anchor="ctr"/>
          <a:lstStyle/>
          <a:p>
            <a:pPr indent="0" marL="0">
              <a:buNone/>
            </a:pPr>
            <a:r>
              <a:rPr lang="en-US" sz="1100" b="1" spc="160" kern="0" dirty="0">
                <a:solidFill>
                  <a:srgbClr val="6D597A"/>
                </a:solidFill>
                <a:latin typeface="Calibri" pitchFamily="34" charset="0"/>
                <a:ea typeface="Calibri" pitchFamily="34" charset="-122"/>
                <a:cs typeface="Calibri" pitchFamily="34" charset="-120"/>
              </a:rPr>
              <a:t>A DELIBERATE TRADE-OFF</a:t>
            </a:r>
            <a:endParaRPr lang="en-US" sz="1100" dirty="0"/>
          </a:p>
        </p:txBody>
      </p:sp>
      <p:sp>
        <p:nvSpPr>
          <p:cNvPr id="3" name="Text 1"/>
          <p:cNvSpPr txBox="1"/>
          <p:nvPr/>
        </p:nvSpPr>
        <p:spPr>
          <a:xfrm>
            <a:off x="685800" y="713232"/>
            <a:ext cx="9082735" cy="777240"/>
          </a:xfrm>
          <a:prstGeom prst="rect">
            <a:avLst/>
          </a:prstGeom>
          <a:noFill/>
          <a:ln/>
        </p:spPr>
        <p:txBody>
          <a:bodyPr wrap="square" lIns="0" tIns="0" rIns="0" bIns="0" rtlCol="0" anchor="t"/>
          <a:lstStyle/>
          <a:p>
            <a:pPr indent="0" marL="0">
              <a:buNone/>
            </a:pPr>
            <a:r>
              <a:rPr lang="en-US" sz="3000" b="1" dirty="0">
                <a:solidFill>
                  <a:srgbClr val="355070"/>
                </a:solidFill>
                <a:latin typeface="Calibri" pitchFamily="34" charset="0"/>
                <a:ea typeface="Calibri" pitchFamily="34" charset="-122"/>
                <a:cs typeface="Calibri" pitchFamily="34" charset="-120"/>
              </a:rPr>
              <a:t>Why the tables are so wide</a:t>
            </a:r>
            <a:endParaRPr lang="en-US" sz="3000" dirty="0"/>
          </a:p>
        </p:txBody>
      </p:sp>
      <p:sp>
        <p:nvSpPr>
          <p:cNvPr id="4" name="Text 2"/>
          <p:cNvSpPr txBox="1"/>
          <p:nvPr/>
        </p:nvSpPr>
        <p:spPr>
          <a:xfrm>
            <a:off x="10042855" y="493776"/>
            <a:ext cx="1463040" cy="274320"/>
          </a:xfrm>
          <a:prstGeom prst="rect">
            <a:avLst/>
          </a:prstGeom>
          <a:noFill/>
          <a:ln/>
        </p:spPr>
        <p:txBody>
          <a:bodyPr wrap="square" lIns="0" tIns="0" rIns="0" bIns="0" rtlCol="0" anchor="ctr"/>
          <a:lstStyle/>
          <a:p>
            <a:pPr algn="r" indent="0" marL="0">
              <a:buNone/>
            </a:pPr>
            <a:r>
              <a:rPr lang="en-US" sz="1100" dirty="0">
                <a:solidFill>
                  <a:srgbClr val="7A8BA0"/>
                </a:solidFill>
                <a:latin typeface="Calibri" pitchFamily="34" charset="0"/>
                <a:ea typeface="Calibri" pitchFamily="34" charset="-122"/>
                <a:cs typeface="Calibri" pitchFamily="34" charset="-120"/>
              </a:rPr>
              <a:t>Yifan</a:t>
            </a:r>
            <a:endParaRPr lang="en-US" sz="1100" dirty="0"/>
          </a:p>
        </p:txBody>
      </p:sp>
      <p:sp>
        <p:nvSpPr>
          <p:cNvPr id="5" name="Text 3"/>
          <p:cNvSpPr txBox="1"/>
          <p:nvPr/>
        </p:nvSpPr>
        <p:spPr>
          <a:xfrm>
            <a:off x="685800" y="1536192"/>
            <a:ext cx="10820095" cy="292608"/>
          </a:xfrm>
          <a:prstGeom prst="rect">
            <a:avLst/>
          </a:prstGeom>
          <a:noFill/>
          <a:ln/>
        </p:spPr>
        <p:txBody>
          <a:bodyPr wrap="square" lIns="0" tIns="0" rIns="0" bIns="0" rtlCol="0" anchor="ctr"/>
          <a:lstStyle/>
          <a:p>
            <a:pPr indent="0" marL="0">
              <a:buNone/>
            </a:pPr>
            <a:r>
              <a:rPr lang="en-US" sz="1500" dirty="0">
                <a:solidFill>
                  <a:srgbClr val="57534E"/>
                </a:solidFill>
                <a:latin typeface="Calibri" pitchFamily="34" charset="0"/>
                <a:ea typeface="Calibri" pitchFamily="34" charset="-122"/>
                <a:cs typeface="Calibri" pitchFamily="34" charset="-120"/>
              </a:rPr>
              <a:t>Every measure is broken out the same way:</a:t>
            </a:r>
            <a:endParaRPr lang="en-US" sz="1500" dirty="0"/>
          </a:p>
        </p:txBody>
      </p:sp>
      <p:sp>
        <p:nvSpPr>
          <p:cNvPr id="6" name="Shape 4"/>
          <p:cNvSpPr/>
          <p:nvPr/>
        </p:nvSpPr>
        <p:spPr>
          <a:xfrm>
            <a:off x="685800" y="1965960"/>
            <a:ext cx="2017715" cy="685800"/>
          </a:xfrm>
          <a:prstGeom prst="roundRect">
            <a:avLst>
              <a:gd name="adj" fmla="val 10667"/>
            </a:avLst>
          </a:prstGeom>
          <a:solidFill>
            <a:srgbClr val="FFFFFF"/>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7" name="Text 5"/>
          <p:cNvSpPr txBox="1"/>
          <p:nvPr/>
        </p:nvSpPr>
        <p:spPr>
          <a:xfrm>
            <a:off x="685800" y="1965960"/>
            <a:ext cx="2017715" cy="685800"/>
          </a:xfrm>
          <a:prstGeom prst="rect">
            <a:avLst/>
          </a:prstGeom>
          <a:noFill/>
          <a:ln/>
        </p:spPr>
        <p:txBody>
          <a:bodyPr wrap="square" lIns="0" tIns="0" rIns="0" bIns="0" rtlCol="0" anchor="ctr"/>
          <a:lstStyle/>
          <a:p>
            <a:pPr algn="ctr" indent="0" marL="0">
              <a:buNone/>
            </a:pPr>
            <a:r>
              <a:rPr lang="en-US" sz="1500" b="1" dirty="0">
                <a:solidFill>
                  <a:srgbClr val="355070"/>
                </a:solidFill>
                <a:latin typeface="Calibri" pitchFamily="34" charset="0"/>
                <a:ea typeface="Calibri" pitchFamily="34" charset="-122"/>
                <a:cs typeface="Calibri" pitchFamily="34" charset="-120"/>
              </a:rPr>
              <a:t>Chinese</a:t>
            </a:r>
            <a:endParaRPr lang="en-US" sz="1500" dirty="0"/>
          </a:p>
        </p:txBody>
      </p:sp>
      <p:sp>
        <p:nvSpPr>
          <p:cNvPr id="8" name="Shape 6"/>
          <p:cNvSpPr/>
          <p:nvPr/>
        </p:nvSpPr>
        <p:spPr>
          <a:xfrm>
            <a:off x="2886395" y="1965960"/>
            <a:ext cx="2017715" cy="685800"/>
          </a:xfrm>
          <a:prstGeom prst="roundRect">
            <a:avLst>
              <a:gd name="adj" fmla="val 10667"/>
            </a:avLst>
          </a:prstGeom>
          <a:solidFill>
            <a:srgbClr val="FFFFFF"/>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9" name="Text 7"/>
          <p:cNvSpPr txBox="1"/>
          <p:nvPr/>
        </p:nvSpPr>
        <p:spPr>
          <a:xfrm>
            <a:off x="2886395" y="1965960"/>
            <a:ext cx="2017715" cy="685800"/>
          </a:xfrm>
          <a:prstGeom prst="rect">
            <a:avLst/>
          </a:prstGeom>
          <a:noFill/>
          <a:ln/>
        </p:spPr>
        <p:txBody>
          <a:bodyPr wrap="square" lIns="0" tIns="0" rIns="0" bIns="0" rtlCol="0" anchor="ctr"/>
          <a:lstStyle/>
          <a:p>
            <a:pPr algn="ctr" indent="0" marL="0">
              <a:buNone/>
            </a:pPr>
            <a:r>
              <a:rPr lang="en-US" sz="1500" b="1" dirty="0">
                <a:solidFill>
                  <a:srgbClr val="355070"/>
                </a:solidFill>
                <a:latin typeface="Calibri" pitchFamily="34" charset="0"/>
                <a:ea typeface="Calibri" pitchFamily="34" charset="-122"/>
                <a:cs typeface="Calibri" pitchFamily="34" charset="-120"/>
              </a:rPr>
              <a:t>Japanese</a:t>
            </a:r>
            <a:endParaRPr lang="en-US" sz="1500" dirty="0"/>
          </a:p>
        </p:txBody>
      </p:sp>
      <p:sp>
        <p:nvSpPr>
          <p:cNvPr id="10" name="Shape 8"/>
          <p:cNvSpPr/>
          <p:nvPr/>
        </p:nvSpPr>
        <p:spPr>
          <a:xfrm>
            <a:off x="5086990" y="1965960"/>
            <a:ext cx="2017715" cy="685800"/>
          </a:xfrm>
          <a:prstGeom prst="roundRect">
            <a:avLst>
              <a:gd name="adj" fmla="val 10667"/>
            </a:avLst>
          </a:prstGeom>
          <a:solidFill>
            <a:srgbClr val="FFFFFF"/>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11" name="Text 9"/>
          <p:cNvSpPr txBox="1"/>
          <p:nvPr/>
        </p:nvSpPr>
        <p:spPr>
          <a:xfrm>
            <a:off x="5086990" y="1965960"/>
            <a:ext cx="2017715" cy="685800"/>
          </a:xfrm>
          <a:prstGeom prst="rect">
            <a:avLst/>
          </a:prstGeom>
          <a:noFill/>
          <a:ln/>
        </p:spPr>
        <p:txBody>
          <a:bodyPr wrap="square" lIns="0" tIns="0" rIns="0" bIns="0" rtlCol="0" anchor="ctr"/>
          <a:lstStyle/>
          <a:p>
            <a:pPr algn="ctr" indent="0" marL="0">
              <a:buNone/>
            </a:pPr>
            <a:r>
              <a:rPr lang="en-US" sz="1500" b="1" dirty="0">
                <a:solidFill>
                  <a:srgbClr val="355070"/>
                </a:solidFill>
                <a:latin typeface="Calibri" pitchFamily="34" charset="0"/>
                <a:ea typeface="Calibri" pitchFamily="34" charset="-122"/>
                <a:cs typeface="Calibri" pitchFamily="34" charset="-120"/>
              </a:rPr>
              <a:t>Korean</a:t>
            </a:r>
            <a:endParaRPr lang="en-US" sz="1500" dirty="0"/>
          </a:p>
        </p:txBody>
      </p:sp>
      <p:sp>
        <p:nvSpPr>
          <p:cNvPr id="12" name="Shape 10"/>
          <p:cNvSpPr/>
          <p:nvPr/>
        </p:nvSpPr>
        <p:spPr>
          <a:xfrm>
            <a:off x="7287585" y="1965960"/>
            <a:ext cx="2017715" cy="685800"/>
          </a:xfrm>
          <a:prstGeom prst="roundRect">
            <a:avLst>
              <a:gd name="adj" fmla="val 10667"/>
            </a:avLst>
          </a:prstGeom>
          <a:solidFill>
            <a:srgbClr val="FFFFFF"/>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13" name="Text 11"/>
          <p:cNvSpPr txBox="1"/>
          <p:nvPr/>
        </p:nvSpPr>
        <p:spPr>
          <a:xfrm>
            <a:off x="7287585" y="1965960"/>
            <a:ext cx="2017715" cy="685800"/>
          </a:xfrm>
          <a:prstGeom prst="rect">
            <a:avLst/>
          </a:prstGeom>
          <a:noFill/>
          <a:ln/>
        </p:spPr>
        <p:txBody>
          <a:bodyPr wrap="square" lIns="0" tIns="0" rIns="0" bIns="0" rtlCol="0" anchor="ctr"/>
          <a:lstStyle/>
          <a:p>
            <a:pPr algn="ctr" indent="0" marL="0">
              <a:buNone/>
            </a:pPr>
            <a:r>
              <a:rPr lang="en-US" sz="1500" b="1" dirty="0">
                <a:solidFill>
                  <a:srgbClr val="355070"/>
                </a:solidFill>
                <a:latin typeface="Calibri" pitchFamily="34" charset="0"/>
                <a:ea typeface="Calibri" pitchFamily="34" charset="-122"/>
                <a:cs typeface="Calibri" pitchFamily="34" charset="-120"/>
              </a:rPr>
              <a:t>Non-CJK</a:t>
            </a:r>
            <a:endParaRPr lang="en-US" sz="1500" dirty="0"/>
          </a:p>
        </p:txBody>
      </p:sp>
      <p:sp>
        <p:nvSpPr>
          <p:cNvPr id="14" name="Shape 12"/>
          <p:cNvSpPr/>
          <p:nvPr/>
        </p:nvSpPr>
        <p:spPr>
          <a:xfrm>
            <a:off x="9488180" y="1965960"/>
            <a:ext cx="2017715" cy="685800"/>
          </a:xfrm>
          <a:prstGeom prst="roundRect">
            <a:avLst>
              <a:gd name="adj" fmla="val 10667"/>
            </a:avLst>
          </a:prstGeom>
          <a:solidFill>
            <a:srgbClr val="F4F8FA"/>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15" name="Text 13"/>
          <p:cNvSpPr txBox="1"/>
          <p:nvPr/>
        </p:nvSpPr>
        <p:spPr>
          <a:xfrm>
            <a:off x="9488180" y="1965960"/>
            <a:ext cx="2017715" cy="685800"/>
          </a:xfrm>
          <a:prstGeom prst="rect">
            <a:avLst/>
          </a:prstGeom>
          <a:noFill/>
          <a:ln/>
        </p:spPr>
        <p:txBody>
          <a:bodyPr wrap="square" lIns="0" tIns="0" rIns="0" bIns="0" rtlCol="0" anchor="ctr"/>
          <a:lstStyle/>
          <a:p>
            <a:pPr algn="ctr" indent="0" marL="0">
              <a:buNone/>
            </a:pPr>
            <a:r>
              <a:rPr lang="en-US" sz="1500" b="1" dirty="0">
                <a:solidFill>
                  <a:srgbClr val="E56B6F"/>
                </a:solidFill>
                <a:latin typeface="Calibri" pitchFamily="34" charset="0"/>
                <a:ea typeface="Calibri" pitchFamily="34" charset="-122"/>
                <a:cs typeface="Calibri" pitchFamily="34" charset="-120"/>
              </a:rPr>
              <a:t>Subtotal</a:t>
            </a:r>
            <a:endParaRPr lang="en-US" sz="1500" dirty="0"/>
          </a:p>
        </p:txBody>
      </p:sp>
      <p:sp>
        <p:nvSpPr>
          <p:cNvPr id="16" name="Text 14"/>
          <p:cNvSpPr txBox="1"/>
          <p:nvPr/>
        </p:nvSpPr>
        <p:spPr>
          <a:xfrm>
            <a:off x="685800" y="2816352"/>
            <a:ext cx="10820095" cy="320040"/>
          </a:xfrm>
          <a:prstGeom prst="rect">
            <a:avLst/>
          </a:prstGeom>
          <a:noFill/>
          <a:ln/>
        </p:spPr>
        <p:txBody>
          <a:bodyPr wrap="square" lIns="0" tIns="0" rIns="0" bIns="0" rtlCol="0" anchor="ctr"/>
          <a:lstStyle/>
          <a:p>
            <a:pPr indent="0" marL="0">
              <a:buNone/>
            </a:pPr>
            <a:r>
              <a:rPr lang="en-US" sz="1500" i="1" dirty="0">
                <a:solidFill>
                  <a:srgbClr val="57534E"/>
                </a:solidFill>
                <a:latin typeface="Calibri" pitchFamily="34" charset="0"/>
                <a:ea typeface="Calibri" pitchFamily="34" charset="-122"/>
                <a:cs typeface="Calibri" pitchFamily="34" charset="-120"/>
              </a:rPr>
              <a:t>…repeated for every question on the form. One form has around 110 columns because of it.</a:t>
            </a:r>
            <a:endParaRPr lang="en-US" sz="1500" dirty="0"/>
          </a:p>
        </p:txBody>
      </p:sp>
      <p:sp>
        <p:nvSpPr>
          <p:cNvPr id="17" name="Shape 15"/>
          <p:cNvSpPr/>
          <p:nvPr/>
        </p:nvSpPr>
        <p:spPr>
          <a:xfrm>
            <a:off x="685800" y="3383280"/>
            <a:ext cx="10820095" cy="1051560"/>
          </a:xfrm>
          <a:prstGeom prst="roundRect">
            <a:avLst>
              <a:gd name="adj" fmla="val 6957"/>
            </a:avLst>
          </a:prstGeom>
          <a:solidFill>
            <a:srgbClr val="F4F8FA"/>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18" name="Text 16"/>
          <p:cNvSpPr txBox="1"/>
          <p:nvPr/>
        </p:nvSpPr>
        <p:spPr>
          <a:xfrm>
            <a:off x="1005840" y="3474720"/>
            <a:ext cx="10180015" cy="868680"/>
          </a:xfrm>
          <a:prstGeom prst="rect">
            <a:avLst/>
          </a:prstGeom>
          <a:noFill/>
          <a:ln/>
        </p:spPr>
        <p:txBody>
          <a:bodyPr wrap="square" lIns="0" tIns="0" rIns="0" bIns="0" rtlCol="0" anchor="ctr"/>
          <a:lstStyle/>
          <a:p>
            <a:pPr indent="0" marL="0">
              <a:buNone/>
            </a:pPr>
            <a:r>
              <a:rPr lang="en-US" sz="1700" b="1" dirty="0">
                <a:solidFill>
                  <a:srgbClr val="6D597A"/>
                </a:solidFill>
                <a:latin typeface="Calibri" pitchFamily="34" charset="0"/>
                <a:ea typeface="Calibri" pitchFamily="34" charset="-122"/>
                <a:cs typeface="Calibri" pitchFamily="34" charset="-120"/>
              </a:rPr>
              <a:t>A database designer would tell you that is untidy. They would be right.</a:t>
            </a:r>
            <a:endParaRPr lang="en-US" sz="1700" dirty="0"/>
          </a:p>
        </p:txBody>
      </p:sp>
      <p:sp>
        <p:nvSpPr>
          <p:cNvPr id="19" name="Text 17"/>
          <p:cNvSpPr txBox="1"/>
          <p:nvPr/>
        </p:nvSpPr>
        <p:spPr>
          <a:xfrm>
            <a:off x="685800" y="4617720"/>
            <a:ext cx="10820095" cy="731520"/>
          </a:xfrm>
          <a:prstGeom prst="rect">
            <a:avLst/>
          </a:prstGeom>
          <a:noFill/>
          <a:ln/>
        </p:spPr>
        <p:txBody>
          <a:bodyPr wrap="square" lIns="0" tIns="0" rIns="0" bIns="0" rtlCol="0" anchor="t"/>
          <a:lstStyle/>
          <a:p>
            <a:pPr indent="0" marL="0">
              <a:buNone/>
            </a:pPr>
            <a:r>
              <a:rPr lang="en-US" sz="1500" dirty="0">
                <a:solidFill>
                  <a:srgbClr val="355070"/>
                </a:solidFill>
                <a:latin typeface="Calibri" pitchFamily="34" charset="0"/>
                <a:ea typeface="Calibri" pitchFamily="34" charset="-122"/>
                <a:cs typeface="Calibri" pitchFamily="34" charset="-120"/>
              </a:rPr>
              <a:t>We chose not to collapse them. The moment you do, the numbers in the database stop lining up with the numbers on the questionnaire — and nobody can tell which question produced a figure.</a:t>
            </a:r>
            <a:endParaRPr lang="en-US" sz="1500" dirty="0"/>
          </a:p>
        </p:txBody>
      </p:sp>
      <p:sp>
        <p:nvSpPr>
          <p:cNvPr id="20" name="Shape 18"/>
          <p:cNvSpPr/>
          <p:nvPr/>
        </p:nvSpPr>
        <p:spPr>
          <a:xfrm>
            <a:off x="685800" y="5440680"/>
            <a:ext cx="10820095" cy="868680"/>
          </a:xfrm>
          <a:prstGeom prst="roundRect">
            <a:avLst>
              <a:gd name="adj" fmla="val 8421"/>
            </a:avLst>
          </a:prstGeom>
          <a:solidFill>
            <a:srgbClr val="F4F8FA"/>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21" name="Text 19"/>
          <p:cNvSpPr txBox="1"/>
          <p:nvPr/>
        </p:nvSpPr>
        <p:spPr>
          <a:xfrm>
            <a:off x="960120" y="5495544"/>
            <a:ext cx="10271455" cy="758952"/>
          </a:xfrm>
          <a:prstGeom prst="rect">
            <a:avLst/>
          </a:prstGeom>
          <a:noFill/>
          <a:ln/>
        </p:spPr>
        <p:txBody>
          <a:bodyPr wrap="square" lIns="0" tIns="0" rIns="0" bIns="0" rtlCol="0" anchor="ctr"/>
          <a:lstStyle/>
          <a:p>
            <a:pPr indent="0" marL="0">
              <a:buNone/>
            </a:pPr>
            <a:r>
              <a:rPr lang="en-US" sz="1600" b="1" dirty="0">
                <a:solidFill>
                  <a:srgbClr val="E56B6F"/>
                </a:solidFill>
                <a:latin typeface="Calibri" pitchFamily="34" charset="0"/>
                <a:ea typeface="Calibri" pitchFamily="34" charset="-122"/>
                <a:cs typeface="Calibri" pitchFamily="34" charset="-120"/>
              </a:rPr>
              <a:t>Any number in the system traces back to the exact question that produced it. That was worth more than elegance.</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9082735" cy="228600"/>
          </a:xfrm>
          <a:prstGeom prst="rect">
            <a:avLst/>
          </a:prstGeom>
          <a:noFill/>
          <a:ln/>
        </p:spPr>
        <p:txBody>
          <a:bodyPr wrap="square" lIns="0" tIns="0" rIns="0" bIns="0" rtlCol="0" anchor="ctr"/>
          <a:lstStyle/>
          <a:p>
            <a:pPr indent="0" marL="0">
              <a:buNone/>
            </a:pPr>
            <a:r>
              <a:rPr lang="en-US" sz="1100" b="1" spc="160" kern="0" dirty="0">
                <a:solidFill>
                  <a:srgbClr val="6D597A"/>
                </a:solidFill>
                <a:latin typeface="Calibri" pitchFamily="34" charset="0"/>
                <a:ea typeface="Calibri" pitchFamily="34" charset="-122"/>
                <a:cs typeface="Calibri" pitchFamily="34" charset="-120"/>
              </a:rPr>
              <a:t>SHARED TITLE LISTS</a:t>
            </a:r>
            <a:endParaRPr lang="en-US" sz="1100" dirty="0"/>
          </a:p>
        </p:txBody>
      </p:sp>
      <p:sp>
        <p:nvSpPr>
          <p:cNvPr id="3" name="Text 1"/>
          <p:cNvSpPr txBox="1"/>
          <p:nvPr/>
        </p:nvSpPr>
        <p:spPr>
          <a:xfrm>
            <a:off x="685800" y="713232"/>
            <a:ext cx="9082735" cy="777240"/>
          </a:xfrm>
          <a:prstGeom prst="rect">
            <a:avLst/>
          </a:prstGeom>
          <a:noFill/>
          <a:ln/>
        </p:spPr>
        <p:txBody>
          <a:bodyPr wrap="square" lIns="0" tIns="0" rIns="0" bIns="0" rtlCol="0" anchor="t"/>
          <a:lstStyle/>
          <a:p>
            <a:pPr indent="0" marL="0">
              <a:buNone/>
            </a:pPr>
            <a:r>
              <a:rPr lang="en-US" sz="3000" b="1" dirty="0">
                <a:solidFill>
                  <a:srgbClr val="355070"/>
                </a:solidFill>
                <a:latin typeface="Calibri" pitchFamily="34" charset="0"/>
                <a:ea typeface="Calibri" pitchFamily="34" charset="-122"/>
                <a:cs typeface="Calibri" pitchFamily="34" charset="-120"/>
              </a:rPr>
              <a:t>Describe a database once, not fifty times</a:t>
            </a:r>
            <a:endParaRPr lang="en-US" sz="3000" dirty="0"/>
          </a:p>
        </p:txBody>
      </p:sp>
      <p:sp>
        <p:nvSpPr>
          <p:cNvPr id="4" name="Text 2"/>
          <p:cNvSpPr txBox="1"/>
          <p:nvPr/>
        </p:nvSpPr>
        <p:spPr>
          <a:xfrm>
            <a:off x="10042855" y="493776"/>
            <a:ext cx="1463040" cy="274320"/>
          </a:xfrm>
          <a:prstGeom prst="rect">
            <a:avLst/>
          </a:prstGeom>
          <a:noFill/>
          <a:ln/>
        </p:spPr>
        <p:txBody>
          <a:bodyPr wrap="square" lIns="0" tIns="0" rIns="0" bIns="0" rtlCol="0" anchor="ctr"/>
          <a:lstStyle/>
          <a:p>
            <a:pPr algn="r" indent="0" marL="0">
              <a:buNone/>
            </a:pPr>
            <a:r>
              <a:rPr lang="en-US" sz="1100" dirty="0">
                <a:solidFill>
                  <a:srgbClr val="7A8BA0"/>
                </a:solidFill>
                <a:latin typeface="Calibri" pitchFamily="34" charset="0"/>
                <a:ea typeface="Calibri" pitchFamily="34" charset="-122"/>
                <a:cs typeface="Calibri" pitchFamily="34" charset="-120"/>
              </a:rPr>
              <a:t>Yifan</a:t>
            </a:r>
            <a:endParaRPr lang="en-US" sz="1100" dirty="0"/>
          </a:p>
        </p:txBody>
      </p:sp>
      <p:sp>
        <p:nvSpPr>
          <p:cNvPr id="5" name="Shape 3"/>
          <p:cNvSpPr/>
          <p:nvPr/>
        </p:nvSpPr>
        <p:spPr>
          <a:xfrm>
            <a:off x="685800" y="1572768"/>
            <a:ext cx="5486400" cy="1920240"/>
          </a:xfrm>
          <a:prstGeom prst="roundRect">
            <a:avLst>
              <a:gd name="adj" fmla="val 3810"/>
            </a:avLst>
          </a:prstGeom>
          <a:solidFill>
            <a:srgbClr val="FFFFFF"/>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6" name="Text 4"/>
          <p:cNvSpPr txBox="1"/>
          <p:nvPr/>
        </p:nvSpPr>
        <p:spPr>
          <a:xfrm>
            <a:off x="960120" y="1737360"/>
            <a:ext cx="4937760" cy="292608"/>
          </a:xfrm>
          <a:prstGeom prst="rect">
            <a:avLst/>
          </a:prstGeom>
          <a:noFill/>
          <a:ln/>
        </p:spPr>
        <p:txBody>
          <a:bodyPr wrap="square" lIns="0" tIns="0" rIns="0" bIns="0" rtlCol="0" anchor="ctr"/>
          <a:lstStyle/>
          <a:p>
            <a:pPr indent="0" marL="0">
              <a:buNone/>
            </a:pPr>
            <a:r>
              <a:rPr lang="en-US" sz="1500" b="1" dirty="0">
                <a:solidFill>
                  <a:srgbClr val="7A8BA0"/>
                </a:solidFill>
                <a:latin typeface="Calibri" pitchFamily="34" charset="0"/>
                <a:ea typeface="Calibri" pitchFamily="34" charset="-122"/>
                <a:cs typeface="Calibri" pitchFamily="34" charset="-120"/>
              </a:rPr>
              <a:t>Before</a:t>
            </a:r>
            <a:endParaRPr lang="en-US" sz="1500" dirty="0"/>
          </a:p>
        </p:txBody>
      </p:sp>
      <p:sp>
        <p:nvSpPr>
          <p:cNvPr id="7" name="Text 5"/>
          <p:cNvSpPr txBox="1"/>
          <p:nvPr/>
        </p:nvSpPr>
        <p:spPr>
          <a:xfrm>
            <a:off x="960120" y="2084832"/>
            <a:ext cx="4937760" cy="1280160"/>
          </a:xfrm>
          <a:prstGeom prst="rect">
            <a:avLst/>
          </a:prstGeom>
          <a:noFill/>
          <a:ln/>
        </p:spPr>
        <p:txBody>
          <a:bodyPr wrap="square" lIns="0" tIns="0" rIns="0" bIns="0" rtlCol="0" anchor="t"/>
          <a:lstStyle/>
          <a:p>
            <a:pPr indent="0" marL="0">
              <a:buNone/>
            </a:pPr>
            <a:r>
              <a:rPr lang="en-US" sz="1400" dirty="0">
                <a:solidFill>
                  <a:srgbClr val="57534E"/>
                </a:solidFill>
                <a:latin typeface="Calibri" pitchFamily="34" charset="0"/>
                <a:ea typeface="Calibri" pitchFamily="34" charset="-122"/>
                <a:cs typeface="Calibri" pitchFamily="34" charset="-120"/>
              </a:rPr>
              <a:t>One e-journal package that thirty libraries subscribe to was written down thirty separate times. Change the publisher’s name and someone had to find and fix thirty entries.</a:t>
            </a:r>
            <a:endParaRPr lang="en-US" sz="1400" dirty="0"/>
          </a:p>
        </p:txBody>
      </p:sp>
      <p:sp>
        <p:nvSpPr>
          <p:cNvPr id="8" name="Shape 6"/>
          <p:cNvSpPr/>
          <p:nvPr/>
        </p:nvSpPr>
        <p:spPr>
          <a:xfrm>
            <a:off x="6537960" y="1572768"/>
            <a:ext cx="4967935" cy="1920240"/>
          </a:xfrm>
          <a:prstGeom prst="roundRect">
            <a:avLst>
              <a:gd name="adj" fmla="val 3810"/>
            </a:avLst>
          </a:prstGeom>
          <a:solidFill>
            <a:srgbClr val="F4F8FA"/>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9" name="Text 7"/>
          <p:cNvSpPr txBox="1"/>
          <p:nvPr/>
        </p:nvSpPr>
        <p:spPr>
          <a:xfrm>
            <a:off x="6812280" y="1737360"/>
            <a:ext cx="4572000" cy="292608"/>
          </a:xfrm>
          <a:prstGeom prst="rect">
            <a:avLst/>
          </a:prstGeom>
          <a:noFill/>
          <a:ln/>
        </p:spPr>
        <p:txBody>
          <a:bodyPr wrap="square" lIns="0" tIns="0" rIns="0" bIns="0" rtlCol="0" anchor="ctr"/>
          <a:lstStyle/>
          <a:p>
            <a:pPr indent="0" marL="0">
              <a:buNone/>
            </a:pPr>
            <a:r>
              <a:rPr lang="en-US" sz="1500" b="1" dirty="0">
                <a:solidFill>
                  <a:srgbClr val="E56B6F"/>
                </a:solidFill>
                <a:latin typeface="Calibri" pitchFamily="34" charset="0"/>
                <a:ea typeface="Calibri" pitchFamily="34" charset="-122"/>
                <a:cs typeface="Calibri" pitchFamily="34" charset="-120"/>
              </a:rPr>
              <a:t>Now</a:t>
            </a:r>
            <a:endParaRPr lang="en-US" sz="1500" dirty="0"/>
          </a:p>
        </p:txBody>
      </p:sp>
      <p:sp>
        <p:nvSpPr>
          <p:cNvPr id="10" name="Text 8"/>
          <p:cNvSpPr txBox="1"/>
          <p:nvPr/>
        </p:nvSpPr>
        <p:spPr>
          <a:xfrm>
            <a:off x="6812280" y="2084832"/>
            <a:ext cx="4419295" cy="1280160"/>
          </a:xfrm>
          <a:prstGeom prst="rect">
            <a:avLst/>
          </a:prstGeom>
          <a:noFill/>
          <a:ln/>
        </p:spPr>
        <p:txBody>
          <a:bodyPr wrap="square" lIns="0" tIns="0" rIns="0" bIns="0" rtlCol="0" anchor="t"/>
          <a:lstStyle/>
          <a:p>
            <a:pPr indent="0" marL="0">
              <a:buNone/>
            </a:pPr>
            <a:r>
              <a:rPr lang="en-US" sz="1400" dirty="0">
                <a:solidFill>
                  <a:srgbClr val="355070"/>
                </a:solidFill>
                <a:latin typeface="Calibri" pitchFamily="34" charset="0"/>
                <a:ea typeface="Calibri" pitchFamily="34" charset="-122"/>
                <a:cs typeface="Calibri" pitchFamily="34" charset="-120"/>
              </a:rPr>
              <a:t>The package is described once, in a shared list. Each library records its own counts, and whether it had access that year, separately.</a:t>
            </a:r>
            <a:endParaRPr lang="en-US" sz="1400" dirty="0"/>
          </a:p>
        </p:txBody>
      </p:sp>
      <p:sp>
        <p:nvSpPr>
          <p:cNvPr id="11" name="Shape 9"/>
          <p:cNvSpPr/>
          <p:nvPr/>
        </p:nvSpPr>
        <p:spPr>
          <a:xfrm>
            <a:off x="685800" y="3749040"/>
            <a:ext cx="3484778" cy="1097280"/>
          </a:xfrm>
          <a:prstGeom prst="roundRect">
            <a:avLst>
              <a:gd name="adj" fmla="val 6667"/>
            </a:avLst>
          </a:prstGeom>
          <a:solidFill>
            <a:srgbClr val="FFFFFF"/>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12" name="Text 10"/>
          <p:cNvSpPr txBox="1"/>
          <p:nvPr/>
        </p:nvSpPr>
        <p:spPr>
          <a:xfrm>
            <a:off x="905256" y="3913632"/>
            <a:ext cx="3045866" cy="365760"/>
          </a:xfrm>
          <a:prstGeom prst="rect">
            <a:avLst/>
          </a:prstGeom>
          <a:noFill/>
          <a:ln/>
        </p:spPr>
        <p:txBody>
          <a:bodyPr wrap="square" lIns="0" tIns="0" rIns="0" bIns="0" rtlCol="0" anchor="t"/>
          <a:lstStyle/>
          <a:p>
            <a:pPr indent="0" marL="0">
              <a:buNone/>
            </a:pPr>
            <a:r>
              <a:rPr lang="en-US" sz="1450" b="1" dirty="0">
                <a:solidFill>
                  <a:srgbClr val="355070"/>
                </a:solidFill>
                <a:latin typeface="Calibri" pitchFamily="34" charset="0"/>
                <a:ea typeface="Calibri" pitchFamily="34" charset="-122"/>
                <a:cs typeface="Calibri" pitchFamily="34" charset="-120"/>
              </a:rPr>
              <a:t>One entry per title</a:t>
            </a:r>
            <a:endParaRPr lang="en-US" sz="1450" dirty="0"/>
          </a:p>
        </p:txBody>
      </p:sp>
      <p:sp>
        <p:nvSpPr>
          <p:cNvPr id="13" name="Text 11"/>
          <p:cNvSpPr txBox="1"/>
          <p:nvPr/>
        </p:nvSpPr>
        <p:spPr>
          <a:xfrm>
            <a:off x="905256" y="4315968"/>
            <a:ext cx="3045866" cy="365760"/>
          </a:xfrm>
          <a:prstGeom prst="rect">
            <a:avLst/>
          </a:prstGeom>
          <a:noFill/>
          <a:ln/>
        </p:spPr>
        <p:txBody>
          <a:bodyPr wrap="square" lIns="0" tIns="0" rIns="0" bIns="0" rtlCol="0" anchor="ctr"/>
          <a:lstStyle/>
          <a:p>
            <a:pPr indent="0" marL="0">
              <a:buNone/>
            </a:pPr>
            <a:r>
              <a:rPr lang="en-US" sz="1300" dirty="0">
                <a:solidFill>
                  <a:srgbClr val="7A8BA0"/>
                </a:solidFill>
                <a:latin typeface="Calibri" pitchFamily="34" charset="0"/>
                <a:ea typeface="Calibri" pitchFamily="34" charset="-122"/>
                <a:cs typeface="Calibri" pitchFamily="34" charset="-120"/>
              </a:rPr>
              <a:t>shared by every library</a:t>
            </a:r>
            <a:endParaRPr lang="en-US" sz="1300" dirty="0"/>
          </a:p>
        </p:txBody>
      </p:sp>
      <p:sp>
        <p:nvSpPr>
          <p:cNvPr id="14" name="Shape 12"/>
          <p:cNvSpPr/>
          <p:nvPr/>
        </p:nvSpPr>
        <p:spPr>
          <a:xfrm>
            <a:off x="4353458" y="3749040"/>
            <a:ext cx="3484778" cy="1097280"/>
          </a:xfrm>
          <a:prstGeom prst="roundRect">
            <a:avLst>
              <a:gd name="adj" fmla="val 6667"/>
            </a:avLst>
          </a:prstGeom>
          <a:solidFill>
            <a:srgbClr val="FFFFFF"/>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15" name="Text 13"/>
          <p:cNvSpPr txBox="1"/>
          <p:nvPr/>
        </p:nvSpPr>
        <p:spPr>
          <a:xfrm>
            <a:off x="4572914" y="3913632"/>
            <a:ext cx="3045866" cy="365760"/>
          </a:xfrm>
          <a:prstGeom prst="rect">
            <a:avLst/>
          </a:prstGeom>
          <a:noFill/>
          <a:ln/>
        </p:spPr>
        <p:txBody>
          <a:bodyPr wrap="square" lIns="0" tIns="0" rIns="0" bIns="0" rtlCol="0" anchor="t"/>
          <a:lstStyle/>
          <a:p>
            <a:pPr indent="0" marL="0">
              <a:buNone/>
            </a:pPr>
            <a:r>
              <a:rPr lang="en-US" sz="1450" b="1" dirty="0">
                <a:solidFill>
                  <a:srgbClr val="355070"/>
                </a:solidFill>
                <a:latin typeface="Calibri" pitchFamily="34" charset="0"/>
                <a:ea typeface="Calibri" pitchFamily="34" charset="-122"/>
                <a:cs typeface="Calibri" pitchFamily="34" charset="-120"/>
              </a:rPr>
              <a:t>Counts recorded separately</a:t>
            </a:r>
            <a:endParaRPr lang="en-US" sz="1450" dirty="0"/>
          </a:p>
        </p:txBody>
      </p:sp>
      <p:sp>
        <p:nvSpPr>
          <p:cNvPr id="16" name="Text 14"/>
          <p:cNvSpPr txBox="1"/>
          <p:nvPr/>
        </p:nvSpPr>
        <p:spPr>
          <a:xfrm>
            <a:off x="4572914" y="4315968"/>
            <a:ext cx="3045866" cy="365760"/>
          </a:xfrm>
          <a:prstGeom prst="rect">
            <a:avLst/>
          </a:prstGeom>
          <a:noFill/>
          <a:ln/>
        </p:spPr>
        <p:txBody>
          <a:bodyPr wrap="square" lIns="0" tIns="0" rIns="0" bIns="0" rtlCol="0" anchor="ctr"/>
          <a:lstStyle/>
          <a:p>
            <a:pPr indent="0" marL="0">
              <a:buNone/>
            </a:pPr>
            <a:r>
              <a:rPr lang="en-US" sz="1300" dirty="0">
                <a:solidFill>
                  <a:srgbClr val="7A8BA0"/>
                </a:solidFill>
                <a:latin typeface="Calibri" pitchFamily="34" charset="0"/>
                <a:ea typeface="Calibri" pitchFamily="34" charset="-122"/>
                <a:cs typeface="Calibri" pitchFamily="34" charset="-120"/>
              </a:rPr>
              <a:t>per library, per year</a:t>
            </a:r>
            <a:endParaRPr lang="en-US" sz="1300" dirty="0"/>
          </a:p>
        </p:txBody>
      </p:sp>
      <p:sp>
        <p:nvSpPr>
          <p:cNvPr id="17" name="Shape 15"/>
          <p:cNvSpPr/>
          <p:nvPr/>
        </p:nvSpPr>
        <p:spPr>
          <a:xfrm>
            <a:off x="8021117" y="3749040"/>
            <a:ext cx="3484778" cy="1097280"/>
          </a:xfrm>
          <a:prstGeom prst="roundRect">
            <a:avLst>
              <a:gd name="adj" fmla="val 6667"/>
            </a:avLst>
          </a:prstGeom>
          <a:solidFill>
            <a:srgbClr val="FFFFFF"/>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18" name="Text 16"/>
          <p:cNvSpPr txBox="1"/>
          <p:nvPr/>
        </p:nvSpPr>
        <p:spPr>
          <a:xfrm>
            <a:off x="8240573" y="3913632"/>
            <a:ext cx="3045866" cy="365760"/>
          </a:xfrm>
          <a:prstGeom prst="rect">
            <a:avLst/>
          </a:prstGeom>
          <a:noFill/>
          <a:ln/>
        </p:spPr>
        <p:txBody>
          <a:bodyPr wrap="square" lIns="0" tIns="0" rIns="0" bIns="0" rtlCol="0" anchor="t"/>
          <a:lstStyle/>
          <a:p>
            <a:pPr indent="0" marL="0">
              <a:buNone/>
            </a:pPr>
            <a:r>
              <a:rPr lang="en-US" sz="1450" b="1" dirty="0">
                <a:solidFill>
                  <a:srgbClr val="355070"/>
                </a:solidFill>
                <a:latin typeface="Calibri" pitchFamily="34" charset="0"/>
                <a:ea typeface="Calibri" pitchFamily="34" charset="-122"/>
                <a:cs typeface="Calibri" pitchFamily="34" charset="-120"/>
              </a:rPr>
              <a:t>Access recorded separately</a:t>
            </a:r>
            <a:endParaRPr lang="en-US" sz="1450" dirty="0"/>
          </a:p>
        </p:txBody>
      </p:sp>
      <p:sp>
        <p:nvSpPr>
          <p:cNvPr id="19" name="Text 17"/>
          <p:cNvSpPr txBox="1"/>
          <p:nvPr/>
        </p:nvSpPr>
        <p:spPr>
          <a:xfrm>
            <a:off x="8240573" y="4315968"/>
            <a:ext cx="3045866" cy="365760"/>
          </a:xfrm>
          <a:prstGeom prst="rect">
            <a:avLst/>
          </a:prstGeom>
          <a:noFill/>
          <a:ln/>
        </p:spPr>
        <p:txBody>
          <a:bodyPr wrap="square" lIns="0" tIns="0" rIns="0" bIns="0" rtlCol="0" anchor="ctr"/>
          <a:lstStyle/>
          <a:p>
            <a:pPr indent="0" marL="0">
              <a:buNone/>
            </a:pPr>
            <a:r>
              <a:rPr lang="en-US" sz="1300" dirty="0">
                <a:solidFill>
                  <a:srgbClr val="7A8BA0"/>
                </a:solidFill>
                <a:latin typeface="Calibri" pitchFamily="34" charset="0"/>
                <a:ea typeface="Calibri" pitchFamily="34" charset="-122"/>
                <a:cs typeface="Calibri" pitchFamily="34" charset="-120"/>
              </a:rPr>
              <a:t>who had it, in which year</a:t>
            </a:r>
            <a:endParaRPr lang="en-US" sz="1300" dirty="0"/>
          </a:p>
        </p:txBody>
      </p:sp>
      <p:sp>
        <p:nvSpPr>
          <p:cNvPr id="20" name="Shape 18"/>
          <p:cNvSpPr/>
          <p:nvPr/>
        </p:nvSpPr>
        <p:spPr>
          <a:xfrm>
            <a:off x="685800" y="5166360"/>
            <a:ext cx="10820095" cy="868680"/>
          </a:xfrm>
          <a:prstGeom prst="roundRect">
            <a:avLst>
              <a:gd name="adj" fmla="val 8421"/>
            </a:avLst>
          </a:prstGeom>
          <a:solidFill>
            <a:srgbClr val="F4F8FA"/>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21" name="Text 19"/>
          <p:cNvSpPr txBox="1"/>
          <p:nvPr/>
        </p:nvSpPr>
        <p:spPr>
          <a:xfrm>
            <a:off x="960120" y="5221224"/>
            <a:ext cx="10271455" cy="758952"/>
          </a:xfrm>
          <a:prstGeom prst="rect">
            <a:avLst/>
          </a:prstGeom>
          <a:noFill/>
          <a:ln/>
        </p:spPr>
        <p:txBody>
          <a:bodyPr wrap="square" lIns="0" tIns="0" rIns="0" bIns="0" rtlCol="0" anchor="ctr"/>
          <a:lstStyle/>
          <a:p>
            <a:pPr indent="0" marL="0">
              <a:buNone/>
            </a:pPr>
            <a:r>
              <a:rPr lang="en-US" sz="1600" b="1" dirty="0">
                <a:solidFill>
                  <a:srgbClr val="E56B6F"/>
                </a:solidFill>
                <a:latin typeface="Calibri" pitchFamily="34" charset="0"/>
                <a:ea typeface="Calibri" pitchFamily="34" charset="-122"/>
                <a:cs typeface="Calibri" pitchFamily="34" charset="-120"/>
              </a:rPr>
              <a:t>Correct a title once, and every library’s record is corrected with it.</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9082735" cy="228600"/>
          </a:xfrm>
          <a:prstGeom prst="rect">
            <a:avLst/>
          </a:prstGeom>
          <a:noFill/>
          <a:ln/>
        </p:spPr>
        <p:txBody>
          <a:bodyPr wrap="square" lIns="0" tIns="0" rIns="0" bIns="0" rtlCol="0" anchor="ctr"/>
          <a:lstStyle/>
          <a:p>
            <a:pPr indent="0" marL="0">
              <a:buNone/>
            </a:pPr>
            <a:r>
              <a:rPr lang="en-US" sz="1100" b="1" spc="160" kern="0" dirty="0">
                <a:solidFill>
                  <a:srgbClr val="6D597A"/>
                </a:solidFill>
                <a:latin typeface="Calibri" pitchFamily="34" charset="0"/>
                <a:ea typeface="Calibri" pitchFamily="34" charset="-122"/>
                <a:cs typeface="Calibri" pitchFamily="34" charset="-120"/>
              </a:rPr>
              <a:t>FOUR PROMISES ABOUT YOUR DATA</a:t>
            </a:r>
            <a:endParaRPr lang="en-US" sz="1100" dirty="0"/>
          </a:p>
        </p:txBody>
      </p:sp>
      <p:sp>
        <p:nvSpPr>
          <p:cNvPr id="3" name="Text 1"/>
          <p:cNvSpPr txBox="1"/>
          <p:nvPr/>
        </p:nvSpPr>
        <p:spPr>
          <a:xfrm>
            <a:off x="685800" y="713232"/>
            <a:ext cx="9082735" cy="777240"/>
          </a:xfrm>
          <a:prstGeom prst="rect">
            <a:avLst/>
          </a:prstGeom>
          <a:noFill/>
          <a:ln/>
        </p:spPr>
        <p:txBody>
          <a:bodyPr wrap="square" lIns="0" tIns="0" rIns="0" bIns="0" rtlCol="0" anchor="t"/>
          <a:lstStyle/>
          <a:p>
            <a:pPr indent="0" marL="0">
              <a:buNone/>
            </a:pPr>
            <a:r>
              <a:rPr lang="en-US" sz="3000" b="1" dirty="0">
                <a:solidFill>
                  <a:srgbClr val="355070"/>
                </a:solidFill>
                <a:latin typeface="Calibri" pitchFamily="34" charset="0"/>
                <a:ea typeface="Calibri" pitchFamily="34" charset="-122"/>
                <a:cs typeface="Calibri" pitchFamily="34" charset="-120"/>
              </a:rPr>
              <a:t>Never losing your work</a:t>
            </a:r>
            <a:endParaRPr lang="en-US" sz="3000" dirty="0"/>
          </a:p>
        </p:txBody>
      </p:sp>
      <p:sp>
        <p:nvSpPr>
          <p:cNvPr id="4" name="Text 2"/>
          <p:cNvSpPr txBox="1"/>
          <p:nvPr/>
        </p:nvSpPr>
        <p:spPr>
          <a:xfrm>
            <a:off x="10042855" y="493776"/>
            <a:ext cx="1463040" cy="274320"/>
          </a:xfrm>
          <a:prstGeom prst="rect">
            <a:avLst/>
          </a:prstGeom>
          <a:noFill/>
          <a:ln/>
        </p:spPr>
        <p:txBody>
          <a:bodyPr wrap="square" lIns="0" tIns="0" rIns="0" bIns="0" rtlCol="0" anchor="ctr"/>
          <a:lstStyle/>
          <a:p>
            <a:pPr algn="r" indent="0" marL="0">
              <a:buNone/>
            </a:pPr>
            <a:r>
              <a:rPr lang="en-US" sz="1100" dirty="0">
                <a:solidFill>
                  <a:srgbClr val="7A8BA0"/>
                </a:solidFill>
                <a:latin typeface="Calibri" pitchFamily="34" charset="0"/>
                <a:ea typeface="Calibri" pitchFamily="34" charset="-122"/>
                <a:cs typeface="Calibri" pitchFamily="34" charset="-120"/>
              </a:rPr>
              <a:t>Yifan</a:t>
            </a:r>
            <a:endParaRPr lang="en-US" sz="1100" dirty="0"/>
          </a:p>
        </p:txBody>
      </p:sp>
      <p:sp>
        <p:nvSpPr>
          <p:cNvPr id="5" name="Shape 3"/>
          <p:cNvSpPr/>
          <p:nvPr/>
        </p:nvSpPr>
        <p:spPr>
          <a:xfrm>
            <a:off x="685800" y="1618488"/>
            <a:ext cx="384048" cy="384048"/>
          </a:xfrm>
          <a:prstGeom prst="ellipse">
            <a:avLst/>
          </a:prstGeom>
          <a:solidFill>
            <a:srgbClr val="E56B6F"/>
          </a:solidFill>
          <a:ln w="12700">
            <a:solidFill>
              <a:srgbClr val="E56B6F"/>
            </a:solidFill>
            <a:prstDash val="solid"/>
          </a:ln>
        </p:spPr>
      </p:sp>
      <p:sp>
        <p:nvSpPr>
          <p:cNvPr id="6" name="Text 4"/>
          <p:cNvSpPr txBox="1"/>
          <p:nvPr/>
        </p:nvSpPr>
        <p:spPr>
          <a:xfrm>
            <a:off x="685800" y="16184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271016" y="1600200"/>
            <a:ext cx="10234879" cy="292608"/>
          </a:xfrm>
          <a:prstGeom prst="rect">
            <a:avLst/>
          </a:prstGeom>
          <a:noFill/>
          <a:ln/>
        </p:spPr>
        <p:txBody>
          <a:bodyPr wrap="square" lIns="0" tIns="0" rIns="0" bIns="0" rtlCol="0" anchor="ctr"/>
          <a:lstStyle/>
          <a:p>
            <a:pPr indent="0" marL="0">
              <a:buNone/>
            </a:pPr>
            <a:r>
              <a:rPr lang="en-US" sz="1600" b="1" dirty="0">
                <a:solidFill>
                  <a:srgbClr val="355070"/>
                </a:solidFill>
                <a:latin typeface="Calibri" pitchFamily="34" charset="0"/>
                <a:ea typeface="Calibri" pitchFamily="34" charset="-122"/>
                <a:cs typeface="Calibri" pitchFamily="34" charset="-120"/>
              </a:rPr>
              <a:t>Your draft is safe</a:t>
            </a:r>
            <a:endParaRPr lang="en-US" sz="1600" dirty="0"/>
          </a:p>
        </p:txBody>
      </p:sp>
      <p:sp>
        <p:nvSpPr>
          <p:cNvPr id="8" name="Text 6"/>
          <p:cNvSpPr txBox="1"/>
          <p:nvPr/>
        </p:nvSpPr>
        <p:spPr>
          <a:xfrm>
            <a:off x="1271016" y="1901952"/>
            <a:ext cx="10234879" cy="566928"/>
          </a:xfrm>
          <a:prstGeom prst="rect">
            <a:avLst/>
          </a:prstGeom>
          <a:noFill/>
          <a:ln/>
        </p:spPr>
        <p:txBody>
          <a:bodyPr wrap="square" lIns="0" tIns="0" rIns="0" bIns="0" rtlCol="0" anchor="t"/>
          <a:lstStyle/>
          <a:p>
            <a:pPr indent="0" marL="0">
              <a:buNone/>
            </a:pPr>
            <a:r>
              <a:rPr lang="en-US" sz="1350" dirty="0">
                <a:solidFill>
                  <a:srgbClr val="57534E"/>
                </a:solidFill>
                <a:latin typeface="Calibri" pitchFamily="34" charset="0"/>
                <a:ea typeface="Calibri" pitchFamily="34" charset="-122"/>
                <a:cs typeface="Calibri" pitchFamily="34" charset="-120"/>
              </a:rPr>
              <a:t>Saving updates the same record. Come back in three days and it is exactly where you left it.</a:t>
            </a:r>
            <a:endParaRPr lang="en-US" sz="1350" dirty="0"/>
          </a:p>
        </p:txBody>
      </p:sp>
      <p:sp>
        <p:nvSpPr>
          <p:cNvPr id="9" name="Shape 7"/>
          <p:cNvSpPr/>
          <p:nvPr/>
        </p:nvSpPr>
        <p:spPr>
          <a:xfrm>
            <a:off x="685800" y="2642616"/>
            <a:ext cx="384048" cy="384048"/>
          </a:xfrm>
          <a:prstGeom prst="ellipse">
            <a:avLst/>
          </a:prstGeom>
          <a:solidFill>
            <a:srgbClr val="355070"/>
          </a:solidFill>
          <a:ln w="12700">
            <a:solidFill>
              <a:srgbClr val="355070"/>
            </a:solidFill>
            <a:prstDash val="solid"/>
          </a:ln>
        </p:spPr>
      </p:sp>
      <p:sp>
        <p:nvSpPr>
          <p:cNvPr id="10" name="Text 8"/>
          <p:cNvSpPr txBox="1"/>
          <p:nvPr/>
        </p:nvSpPr>
        <p:spPr>
          <a:xfrm>
            <a:off x="685800" y="26426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271016" y="2624328"/>
            <a:ext cx="10234879" cy="292608"/>
          </a:xfrm>
          <a:prstGeom prst="rect">
            <a:avLst/>
          </a:prstGeom>
          <a:noFill/>
          <a:ln/>
        </p:spPr>
        <p:txBody>
          <a:bodyPr wrap="square" lIns="0" tIns="0" rIns="0" bIns="0" rtlCol="0" anchor="ctr"/>
          <a:lstStyle/>
          <a:p>
            <a:pPr indent="0" marL="0">
              <a:buNone/>
            </a:pPr>
            <a:r>
              <a:rPr lang="en-US" sz="1600" b="1" dirty="0">
                <a:solidFill>
                  <a:srgbClr val="355070"/>
                </a:solidFill>
                <a:latin typeface="Calibri" pitchFamily="34" charset="0"/>
                <a:ea typeface="Calibri" pitchFamily="34" charset="-122"/>
                <a:cs typeface="Calibri" pitchFamily="34" charset="-120"/>
              </a:rPr>
              <a:t>Submitting is recorded separately</a:t>
            </a:r>
            <a:endParaRPr lang="en-US" sz="1600" dirty="0"/>
          </a:p>
        </p:txBody>
      </p:sp>
      <p:sp>
        <p:nvSpPr>
          <p:cNvPr id="12" name="Text 10"/>
          <p:cNvSpPr txBox="1"/>
          <p:nvPr/>
        </p:nvSpPr>
        <p:spPr>
          <a:xfrm>
            <a:off x="1271016" y="2926080"/>
            <a:ext cx="10234879" cy="566928"/>
          </a:xfrm>
          <a:prstGeom prst="rect">
            <a:avLst/>
          </a:prstGeom>
          <a:noFill/>
          <a:ln/>
        </p:spPr>
        <p:txBody>
          <a:bodyPr wrap="square" lIns="0" tIns="0" rIns="0" bIns="0" rtlCol="0" anchor="t"/>
          <a:lstStyle/>
          <a:p>
            <a:pPr indent="0" marL="0">
              <a:buNone/>
            </a:pPr>
            <a:r>
              <a:rPr lang="en-US" sz="1350" dirty="0">
                <a:solidFill>
                  <a:srgbClr val="57534E"/>
                </a:solidFill>
                <a:latin typeface="Calibri" pitchFamily="34" charset="0"/>
                <a:ea typeface="Calibri" pitchFamily="34" charset="-122"/>
                <a:cs typeface="Calibri" pitchFamily="34" charset="-120"/>
              </a:rPr>
              <a:t>From the numbers themselves — per form, per year. The system knows the difference between “not started” and “started and saved nothing”.</a:t>
            </a:r>
            <a:endParaRPr lang="en-US" sz="1350" dirty="0"/>
          </a:p>
        </p:txBody>
      </p:sp>
      <p:sp>
        <p:nvSpPr>
          <p:cNvPr id="13" name="Shape 11"/>
          <p:cNvSpPr/>
          <p:nvPr/>
        </p:nvSpPr>
        <p:spPr>
          <a:xfrm>
            <a:off x="685800" y="3666744"/>
            <a:ext cx="384048" cy="384048"/>
          </a:xfrm>
          <a:prstGeom prst="ellipse">
            <a:avLst/>
          </a:prstGeom>
          <a:solidFill>
            <a:srgbClr val="B56576"/>
          </a:solidFill>
          <a:ln w="12700">
            <a:solidFill>
              <a:srgbClr val="B56576"/>
            </a:solidFill>
            <a:prstDash val="solid"/>
          </a:ln>
        </p:spPr>
      </p:sp>
      <p:sp>
        <p:nvSpPr>
          <p:cNvPr id="14" name="Text 12"/>
          <p:cNvSpPr txBox="1"/>
          <p:nvPr/>
        </p:nvSpPr>
        <p:spPr>
          <a:xfrm>
            <a:off x="685800" y="36667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txBox="1"/>
          <p:nvPr/>
        </p:nvSpPr>
        <p:spPr>
          <a:xfrm>
            <a:off x="1271016" y="3648456"/>
            <a:ext cx="10234879" cy="292608"/>
          </a:xfrm>
          <a:prstGeom prst="rect">
            <a:avLst/>
          </a:prstGeom>
          <a:noFill/>
          <a:ln/>
        </p:spPr>
        <p:txBody>
          <a:bodyPr wrap="square" lIns="0" tIns="0" rIns="0" bIns="0" rtlCol="0" anchor="ctr"/>
          <a:lstStyle/>
          <a:p>
            <a:pPr indent="0" marL="0">
              <a:buNone/>
            </a:pPr>
            <a:r>
              <a:rPr lang="en-US" sz="1600" b="1" dirty="0">
                <a:solidFill>
                  <a:srgbClr val="355070"/>
                </a:solidFill>
                <a:latin typeface="Calibri" pitchFamily="34" charset="0"/>
                <a:ea typeface="Calibri" pitchFamily="34" charset="-122"/>
                <a:cs typeface="Calibri" pitchFamily="34" charset="-120"/>
              </a:rPr>
              <a:t>A form of all zeros is not real data</a:t>
            </a:r>
            <a:endParaRPr lang="en-US" sz="1600" dirty="0"/>
          </a:p>
        </p:txBody>
      </p:sp>
      <p:sp>
        <p:nvSpPr>
          <p:cNvPr id="16" name="Text 14"/>
          <p:cNvSpPr txBox="1"/>
          <p:nvPr/>
        </p:nvSpPr>
        <p:spPr>
          <a:xfrm>
            <a:off x="1271016" y="3950208"/>
            <a:ext cx="10234879" cy="566928"/>
          </a:xfrm>
          <a:prstGeom prst="rect">
            <a:avLst/>
          </a:prstGeom>
          <a:noFill/>
          <a:ln/>
        </p:spPr>
        <p:txBody>
          <a:bodyPr wrap="square" lIns="0" tIns="0" rIns="0" bIns="0" rtlCol="0" anchor="t"/>
          <a:lstStyle/>
          <a:p>
            <a:pPr indent="0" marL="0">
              <a:buNone/>
            </a:pPr>
            <a:r>
              <a:rPr lang="en-US" sz="1350" dirty="0">
                <a:solidFill>
                  <a:srgbClr val="57534E"/>
                </a:solidFill>
                <a:latin typeface="Calibri" pitchFamily="34" charset="0"/>
                <a:ea typeface="Calibri" pitchFamily="34" charset="-122"/>
                <a:cs typeface="Calibri" pitchFamily="34" charset="-120"/>
              </a:rPr>
              <a:t>The system reads that as “did not participate”, not “reported zero”. This is a rule the Committee gave us — not one we invented.</a:t>
            </a:r>
            <a:endParaRPr lang="en-US" sz="1350" dirty="0"/>
          </a:p>
        </p:txBody>
      </p:sp>
      <p:sp>
        <p:nvSpPr>
          <p:cNvPr id="17" name="Shape 15"/>
          <p:cNvSpPr/>
          <p:nvPr/>
        </p:nvSpPr>
        <p:spPr>
          <a:xfrm>
            <a:off x="685800" y="4690872"/>
            <a:ext cx="384048" cy="384048"/>
          </a:xfrm>
          <a:prstGeom prst="ellipse">
            <a:avLst/>
          </a:prstGeom>
          <a:solidFill>
            <a:srgbClr val="6D597A"/>
          </a:solidFill>
          <a:ln w="12700">
            <a:solidFill>
              <a:srgbClr val="6D597A"/>
            </a:solidFill>
            <a:prstDash val="solid"/>
          </a:ln>
        </p:spPr>
      </p:sp>
      <p:sp>
        <p:nvSpPr>
          <p:cNvPr id="18" name="Text 16"/>
          <p:cNvSpPr txBox="1"/>
          <p:nvPr/>
        </p:nvSpPr>
        <p:spPr>
          <a:xfrm>
            <a:off x="685800" y="46908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9" name="Text 17"/>
          <p:cNvSpPr txBox="1"/>
          <p:nvPr/>
        </p:nvSpPr>
        <p:spPr>
          <a:xfrm>
            <a:off x="1271016" y="4672584"/>
            <a:ext cx="10234879" cy="292608"/>
          </a:xfrm>
          <a:prstGeom prst="rect">
            <a:avLst/>
          </a:prstGeom>
          <a:noFill/>
          <a:ln/>
        </p:spPr>
        <p:txBody>
          <a:bodyPr wrap="square" lIns="0" tIns="0" rIns="0" bIns="0" rtlCol="0" anchor="ctr"/>
          <a:lstStyle/>
          <a:p>
            <a:pPr indent="0" marL="0">
              <a:buNone/>
            </a:pPr>
            <a:r>
              <a:rPr lang="en-US" sz="1600" b="1" dirty="0">
                <a:solidFill>
                  <a:srgbClr val="355070"/>
                </a:solidFill>
                <a:latin typeface="Calibri" pitchFamily="34" charset="0"/>
                <a:ea typeface="Calibri" pitchFamily="34" charset="-122"/>
                <a:cs typeface="Calibri" pitchFamily="34" charset="-120"/>
              </a:rPr>
              <a:t>Every change is written down</a:t>
            </a:r>
            <a:endParaRPr lang="en-US" sz="1600" dirty="0"/>
          </a:p>
        </p:txBody>
      </p:sp>
      <p:sp>
        <p:nvSpPr>
          <p:cNvPr id="20" name="Text 18"/>
          <p:cNvSpPr txBox="1"/>
          <p:nvPr/>
        </p:nvSpPr>
        <p:spPr>
          <a:xfrm>
            <a:off x="1271016" y="4974336"/>
            <a:ext cx="10234879" cy="566928"/>
          </a:xfrm>
          <a:prstGeom prst="rect">
            <a:avLst/>
          </a:prstGeom>
          <a:noFill/>
          <a:ln/>
        </p:spPr>
        <p:txBody>
          <a:bodyPr wrap="square" lIns="0" tIns="0" rIns="0" bIns="0" rtlCol="0" anchor="t"/>
          <a:lstStyle/>
          <a:p>
            <a:pPr indent="0" marL="0">
              <a:buNone/>
            </a:pPr>
            <a:r>
              <a:rPr lang="en-US" sz="1350" dirty="0">
                <a:solidFill>
                  <a:srgbClr val="57534E"/>
                </a:solidFill>
                <a:latin typeface="Calibri" pitchFamily="34" charset="0"/>
                <a:ea typeface="Calibri" pitchFamily="34" charset="-122"/>
                <a:cs typeface="Calibri" pitchFamily="34" charset="-120"/>
              </a:rPr>
              <a:t>Who, when, and what the value was before. Changes made after the deadline are marked as such, field by field.</a:t>
            </a:r>
            <a:endParaRPr lang="en-US" sz="1350" dirty="0"/>
          </a:p>
        </p:txBody>
      </p:sp>
      <p:sp>
        <p:nvSpPr>
          <p:cNvPr id="21" name="Shape 19"/>
          <p:cNvSpPr/>
          <p:nvPr/>
        </p:nvSpPr>
        <p:spPr>
          <a:xfrm>
            <a:off x="685800" y="5468112"/>
            <a:ext cx="10820095" cy="868680"/>
          </a:xfrm>
          <a:prstGeom prst="roundRect">
            <a:avLst>
              <a:gd name="adj" fmla="val 8421"/>
            </a:avLst>
          </a:prstGeom>
          <a:solidFill>
            <a:srgbClr val="F4F8FA"/>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22" name="Text 20"/>
          <p:cNvSpPr txBox="1"/>
          <p:nvPr/>
        </p:nvSpPr>
        <p:spPr>
          <a:xfrm>
            <a:off x="960120" y="5522976"/>
            <a:ext cx="10271455" cy="758952"/>
          </a:xfrm>
          <a:prstGeom prst="rect">
            <a:avLst/>
          </a:prstGeom>
          <a:noFill/>
          <a:ln/>
        </p:spPr>
        <p:txBody>
          <a:bodyPr wrap="square" lIns="0" tIns="0" rIns="0" bIns="0" rtlCol="0" anchor="ctr"/>
          <a:lstStyle/>
          <a:p>
            <a:pPr indent="0" marL="0">
              <a:buNone/>
            </a:pPr>
            <a:r>
              <a:rPr lang="en-US" sz="1600" b="1" dirty="0">
                <a:solidFill>
                  <a:srgbClr val="E56B6F"/>
                </a:solidFill>
                <a:latin typeface="Calibri" pitchFamily="34" charset="0"/>
                <a:ea typeface="Calibri" pitchFamily="34" charset="-122"/>
                <a:cs typeface="Calibri" pitchFamily="34" charset="-120"/>
              </a:rPr>
              <a:t>Press Save Draft as often as you like. Nothing is lost, and nobody else sees it.</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9082735" cy="228600"/>
          </a:xfrm>
          <a:prstGeom prst="rect">
            <a:avLst/>
          </a:prstGeom>
          <a:noFill/>
          <a:ln/>
        </p:spPr>
        <p:txBody>
          <a:bodyPr wrap="square" lIns="0" tIns="0" rIns="0" bIns="0" rtlCol="0" anchor="ctr"/>
          <a:lstStyle/>
          <a:p>
            <a:pPr indent="0" marL="0">
              <a:buNone/>
            </a:pPr>
            <a:r>
              <a:rPr lang="en-US" sz="1100" b="1" spc="160" kern="0" dirty="0">
                <a:solidFill>
                  <a:srgbClr val="6D597A"/>
                </a:solidFill>
                <a:latin typeface="Calibri" pitchFamily="34" charset="0"/>
                <a:ea typeface="Calibri" pitchFamily="34" charset="-122"/>
                <a:cs typeface="Calibri" pitchFamily="34" charset="-120"/>
              </a:rPr>
              <a:t>BRING LAST YEAR FORWARD, IN ONE CLICK</a:t>
            </a:r>
            <a:endParaRPr lang="en-US" sz="1100" dirty="0"/>
          </a:p>
        </p:txBody>
      </p:sp>
      <p:sp>
        <p:nvSpPr>
          <p:cNvPr id="3" name="Text 1"/>
          <p:cNvSpPr txBox="1"/>
          <p:nvPr/>
        </p:nvSpPr>
        <p:spPr>
          <a:xfrm>
            <a:off x="685800" y="713232"/>
            <a:ext cx="9082735" cy="777240"/>
          </a:xfrm>
          <a:prstGeom prst="rect">
            <a:avLst/>
          </a:prstGeom>
          <a:noFill/>
          <a:ln/>
        </p:spPr>
        <p:txBody>
          <a:bodyPr wrap="square" lIns="0" tIns="0" rIns="0" bIns="0" rtlCol="0" anchor="t"/>
          <a:lstStyle/>
          <a:p>
            <a:pPr indent="0" marL="0">
              <a:buNone/>
            </a:pPr>
            <a:r>
              <a:rPr lang="en-US" sz="3000" b="1" dirty="0">
                <a:solidFill>
                  <a:srgbClr val="355070"/>
                </a:solidFill>
                <a:latin typeface="Calibri" pitchFamily="34" charset="0"/>
                <a:ea typeface="Calibri" pitchFamily="34" charset="-122"/>
                <a:cs typeface="Calibri" pitchFamily="34" charset="-120"/>
              </a:rPr>
              <a:t>Not typing the same thing twice</a:t>
            </a:r>
            <a:endParaRPr lang="en-US" sz="3000" dirty="0"/>
          </a:p>
        </p:txBody>
      </p:sp>
      <p:sp>
        <p:nvSpPr>
          <p:cNvPr id="4" name="Text 2"/>
          <p:cNvSpPr txBox="1"/>
          <p:nvPr/>
        </p:nvSpPr>
        <p:spPr>
          <a:xfrm>
            <a:off x="10042855" y="493776"/>
            <a:ext cx="1463040" cy="274320"/>
          </a:xfrm>
          <a:prstGeom prst="rect">
            <a:avLst/>
          </a:prstGeom>
          <a:noFill/>
          <a:ln/>
        </p:spPr>
        <p:txBody>
          <a:bodyPr wrap="square" lIns="0" tIns="0" rIns="0" bIns="0" rtlCol="0" anchor="ctr"/>
          <a:lstStyle/>
          <a:p>
            <a:pPr algn="r" indent="0" marL="0">
              <a:buNone/>
            </a:pPr>
            <a:r>
              <a:rPr lang="en-US" sz="1100" dirty="0">
                <a:solidFill>
                  <a:srgbClr val="7A8BA0"/>
                </a:solidFill>
                <a:latin typeface="Calibri" pitchFamily="34" charset="0"/>
                <a:ea typeface="Calibri" pitchFamily="34" charset="-122"/>
                <a:cs typeface="Calibri" pitchFamily="34" charset="-120"/>
              </a:rPr>
              <a:t>Yifan</a:t>
            </a:r>
            <a:endParaRPr lang="en-US" sz="1100" dirty="0"/>
          </a:p>
        </p:txBody>
      </p:sp>
      <p:sp>
        <p:nvSpPr>
          <p:cNvPr id="5" name="Shape 3"/>
          <p:cNvSpPr/>
          <p:nvPr/>
        </p:nvSpPr>
        <p:spPr>
          <a:xfrm>
            <a:off x="685800" y="1554480"/>
            <a:ext cx="10820095" cy="1051560"/>
          </a:xfrm>
          <a:prstGeom prst="roundRect">
            <a:avLst>
              <a:gd name="adj" fmla="val 6957"/>
            </a:avLst>
          </a:prstGeom>
          <a:solidFill>
            <a:srgbClr val="F4F8FA"/>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6" name="Text 4"/>
          <p:cNvSpPr txBox="1"/>
          <p:nvPr/>
        </p:nvSpPr>
        <p:spPr>
          <a:xfrm>
            <a:off x="1005840" y="1645920"/>
            <a:ext cx="10180015" cy="868680"/>
          </a:xfrm>
          <a:prstGeom prst="rect">
            <a:avLst/>
          </a:prstGeom>
          <a:noFill/>
          <a:ln/>
        </p:spPr>
        <p:txBody>
          <a:bodyPr wrap="square" lIns="0" tIns="0" rIns="0" bIns="0" rtlCol="0" anchor="ctr"/>
          <a:lstStyle/>
          <a:p>
            <a:pPr indent="0" marL="0">
              <a:buNone/>
            </a:pPr>
            <a:r>
              <a:rPr lang="en-US" sz="1900" b="1" dirty="0">
                <a:solidFill>
                  <a:srgbClr val="355070"/>
                </a:solidFill>
                <a:latin typeface="Calibri" pitchFamily="34" charset="0"/>
                <a:ea typeface="Calibri" pitchFamily="34" charset="-122"/>
                <a:cs typeface="Calibri" pitchFamily="34" charset="-120"/>
              </a:rPr>
              <a:t>You should never have to type in something the system already knows.</a:t>
            </a:r>
            <a:endParaRPr lang="en-US" sz="1900" dirty="0"/>
          </a:p>
        </p:txBody>
      </p:sp>
      <p:sp>
        <p:nvSpPr>
          <p:cNvPr id="7" name="Shape 5"/>
          <p:cNvSpPr/>
          <p:nvPr/>
        </p:nvSpPr>
        <p:spPr>
          <a:xfrm>
            <a:off x="685800" y="2715768"/>
            <a:ext cx="384048" cy="384048"/>
          </a:xfrm>
          <a:prstGeom prst="ellipse">
            <a:avLst/>
          </a:prstGeom>
          <a:solidFill>
            <a:srgbClr val="E56B6F"/>
          </a:solidFill>
          <a:ln w="12700">
            <a:solidFill>
              <a:srgbClr val="E56B6F"/>
            </a:solidFill>
            <a:prstDash val="solid"/>
          </a:ln>
        </p:spPr>
      </p:sp>
      <p:sp>
        <p:nvSpPr>
          <p:cNvPr id="8" name="Text 6"/>
          <p:cNvSpPr txBox="1"/>
          <p:nvPr/>
        </p:nvSpPr>
        <p:spPr>
          <a:xfrm>
            <a:off x="685800" y="27157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1271016" y="2697480"/>
            <a:ext cx="10234879" cy="292608"/>
          </a:xfrm>
          <a:prstGeom prst="rect">
            <a:avLst/>
          </a:prstGeom>
          <a:noFill/>
          <a:ln/>
        </p:spPr>
        <p:txBody>
          <a:bodyPr wrap="square" lIns="0" tIns="0" rIns="0" bIns="0" rtlCol="0" anchor="ctr"/>
          <a:lstStyle/>
          <a:p>
            <a:pPr indent="0" marL="0">
              <a:buNone/>
            </a:pPr>
            <a:r>
              <a:rPr lang="en-US" sz="1600" b="1" dirty="0">
                <a:solidFill>
                  <a:srgbClr val="355070"/>
                </a:solidFill>
                <a:latin typeface="Calibri" pitchFamily="34" charset="0"/>
                <a:ea typeface="Calibri" pitchFamily="34" charset="-122"/>
                <a:cs typeface="Calibri" pitchFamily="34" charset="-120"/>
              </a:rPr>
              <a:t>Copy last year’s databases into this year</a:t>
            </a:r>
            <a:endParaRPr lang="en-US" sz="1600" dirty="0"/>
          </a:p>
        </p:txBody>
      </p:sp>
      <p:sp>
        <p:nvSpPr>
          <p:cNvPr id="10" name="Text 8"/>
          <p:cNvSpPr txBox="1"/>
          <p:nvPr/>
        </p:nvSpPr>
        <p:spPr>
          <a:xfrm>
            <a:off x="1271016" y="2999232"/>
            <a:ext cx="10234879" cy="566928"/>
          </a:xfrm>
          <a:prstGeom prst="rect">
            <a:avLst/>
          </a:prstGeom>
          <a:noFill/>
          <a:ln/>
        </p:spPr>
        <p:txBody>
          <a:bodyPr wrap="square" lIns="0" tIns="0" rIns="0" bIns="0" rtlCol="0" anchor="t"/>
          <a:lstStyle/>
          <a:p>
            <a:pPr indent="0" marL="0">
              <a:buNone/>
            </a:pPr>
            <a:r>
              <a:rPr lang="en-US" sz="1350" dirty="0">
                <a:solidFill>
                  <a:srgbClr val="57534E"/>
                </a:solidFill>
                <a:latin typeface="Calibri" pitchFamily="34" charset="0"/>
                <a:ea typeface="Calibri" pitchFamily="34" charset="-122"/>
                <a:cs typeface="Calibri" pitchFamily="34" charset="-120"/>
              </a:rPr>
              <a:t>One action — and it tells you exactly what was copied and what was skipped.</a:t>
            </a:r>
            <a:endParaRPr lang="en-US" sz="1350" dirty="0"/>
          </a:p>
        </p:txBody>
      </p:sp>
      <p:sp>
        <p:nvSpPr>
          <p:cNvPr id="11" name="Shape 9"/>
          <p:cNvSpPr/>
          <p:nvPr/>
        </p:nvSpPr>
        <p:spPr>
          <a:xfrm>
            <a:off x="685800" y="3611880"/>
            <a:ext cx="384048" cy="384048"/>
          </a:xfrm>
          <a:prstGeom prst="ellipse">
            <a:avLst/>
          </a:prstGeom>
          <a:solidFill>
            <a:srgbClr val="355070"/>
          </a:solidFill>
          <a:ln w="12700">
            <a:solidFill>
              <a:srgbClr val="355070"/>
            </a:solidFill>
            <a:prstDash val="solid"/>
          </a:ln>
        </p:spPr>
      </p:sp>
      <p:sp>
        <p:nvSpPr>
          <p:cNvPr id="12" name="Text 10"/>
          <p:cNvSpPr txBox="1"/>
          <p:nvPr/>
        </p:nvSpPr>
        <p:spPr>
          <a:xfrm>
            <a:off x="685800" y="36118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1271016" y="3593592"/>
            <a:ext cx="10234879" cy="292608"/>
          </a:xfrm>
          <a:prstGeom prst="rect">
            <a:avLst/>
          </a:prstGeom>
          <a:noFill/>
          <a:ln/>
        </p:spPr>
        <p:txBody>
          <a:bodyPr wrap="square" lIns="0" tIns="0" rIns="0" bIns="0" rtlCol="0" anchor="ctr"/>
          <a:lstStyle/>
          <a:p>
            <a:pPr indent="0" marL="0">
              <a:buNone/>
            </a:pPr>
            <a:r>
              <a:rPr lang="en-US" sz="1600" b="1" dirty="0">
                <a:solidFill>
                  <a:srgbClr val="355070"/>
                </a:solidFill>
                <a:latin typeface="Calibri" pitchFamily="34" charset="0"/>
                <a:ea typeface="Calibri" pitchFamily="34" charset="-122"/>
                <a:cs typeface="Calibri" pitchFamily="34" charset="-120"/>
              </a:rPr>
              <a:t>It refuses to overwrite</a:t>
            </a:r>
            <a:endParaRPr lang="en-US" sz="1600" dirty="0"/>
          </a:p>
        </p:txBody>
      </p:sp>
      <p:sp>
        <p:nvSpPr>
          <p:cNvPr id="14" name="Text 12"/>
          <p:cNvSpPr txBox="1"/>
          <p:nvPr/>
        </p:nvSpPr>
        <p:spPr>
          <a:xfrm>
            <a:off x="1271016" y="3895344"/>
            <a:ext cx="10234879" cy="566928"/>
          </a:xfrm>
          <a:prstGeom prst="rect">
            <a:avLst/>
          </a:prstGeom>
          <a:noFill/>
          <a:ln/>
        </p:spPr>
        <p:txBody>
          <a:bodyPr wrap="square" lIns="0" tIns="0" rIns="0" bIns="0" rtlCol="0" anchor="t"/>
          <a:lstStyle/>
          <a:p>
            <a:pPr indent="0" marL="0">
              <a:buNone/>
            </a:pPr>
            <a:r>
              <a:rPr lang="en-US" sz="1350" dirty="0">
                <a:solidFill>
                  <a:srgbClr val="57534E"/>
                </a:solidFill>
                <a:latin typeface="Calibri" pitchFamily="34" charset="0"/>
                <a:ea typeface="Calibri" pitchFamily="34" charset="-122"/>
                <a:cs typeface="Calibri" pitchFamily="34" charset="-120"/>
              </a:rPr>
              <a:t>If this year already has records, it stops and shows you the conflict rather than quietly replacing your work.</a:t>
            </a:r>
            <a:endParaRPr lang="en-US" sz="1350" dirty="0"/>
          </a:p>
        </p:txBody>
      </p:sp>
      <p:sp>
        <p:nvSpPr>
          <p:cNvPr id="15" name="Shape 13"/>
          <p:cNvSpPr/>
          <p:nvPr/>
        </p:nvSpPr>
        <p:spPr>
          <a:xfrm>
            <a:off x="685800" y="4507992"/>
            <a:ext cx="384048" cy="384048"/>
          </a:xfrm>
          <a:prstGeom prst="ellipse">
            <a:avLst/>
          </a:prstGeom>
          <a:solidFill>
            <a:srgbClr val="B56576"/>
          </a:solidFill>
          <a:ln w="12700">
            <a:solidFill>
              <a:srgbClr val="B56576"/>
            </a:solidFill>
            <a:prstDash val="solid"/>
          </a:ln>
        </p:spPr>
      </p:sp>
      <p:sp>
        <p:nvSpPr>
          <p:cNvPr id="16" name="Text 14"/>
          <p:cNvSpPr txBox="1"/>
          <p:nvPr/>
        </p:nvSpPr>
        <p:spPr>
          <a:xfrm>
            <a:off x="685800" y="45079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1271016" y="4489704"/>
            <a:ext cx="10234879" cy="292608"/>
          </a:xfrm>
          <a:prstGeom prst="rect">
            <a:avLst/>
          </a:prstGeom>
          <a:noFill/>
          <a:ln/>
        </p:spPr>
        <p:txBody>
          <a:bodyPr wrap="square" lIns="0" tIns="0" rIns="0" bIns="0" rtlCol="0" anchor="ctr"/>
          <a:lstStyle/>
          <a:p>
            <a:pPr indent="0" marL="0">
              <a:buNone/>
            </a:pPr>
            <a:r>
              <a:rPr lang="en-US" sz="1600" b="1" dirty="0">
                <a:solidFill>
                  <a:srgbClr val="355070"/>
                </a:solidFill>
                <a:latin typeface="Calibri" pitchFamily="34" charset="0"/>
                <a:ea typeface="Calibri" pitchFamily="34" charset="-122"/>
                <a:cs typeface="Calibri" pitchFamily="34" charset="-120"/>
              </a:rPr>
              <a:t>Eight import buttons</a:t>
            </a:r>
            <a:endParaRPr lang="en-US" sz="1600" dirty="0"/>
          </a:p>
        </p:txBody>
      </p:sp>
      <p:sp>
        <p:nvSpPr>
          <p:cNvPr id="18" name="Text 16"/>
          <p:cNvSpPr txBox="1"/>
          <p:nvPr/>
        </p:nvSpPr>
        <p:spPr>
          <a:xfrm>
            <a:off x="1271016" y="4791456"/>
            <a:ext cx="10234879" cy="566928"/>
          </a:xfrm>
          <a:prstGeom prst="rect">
            <a:avLst/>
          </a:prstGeom>
          <a:noFill/>
          <a:ln/>
        </p:spPr>
        <p:txBody>
          <a:bodyPr wrap="square" lIns="0" tIns="0" rIns="0" bIns="0" rtlCol="0" anchor="t"/>
          <a:lstStyle/>
          <a:p>
            <a:pPr indent="0" marL="0">
              <a:buNone/>
            </a:pPr>
            <a:r>
              <a:rPr lang="en-US" sz="1350" dirty="0">
                <a:solidFill>
                  <a:srgbClr val="57534E"/>
                </a:solidFill>
                <a:latin typeface="Calibri" pitchFamily="34" charset="0"/>
                <a:ea typeface="Calibri" pitchFamily="34" charset="-122"/>
                <a:cs typeface="Calibri" pitchFamily="34" charset="-120"/>
              </a:rPr>
              <a:t>Pull figures the system already holds into the form you are filling in.</a:t>
            </a:r>
            <a:endParaRPr lang="en-US" sz="1350" dirty="0"/>
          </a:p>
        </p:txBody>
      </p:sp>
      <p:sp>
        <p:nvSpPr>
          <p:cNvPr id="19" name="Shape 17"/>
          <p:cNvSpPr/>
          <p:nvPr/>
        </p:nvSpPr>
        <p:spPr>
          <a:xfrm>
            <a:off x="685800" y="5404104"/>
            <a:ext cx="384048" cy="384048"/>
          </a:xfrm>
          <a:prstGeom prst="ellipse">
            <a:avLst/>
          </a:prstGeom>
          <a:solidFill>
            <a:srgbClr val="6D597A"/>
          </a:solidFill>
          <a:ln w="12700">
            <a:solidFill>
              <a:srgbClr val="6D597A"/>
            </a:solidFill>
            <a:prstDash val="solid"/>
          </a:ln>
        </p:spPr>
      </p:sp>
      <p:sp>
        <p:nvSpPr>
          <p:cNvPr id="20" name="Text 18"/>
          <p:cNvSpPr txBox="1"/>
          <p:nvPr/>
        </p:nvSpPr>
        <p:spPr>
          <a:xfrm>
            <a:off x="685800" y="54041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9"/>
          <p:cNvSpPr txBox="1"/>
          <p:nvPr/>
        </p:nvSpPr>
        <p:spPr>
          <a:xfrm>
            <a:off x="1271016" y="5385816"/>
            <a:ext cx="10234879" cy="292608"/>
          </a:xfrm>
          <a:prstGeom prst="rect">
            <a:avLst/>
          </a:prstGeom>
          <a:noFill/>
          <a:ln/>
        </p:spPr>
        <p:txBody>
          <a:bodyPr wrap="square" lIns="0" tIns="0" rIns="0" bIns="0" rtlCol="0" anchor="ctr"/>
          <a:lstStyle/>
          <a:p>
            <a:pPr indent="0" marL="0">
              <a:buNone/>
            </a:pPr>
            <a:r>
              <a:rPr lang="en-US" sz="1600" b="1" dirty="0">
                <a:solidFill>
                  <a:srgbClr val="355070"/>
                </a:solidFill>
                <a:latin typeface="Calibri" pitchFamily="34" charset="0"/>
                <a:ea typeface="Calibri" pitchFamily="34" charset="-122"/>
                <a:cs typeface="Calibri" pitchFamily="34" charset="-120"/>
              </a:rPr>
              <a:t>One button for the electronic form</a:t>
            </a:r>
            <a:endParaRPr lang="en-US" sz="1600" dirty="0"/>
          </a:p>
        </p:txBody>
      </p:sp>
      <p:sp>
        <p:nvSpPr>
          <p:cNvPr id="22" name="Text 20"/>
          <p:cNvSpPr txBox="1"/>
          <p:nvPr/>
        </p:nvSpPr>
        <p:spPr>
          <a:xfrm>
            <a:off x="1271016" y="5687568"/>
            <a:ext cx="10234879" cy="566928"/>
          </a:xfrm>
          <a:prstGeom prst="rect">
            <a:avLst/>
          </a:prstGeom>
          <a:noFill/>
          <a:ln/>
        </p:spPr>
        <p:txBody>
          <a:bodyPr wrap="square" lIns="0" tIns="0" rIns="0" bIns="0" rtlCol="0" anchor="t"/>
          <a:lstStyle/>
          <a:p>
            <a:pPr indent="0" marL="0">
              <a:buNone/>
            </a:pPr>
            <a:r>
              <a:rPr lang="en-US" sz="1350" dirty="0">
                <a:solidFill>
                  <a:srgbClr val="57534E"/>
                </a:solidFill>
                <a:latin typeface="Calibri" pitchFamily="34" charset="0"/>
                <a:ea typeface="Calibri" pitchFamily="34" charset="-122"/>
                <a:cs typeface="Calibri" pitchFamily="34" charset="-120"/>
              </a:rPr>
              <a:t>Fills it from all three shared lists at once.</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9082735" cy="228600"/>
          </a:xfrm>
          <a:prstGeom prst="rect">
            <a:avLst/>
          </a:prstGeom>
          <a:noFill/>
          <a:ln/>
        </p:spPr>
        <p:txBody>
          <a:bodyPr wrap="square" lIns="0" tIns="0" rIns="0" bIns="0" rtlCol="0" anchor="ctr"/>
          <a:lstStyle/>
          <a:p>
            <a:pPr indent="0" marL="0">
              <a:buNone/>
            </a:pPr>
            <a:r>
              <a:rPr lang="en-US" sz="1100" b="1" spc="160" kern="0" dirty="0">
                <a:solidFill>
                  <a:srgbClr val="6D597A"/>
                </a:solidFill>
                <a:latin typeface="Calibri" pitchFamily="34" charset="0"/>
                <a:ea typeface="Calibri" pitchFamily="34" charset="-122"/>
                <a:cs typeface="Calibri" pitchFamily="34" charset="-120"/>
              </a:rPr>
              <a:t>SECURITY, IN PLAIN TERMS</a:t>
            </a:r>
            <a:endParaRPr lang="en-US" sz="1100" dirty="0"/>
          </a:p>
        </p:txBody>
      </p:sp>
      <p:sp>
        <p:nvSpPr>
          <p:cNvPr id="3" name="Text 1"/>
          <p:cNvSpPr txBox="1"/>
          <p:nvPr/>
        </p:nvSpPr>
        <p:spPr>
          <a:xfrm>
            <a:off x="685800" y="713232"/>
            <a:ext cx="9082735" cy="777240"/>
          </a:xfrm>
          <a:prstGeom prst="rect">
            <a:avLst/>
          </a:prstGeom>
          <a:noFill/>
          <a:ln/>
        </p:spPr>
        <p:txBody>
          <a:bodyPr wrap="square" lIns="0" tIns="0" rIns="0" bIns="0" rtlCol="0" anchor="t"/>
          <a:lstStyle/>
          <a:p>
            <a:pPr indent="0" marL="0">
              <a:buNone/>
            </a:pPr>
            <a:r>
              <a:rPr lang="en-US" sz="3000" b="1" dirty="0">
                <a:solidFill>
                  <a:srgbClr val="355070"/>
                </a:solidFill>
                <a:latin typeface="Calibri" pitchFamily="34" charset="0"/>
                <a:ea typeface="Calibri" pitchFamily="34" charset="-122"/>
                <a:cs typeface="Calibri" pitchFamily="34" charset="-120"/>
              </a:rPr>
              <a:t>Keeping it safe</a:t>
            </a:r>
            <a:endParaRPr lang="en-US" sz="3000" dirty="0"/>
          </a:p>
        </p:txBody>
      </p:sp>
      <p:sp>
        <p:nvSpPr>
          <p:cNvPr id="4" name="Text 2"/>
          <p:cNvSpPr txBox="1"/>
          <p:nvPr/>
        </p:nvSpPr>
        <p:spPr>
          <a:xfrm>
            <a:off x="10042855" y="493776"/>
            <a:ext cx="1463040" cy="274320"/>
          </a:xfrm>
          <a:prstGeom prst="rect">
            <a:avLst/>
          </a:prstGeom>
          <a:noFill/>
          <a:ln/>
        </p:spPr>
        <p:txBody>
          <a:bodyPr wrap="square" lIns="0" tIns="0" rIns="0" bIns="0" rtlCol="0" anchor="ctr"/>
          <a:lstStyle/>
          <a:p>
            <a:pPr algn="r" indent="0" marL="0">
              <a:buNone/>
            </a:pPr>
            <a:r>
              <a:rPr lang="en-US" sz="1100" dirty="0">
                <a:solidFill>
                  <a:srgbClr val="7A8BA0"/>
                </a:solidFill>
                <a:latin typeface="Calibri" pitchFamily="34" charset="0"/>
                <a:ea typeface="Calibri" pitchFamily="34" charset="-122"/>
                <a:cs typeface="Calibri" pitchFamily="34" charset="-120"/>
              </a:rPr>
              <a:t>Yifan</a:t>
            </a:r>
            <a:endParaRPr lang="en-US" sz="1100" dirty="0"/>
          </a:p>
        </p:txBody>
      </p:sp>
      <p:sp>
        <p:nvSpPr>
          <p:cNvPr id="5" name="Shape 3"/>
          <p:cNvSpPr/>
          <p:nvPr/>
        </p:nvSpPr>
        <p:spPr>
          <a:xfrm>
            <a:off x="685800" y="1554480"/>
            <a:ext cx="10820095" cy="1188720"/>
          </a:xfrm>
          <a:prstGeom prst="roundRect">
            <a:avLst>
              <a:gd name="adj" fmla="val 6154"/>
            </a:avLst>
          </a:prstGeom>
          <a:solidFill>
            <a:srgbClr val="F4F8FA"/>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6" name="Text 4"/>
          <p:cNvSpPr txBox="1"/>
          <p:nvPr/>
        </p:nvSpPr>
        <p:spPr>
          <a:xfrm>
            <a:off x="1005840" y="1664208"/>
            <a:ext cx="2926080" cy="384048"/>
          </a:xfrm>
          <a:prstGeom prst="rect">
            <a:avLst/>
          </a:prstGeom>
          <a:noFill/>
          <a:ln/>
        </p:spPr>
        <p:txBody>
          <a:bodyPr wrap="square" lIns="0" tIns="0" rIns="0" bIns="0" rtlCol="0" anchor="ctr"/>
          <a:lstStyle/>
          <a:p>
            <a:pPr indent="0" marL="0">
              <a:buNone/>
            </a:pPr>
            <a:r>
              <a:rPr lang="en-US" sz="2000" b="1" dirty="0">
                <a:solidFill>
                  <a:srgbClr val="E56B6F"/>
                </a:solidFill>
                <a:latin typeface="Calibri" pitchFamily="34" charset="0"/>
                <a:ea typeface="Calibri" pitchFamily="34" charset="-122"/>
                <a:cs typeface="Calibri" pitchFamily="34" charset="-120"/>
              </a:rPr>
              <a:t>Two locks, not one.</a:t>
            </a:r>
            <a:endParaRPr lang="en-US" sz="2000" dirty="0"/>
          </a:p>
        </p:txBody>
      </p:sp>
      <p:sp>
        <p:nvSpPr>
          <p:cNvPr id="7" name="Text 5"/>
          <p:cNvSpPr txBox="1"/>
          <p:nvPr/>
        </p:nvSpPr>
        <p:spPr>
          <a:xfrm>
            <a:off x="1005840" y="2066544"/>
            <a:ext cx="10180015" cy="621792"/>
          </a:xfrm>
          <a:prstGeom prst="rect">
            <a:avLst/>
          </a:prstGeom>
          <a:noFill/>
          <a:ln/>
        </p:spPr>
        <p:txBody>
          <a:bodyPr wrap="square" lIns="0" tIns="0" rIns="0" bIns="0" rtlCol="0" anchor="t"/>
          <a:lstStyle/>
          <a:p>
            <a:pPr indent="0" marL="0">
              <a:buNone/>
            </a:pPr>
            <a:r>
              <a:rPr lang="en-US" sz="1450" dirty="0">
                <a:solidFill>
                  <a:srgbClr val="355070"/>
                </a:solidFill>
                <a:latin typeface="Calibri" pitchFamily="34" charset="0"/>
                <a:ea typeface="Calibri" pitchFamily="34" charset="-122"/>
                <a:cs typeface="Calibri" pitchFamily="34" charset="-120"/>
              </a:rPr>
              <a:t>The door checks who you are. Then every sensitive action asks the database again. Editing something in your own browser to pretend you are an administrator does not work.</a:t>
            </a:r>
            <a:endParaRPr lang="en-US" sz="1450" dirty="0"/>
          </a:p>
        </p:txBody>
      </p:sp>
      <p:sp>
        <p:nvSpPr>
          <p:cNvPr id="8" name="Shape 6"/>
          <p:cNvSpPr/>
          <p:nvPr/>
        </p:nvSpPr>
        <p:spPr>
          <a:xfrm>
            <a:off x="685800" y="2990088"/>
            <a:ext cx="310896" cy="310896"/>
          </a:xfrm>
          <a:prstGeom prst="ellipse">
            <a:avLst/>
          </a:prstGeom>
          <a:solidFill>
            <a:srgbClr val="355070"/>
          </a:solidFill>
          <a:ln w="12700">
            <a:solidFill>
              <a:srgbClr val="333333"/>
            </a:solidFill>
            <a:prstDash val="solid"/>
          </a:ln>
        </p:spPr>
      </p:sp>
      <p:sp>
        <p:nvSpPr>
          <p:cNvPr id="9" name="Text 7"/>
          <p:cNvSpPr txBox="1"/>
          <p:nvPr/>
        </p:nvSpPr>
        <p:spPr>
          <a:xfrm>
            <a:off x="685800" y="299008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161288" y="2971800"/>
            <a:ext cx="10344607" cy="548640"/>
          </a:xfrm>
          <a:prstGeom prst="rect">
            <a:avLst/>
          </a:prstGeom>
          <a:noFill/>
          <a:ln/>
        </p:spPr>
        <p:txBody>
          <a:bodyPr wrap="square" lIns="0" tIns="0" rIns="0" bIns="0" rtlCol="0" anchor="t"/>
          <a:lstStyle/>
          <a:p>
            <a:pPr indent="0" marL="0">
              <a:buNone/>
            </a:pPr>
            <a:r>
              <a:rPr lang="en-US" sz="1350" b="1" dirty="0">
                <a:solidFill>
                  <a:srgbClr val="355070"/>
                </a:solidFill>
                <a:latin typeface="Calibri" pitchFamily="34" charset="0"/>
                <a:ea typeface="Calibri" pitchFamily="34" charset="-122"/>
                <a:cs typeface="Calibri" pitchFamily="34" charset="-120"/>
              </a:rPr>
              <a:t>Tampered sessions are detected  </a:t>
            </a:r>
            <a:pPr indent="0" marL="0">
              <a:buNone/>
            </a:pPr>
            <a:r>
              <a:rPr lang="en-US" sz="1350" dirty="0">
                <a:solidFill>
                  <a:srgbClr val="57534E"/>
                </a:solidFill>
                <a:latin typeface="Calibri" pitchFamily="34" charset="0"/>
                <a:ea typeface="Calibri" pitchFamily="34" charset="-122"/>
                <a:cs typeface="Calibri" pitchFamily="34" charset="-120"/>
              </a:rPr>
              <a:t>You are signed out immediately.</a:t>
            </a:r>
            <a:endParaRPr lang="en-US" sz="1350" dirty="0"/>
          </a:p>
        </p:txBody>
      </p:sp>
      <p:sp>
        <p:nvSpPr>
          <p:cNvPr id="11" name="Shape 9"/>
          <p:cNvSpPr/>
          <p:nvPr/>
        </p:nvSpPr>
        <p:spPr>
          <a:xfrm>
            <a:off x="685800" y="3611880"/>
            <a:ext cx="310896" cy="310896"/>
          </a:xfrm>
          <a:prstGeom prst="ellipse">
            <a:avLst/>
          </a:prstGeom>
          <a:solidFill>
            <a:srgbClr val="E56B6F"/>
          </a:solidFill>
          <a:ln w="12700">
            <a:solidFill>
              <a:srgbClr val="333333"/>
            </a:solidFill>
            <a:prstDash val="solid"/>
          </a:ln>
        </p:spPr>
      </p:sp>
      <p:sp>
        <p:nvSpPr>
          <p:cNvPr id="12" name="Text 10"/>
          <p:cNvSpPr txBox="1"/>
          <p:nvPr/>
        </p:nvSpPr>
        <p:spPr>
          <a:xfrm>
            <a:off x="685800" y="361188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1161288" y="3593592"/>
            <a:ext cx="10344607" cy="548640"/>
          </a:xfrm>
          <a:prstGeom prst="rect">
            <a:avLst/>
          </a:prstGeom>
          <a:noFill/>
          <a:ln/>
        </p:spPr>
        <p:txBody>
          <a:bodyPr wrap="square" lIns="0" tIns="0" rIns="0" bIns="0" rtlCol="0" anchor="t"/>
          <a:lstStyle/>
          <a:p>
            <a:pPr indent="0" marL="0">
              <a:buNone/>
            </a:pPr>
            <a:r>
              <a:rPr lang="en-US" sz="1350" b="1" dirty="0">
                <a:solidFill>
                  <a:srgbClr val="355070"/>
                </a:solidFill>
                <a:latin typeface="Calibri" pitchFamily="34" charset="0"/>
                <a:ea typeface="Calibri" pitchFamily="34" charset="-122"/>
                <a:cs typeface="Calibri" pitchFamily="34" charset="-120"/>
              </a:rPr>
              <a:t>Passwords cannot be read back  </a:t>
            </a:r>
            <a:pPr indent="0" marL="0">
              <a:buNone/>
            </a:pPr>
            <a:r>
              <a:rPr lang="en-US" sz="1350" dirty="0">
                <a:solidFill>
                  <a:srgbClr val="57534E"/>
                </a:solidFill>
                <a:latin typeface="Calibri" pitchFamily="34" charset="0"/>
                <a:ea typeface="Calibri" pitchFamily="34" charset="-122"/>
                <a:cs typeface="Calibri" pitchFamily="34" charset="-120"/>
              </a:rPr>
              <a:t>Stored using the currently recommended method — in a form that cannot be turned back into your password. Not by us either.</a:t>
            </a:r>
            <a:endParaRPr lang="en-US" sz="1350" dirty="0"/>
          </a:p>
        </p:txBody>
      </p:sp>
      <p:sp>
        <p:nvSpPr>
          <p:cNvPr id="14" name="Shape 12"/>
          <p:cNvSpPr/>
          <p:nvPr/>
        </p:nvSpPr>
        <p:spPr>
          <a:xfrm>
            <a:off x="685800" y="4233672"/>
            <a:ext cx="310896" cy="310896"/>
          </a:xfrm>
          <a:prstGeom prst="ellipse">
            <a:avLst/>
          </a:prstGeom>
          <a:solidFill>
            <a:srgbClr val="B56576"/>
          </a:solidFill>
          <a:ln w="12700">
            <a:solidFill>
              <a:srgbClr val="333333"/>
            </a:solidFill>
            <a:prstDash val="solid"/>
          </a:ln>
        </p:spPr>
      </p:sp>
      <p:sp>
        <p:nvSpPr>
          <p:cNvPr id="15" name="Text 13"/>
          <p:cNvSpPr txBox="1"/>
          <p:nvPr/>
        </p:nvSpPr>
        <p:spPr>
          <a:xfrm>
            <a:off x="685800" y="423367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txBox="1"/>
          <p:nvPr/>
        </p:nvSpPr>
        <p:spPr>
          <a:xfrm>
            <a:off x="1161288" y="4215384"/>
            <a:ext cx="10344607" cy="548640"/>
          </a:xfrm>
          <a:prstGeom prst="rect">
            <a:avLst/>
          </a:prstGeom>
          <a:noFill/>
          <a:ln/>
        </p:spPr>
        <p:txBody>
          <a:bodyPr wrap="square" lIns="0" tIns="0" rIns="0" bIns="0" rtlCol="0" anchor="t"/>
          <a:lstStyle/>
          <a:p>
            <a:pPr indent="0" marL="0">
              <a:buNone/>
            </a:pPr>
            <a:r>
              <a:rPr lang="en-US" sz="1350" b="1" dirty="0">
                <a:solidFill>
                  <a:srgbClr val="355070"/>
                </a:solidFill>
                <a:latin typeface="Calibri" pitchFamily="34" charset="0"/>
                <a:ea typeface="Calibri" pitchFamily="34" charset="-122"/>
                <a:cs typeface="Calibri" pitchFamily="34" charset="-120"/>
              </a:rPr>
              <a:t>The scheduled task is locked too  </a:t>
            </a:r>
            <a:pPr indent="0" marL="0">
              <a:buNone/>
            </a:pPr>
            <a:r>
              <a:rPr lang="en-US" sz="1350" dirty="0">
                <a:solidFill>
                  <a:srgbClr val="57534E"/>
                </a:solidFill>
                <a:latin typeface="Calibri" pitchFamily="34" charset="0"/>
                <a:ea typeface="Calibri" pitchFamily="34" charset="-122"/>
                <a:cs typeface="Calibri" pitchFamily="34" charset="-120"/>
              </a:rPr>
              <a:t>The part of the site that opens and closes the survey will not answer a stranger.</a:t>
            </a:r>
            <a:endParaRPr lang="en-US" sz="1350" dirty="0"/>
          </a:p>
        </p:txBody>
      </p:sp>
      <p:sp>
        <p:nvSpPr>
          <p:cNvPr id="17" name="Shape 15"/>
          <p:cNvSpPr/>
          <p:nvPr/>
        </p:nvSpPr>
        <p:spPr>
          <a:xfrm>
            <a:off x="685800" y="4855464"/>
            <a:ext cx="310896" cy="310896"/>
          </a:xfrm>
          <a:prstGeom prst="ellipse">
            <a:avLst/>
          </a:prstGeom>
          <a:solidFill>
            <a:srgbClr val="6D597A"/>
          </a:solidFill>
          <a:ln w="12700">
            <a:solidFill>
              <a:srgbClr val="333333"/>
            </a:solidFill>
            <a:prstDash val="solid"/>
          </a:ln>
        </p:spPr>
      </p:sp>
      <p:sp>
        <p:nvSpPr>
          <p:cNvPr id="18" name="Text 16"/>
          <p:cNvSpPr txBox="1"/>
          <p:nvPr/>
        </p:nvSpPr>
        <p:spPr>
          <a:xfrm>
            <a:off x="685800" y="485546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p:cNvSpPr txBox="1"/>
          <p:nvPr/>
        </p:nvSpPr>
        <p:spPr>
          <a:xfrm>
            <a:off x="1161288" y="4837176"/>
            <a:ext cx="10344607" cy="548640"/>
          </a:xfrm>
          <a:prstGeom prst="rect">
            <a:avLst/>
          </a:prstGeom>
          <a:noFill/>
          <a:ln/>
        </p:spPr>
        <p:txBody>
          <a:bodyPr wrap="square" lIns="0" tIns="0" rIns="0" bIns="0" rtlCol="0" anchor="t"/>
          <a:lstStyle/>
          <a:p>
            <a:pPr indent="0" marL="0">
              <a:buNone/>
            </a:pPr>
            <a:r>
              <a:rPr lang="en-US" sz="1350" b="1" dirty="0">
                <a:solidFill>
                  <a:srgbClr val="355070"/>
                </a:solidFill>
                <a:latin typeface="Calibri" pitchFamily="34" charset="0"/>
                <a:ea typeface="Calibri" pitchFamily="34" charset="-122"/>
                <a:cs typeface="Calibri" pitchFamily="34" charset="-120"/>
              </a:rPr>
              <a:t>The database connection is encrypted  </a:t>
            </a:r>
            <a:pPr indent="0" marL="0">
              <a:buNone/>
            </a:pPr>
            <a:r>
              <a:rPr lang="en-US" sz="1350" dirty="0">
                <a:solidFill>
                  <a:srgbClr val="57534E"/>
                </a:solidFill>
                <a:latin typeface="Calibri" pitchFamily="34" charset="0"/>
                <a:ea typeface="Calibri" pitchFamily="34" charset="-122"/>
                <a:cs typeface="Calibri" pitchFamily="34" charset="-120"/>
              </a:rPr>
              <a:t>And verified at both ends.</a:t>
            </a:r>
            <a:endParaRPr lang="en-US" sz="1350" dirty="0"/>
          </a:p>
        </p:txBody>
      </p:sp>
      <p:sp>
        <p:nvSpPr>
          <p:cNvPr id="20" name="Shape 18"/>
          <p:cNvSpPr/>
          <p:nvPr/>
        </p:nvSpPr>
        <p:spPr>
          <a:xfrm>
            <a:off x="685800" y="5477256"/>
            <a:ext cx="310896" cy="310896"/>
          </a:xfrm>
          <a:prstGeom prst="ellipse">
            <a:avLst/>
          </a:prstGeom>
          <a:solidFill>
            <a:srgbClr val="355070"/>
          </a:solidFill>
          <a:ln w="12700">
            <a:solidFill>
              <a:srgbClr val="333333"/>
            </a:solidFill>
            <a:prstDash val="solid"/>
          </a:ln>
        </p:spPr>
      </p:sp>
      <p:sp>
        <p:nvSpPr>
          <p:cNvPr id="21" name="Text 19"/>
          <p:cNvSpPr txBox="1"/>
          <p:nvPr/>
        </p:nvSpPr>
        <p:spPr>
          <a:xfrm>
            <a:off x="685800" y="547725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2" name="Text 20"/>
          <p:cNvSpPr txBox="1"/>
          <p:nvPr/>
        </p:nvSpPr>
        <p:spPr>
          <a:xfrm>
            <a:off x="1161288" y="5458968"/>
            <a:ext cx="10344607" cy="548640"/>
          </a:xfrm>
          <a:prstGeom prst="rect">
            <a:avLst/>
          </a:prstGeom>
          <a:noFill/>
          <a:ln/>
        </p:spPr>
        <p:txBody>
          <a:bodyPr wrap="square" lIns="0" tIns="0" rIns="0" bIns="0" rtlCol="0" anchor="t"/>
          <a:lstStyle/>
          <a:p>
            <a:pPr indent="0" marL="0">
              <a:buNone/>
            </a:pPr>
            <a:r>
              <a:rPr lang="en-US" sz="1350" b="1" dirty="0">
                <a:solidFill>
                  <a:srgbClr val="355070"/>
                </a:solidFill>
                <a:latin typeface="Calibri" pitchFamily="34" charset="0"/>
                <a:ea typeface="Calibri" pitchFamily="34" charset="-122"/>
                <a:cs typeface="Calibri" pitchFamily="34" charset="-120"/>
              </a:rPr>
              <a:t>Every sensitive action is recorded  </a:t>
            </a:r>
            <a:pPr indent="0" marL="0">
              <a:buNone/>
            </a:pPr>
            <a:r>
              <a:rPr lang="en-US" sz="1350" dirty="0">
                <a:solidFill>
                  <a:srgbClr val="57534E"/>
                </a:solidFill>
                <a:latin typeface="Calibri" pitchFamily="34" charset="0"/>
                <a:ea typeface="Calibri" pitchFamily="34" charset="-122"/>
                <a:cs typeface="Calibri" pitchFamily="34" charset="-120"/>
              </a:rPr>
              <a:t>Including exports of contact details.</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9082735" cy="228600"/>
          </a:xfrm>
          <a:prstGeom prst="rect">
            <a:avLst/>
          </a:prstGeom>
          <a:noFill/>
          <a:ln/>
        </p:spPr>
        <p:txBody>
          <a:bodyPr wrap="square" lIns="0" tIns="0" rIns="0" bIns="0" rtlCol="0" anchor="ctr"/>
          <a:lstStyle/>
          <a:p>
            <a:pPr indent="0" marL="0">
              <a:buNone/>
            </a:pPr>
            <a:r>
              <a:rPr lang="en-US" sz="1100" b="1" spc="160" kern="0" dirty="0">
                <a:solidFill>
                  <a:srgbClr val="6D597A"/>
                </a:solidFill>
                <a:latin typeface="Calibri" pitchFamily="34" charset="0"/>
                <a:ea typeface="Calibri" pitchFamily="34" charset="-122"/>
                <a:cs typeface="Calibri" pitchFamily="34" charset="-120"/>
              </a:rPr>
              <a:t>BACKUP, RESTORE, AND THE WAY OUT</a:t>
            </a:r>
            <a:endParaRPr lang="en-US" sz="1100" dirty="0"/>
          </a:p>
        </p:txBody>
      </p:sp>
      <p:sp>
        <p:nvSpPr>
          <p:cNvPr id="3" name="Text 1"/>
          <p:cNvSpPr txBox="1"/>
          <p:nvPr/>
        </p:nvSpPr>
        <p:spPr>
          <a:xfrm>
            <a:off x="685800" y="713232"/>
            <a:ext cx="9082735" cy="777240"/>
          </a:xfrm>
          <a:prstGeom prst="rect">
            <a:avLst/>
          </a:prstGeom>
          <a:noFill/>
          <a:ln/>
        </p:spPr>
        <p:txBody>
          <a:bodyPr wrap="square" lIns="0" tIns="0" rIns="0" bIns="0" rtlCol="0" anchor="t"/>
          <a:lstStyle/>
          <a:p>
            <a:pPr indent="0" marL="0">
              <a:buNone/>
            </a:pPr>
            <a:r>
              <a:rPr lang="en-US" sz="3000" b="1" dirty="0">
                <a:solidFill>
                  <a:srgbClr val="355070"/>
                </a:solidFill>
                <a:latin typeface="Calibri" pitchFamily="34" charset="0"/>
                <a:ea typeface="Calibri" pitchFamily="34" charset="-122"/>
                <a:cs typeface="Calibri" pitchFamily="34" charset="-120"/>
              </a:rPr>
              <a:t>If something goes badly wrong</a:t>
            </a:r>
            <a:endParaRPr lang="en-US" sz="3000" dirty="0"/>
          </a:p>
        </p:txBody>
      </p:sp>
      <p:sp>
        <p:nvSpPr>
          <p:cNvPr id="4" name="Text 2"/>
          <p:cNvSpPr txBox="1"/>
          <p:nvPr/>
        </p:nvSpPr>
        <p:spPr>
          <a:xfrm>
            <a:off x="10042855" y="493776"/>
            <a:ext cx="1463040" cy="274320"/>
          </a:xfrm>
          <a:prstGeom prst="rect">
            <a:avLst/>
          </a:prstGeom>
          <a:noFill/>
          <a:ln/>
        </p:spPr>
        <p:txBody>
          <a:bodyPr wrap="square" lIns="0" tIns="0" rIns="0" bIns="0" rtlCol="0" anchor="ctr"/>
          <a:lstStyle/>
          <a:p>
            <a:pPr algn="r" indent="0" marL="0">
              <a:buNone/>
            </a:pPr>
            <a:r>
              <a:rPr lang="en-US" sz="1100" dirty="0">
                <a:solidFill>
                  <a:srgbClr val="7A8BA0"/>
                </a:solidFill>
                <a:latin typeface="Calibri" pitchFamily="34" charset="0"/>
                <a:ea typeface="Calibri" pitchFamily="34" charset="-122"/>
                <a:cs typeface="Calibri" pitchFamily="34" charset="-120"/>
              </a:rPr>
              <a:t>Yifan</a:t>
            </a:r>
            <a:endParaRPr lang="en-US" sz="1100" dirty="0"/>
          </a:p>
        </p:txBody>
      </p:sp>
      <p:sp>
        <p:nvSpPr>
          <p:cNvPr id="5" name="Shape 3"/>
          <p:cNvSpPr/>
          <p:nvPr/>
        </p:nvSpPr>
        <p:spPr>
          <a:xfrm>
            <a:off x="685800" y="1572768"/>
            <a:ext cx="5486400" cy="1965960"/>
          </a:xfrm>
          <a:prstGeom prst="roundRect">
            <a:avLst>
              <a:gd name="adj" fmla="val 3721"/>
            </a:avLst>
          </a:prstGeom>
          <a:solidFill>
            <a:srgbClr val="FFFFFF"/>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6" name="Text 4"/>
          <p:cNvSpPr txBox="1"/>
          <p:nvPr/>
        </p:nvSpPr>
        <p:spPr>
          <a:xfrm>
            <a:off x="960120" y="1737360"/>
            <a:ext cx="4937760" cy="310896"/>
          </a:xfrm>
          <a:prstGeom prst="rect">
            <a:avLst/>
          </a:prstGeom>
          <a:noFill/>
          <a:ln/>
        </p:spPr>
        <p:txBody>
          <a:bodyPr wrap="square" lIns="0" tIns="0" rIns="0" bIns="0" rtlCol="0" anchor="ctr"/>
          <a:lstStyle/>
          <a:p>
            <a:pPr indent="0" marL="0">
              <a:buNone/>
            </a:pPr>
            <a:r>
              <a:rPr lang="en-US" sz="1700" b="1" dirty="0">
                <a:solidFill>
                  <a:srgbClr val="E56B6F"/>
                </a:solidFill>
                <a:latin typeface="Calibri" pitchFamily="34" charset="0"/>
                <a:ea typeface="Calibri" pitchFamily="34" charset="-122"/>
                <a:cs typeface="Calibri" pitchFamily="34" charset="-120"/>
              </a:rPr>
              <a:t>Restore</a:t>
            </a:r>
            <a:endParaRPr lang="en-US" sz="1700" dirty="0"/>
          </a:p>
        </p:txBody>
      </p:sp>
      <p:sp>
        <p:nvSpPr>
          <p:cNvPr id="7" name="Text 5"/>
          <p:cNvSpPr txBox="1"/>
          <p:nvPr/>
        </p:nvSpPr>
        <p:spPr>
          <a:xfrm>
            <a:off x="960120" y="2139696"/>
            <a:ext cx="4937760" cy="1280160"/>
          </a:xfrm>
          <a:prstGeom prst="rect">
            <a:avLst/>
          </a:prstGeom>
          <a:noFill/>
          <a:ln/>
        </p:spPr>
        <p:txBody>
          <a:bodyPr wrap="square" lIns="0" tIns="0" rIns="0" bIns="0" rtlCol="0" anchor="t"/>
          <a:lstStyle/>
          <a:p>
            <a:pPr marL="203200" indent="-203200">
              <a:spcAft>
                <a:spcPts val="900"/>
              </a:spcAft>
              <a:buSzPct val="100000"/>
              <a:buChar char="•"/>
            </a:pPr>
            <a:r>
              <a:rPr lang="en-US" sz="1350" dirty="0">
                <a:solidFill>
                  <a:srgbClr val="355070"/>
                </a:solidFill>
                <a:latin typeface="Calibri" pitchFamily="34" charset="0"/>
                <a:ea typeface="Calibri" pitchFamily="34" charset="-122"/>
                <a:cs typeface="Calibri" pitchFamily="34" charset="-120"/>
              </a:rPr>
              <a:t>The whole database can be copied back to how it looked at a chosen moment, without touching the live site</a:t>
            </a:r>
            <a:endParaRPr lang="en-US" sz="1350" dirty="0"/>
          </a:p>
          <a:p>
            <a:pPr marL="203200" indent="-203200">
              <a:spcAft>
                <a:spcPts val="900"/>
              </a:spcAft>
              <a:buSzPct val="100000"/>
              <a:buChar char="•"/>
            </a:pPr>
            <a:r>
              <a:rPr lang="en-US" sz="1350" dirty="0">
                <a:solidFill>
                  <a:srgbClr val="355070"/>
                </a:solidFill>
                <a:latin typeface="Calibri" pitchFamily="34" charset="0"/>
                <a:ea typeface="Calibri" pitchFamily="34" charset="-122"/>
                <a:cs typeface="Calibri" pitchFamily="34" charset="-120"/>
              </a:rPr>
              <a:t>Full copies are kept away from the database provider</a:t>
            </a:r>
            <a:endParaRPr lang="en-US" sz="1350" dirty="0"/>
          </a:p>
        </p:txBody>
      </p:sp>
      <p:sp>
        <p:nvSpPr>
          <p:cNvPr id="8" name="Shape 6"/>
          <p:cNvSpPr/>
          <p:nvPr/>
        </p:nvSpPr>
        <p:spPr>
          <a:xfrm>
            <a:off x="6537960" y="1572768"/>
            <a:ext cx="4967935" cy="1965960"/>
          </a:xfrm>
          <a:prstGeom prst="roundRect">
            <a:avLst>
              <a:gd name="adj" fmla="val 3721"/>
            </a:avLst>
          </a:prstGeom>
          <a:solidFill>
            <a:srgbClr val="F4F8FA"/>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9" name="Text 7"/>
          <p:cNvSpPr txBox="1"/>
          <p:nvPr/>
        </p:nvSpPr>
        <p:spPr>
          <a:xfrm>
            <a:off x="6812280" y="1737360"/>
            <a:ext cx="4419295" cy="310896"/>
          </a:xfrm>
          <a:prstGeom prst="rect">
            <a:avLst/>
          </a:prstGeom>
          <a:noFill/>
          <a:ln/>
        </p:spPr>
        <p:txBody>
          <a:bodyPr wrap="square" lIns="0" tIns="0" rIns="0" bIns="0" rtlCol="0" anchor="ctr"/>
          <a:lstStyle/>
          <a:p>
            <a:pPr indent="0" marL="0">
              <a:buNone/>
            </a:pPr>
            <a:r>
              <a:rPr lang="en-US" sz="1700" b="1" dirty="0">
                <a:solidFill>
                  <a:srgbClr val="6D597A"/>
                </a:solidFill>
                <a:latin typeface="Calibri" pitchFamily="34" charset="0"/>
                <a:ea typeface="Calibri" pitchFamily="34" charset="-122"/>
                <a:cs typeface="Calibri" pitchFamily="34" charset="-120"/>
              </a:rPr>
              <a:t>The way out — four documented routes</a:t>
            </a:r>
            <a:endParaRPr lang="en-US" sz="1700" dirty="0"/>
          </a:p>
        </p:txBody>
      </p:sp>
      <p:sp>
        <p:nvSpPr>
          <p:cNvPr id="10" name="Text 8"/>
          <p:cNvSpPr txBox="1"/>
          <p:nvPr/>
        </p:nvSpPr>
        <p:spPr>
          <a:xfrm>
            <a:off x="6812280" y="2139696"/>
            <a:ext cx="4419295" cy="1280160"/>
          </a:xfrm>
          <a:prstGeom prst="rect">
            <a:avLst/>
          </a:prstGeom>
          <a:noFill/>
          <a:ln/>
        </p:spPr>
        <p:txBody>
          <a:bodyPr wrap="square" lIns="0" tIns="0" rIns="0" bIns="0" rtlCol="0" anchor="t"/>
          <a:lstStyle/>
          <a:p>
            <a:pPr marL="203200" indent="-203200">
              <a:spcAft>
                <a:spcPts val="900"/>
              </a:spcAft>
              <a:buSzPct val="100000"/>
              <a:buChar char="•"/>
            </a:pPr>
            <a:r>
              <a:rPr lang="en-US" sz="1300" dirty="0">
                <a:solidFill>
                  <a:srgbClr val="355070"/>
                </a:solidFill>
                <a:latin typeface="Calibri" pitchFamily="34" charset="0"/>
                <a:ea typeface="Calibri" pitchFamily="34" charset="-122"/>
                <a:cs typeface="Calibri" pitchFamily="34" charset="-120"/>
              </a:rPr>
              <a:t>Move the database to a different provider</a:t>
            </a:r>
            <a:endParaRPr lang="en-US" sz="1300" dirty="0"/>
          </a:p>
          <a:p>
            <a:pPr marL="203200" indent="-203200">
              <a:spcAft>
                <a:spcPts val="900"/>
              </a:spcAft>
              <a:buSzPct val="100000"/>
              <a:buChar char="•"/>
            </a:pPr>
            <a:r>
              <a:rPr lang="en-US" sz="1300" dirty="0">
                <a:solidFill>
                  <a:srgbClr val="355070"/>
                </a:solidFill>
                <a:latin typeface="Calibri" pitchFamily="34" charset="0"/>
                <a:ea typeface="Calibri" pitchFamily="34" charset="-122"/>
                <a:cs typeface="Calibri" pitchFamily="34" charset="-120"/>
              </a:rPr>
              <a:t>Move the website to a different host</a:t>
            </a:r>
            <a:endParaRPr lang="en-US" sz="1300" dirty="0"/>
          </a:p>
          <a:p>
            <a:pPr marL="203200" indent="-203200">
              <a:spcAft>
                <a:spcPts val="900"/>
              </a:spcAft>
              <a:buSzPct val="100000"/>
              <a:buChar char="•"/>
            </a:pPr>
            <a:r>
              <a:rPr lang="en-US" sz="1300" dirty="0">
                <a:solidFill>
                  <a:srgbClr val="355070"/>
                </a:solidFill>
                <a:latin typeface="Calibri" pitchFamily="34" charset="0"/>
                <a:ea typeface="Calibri" pitchFamily="34" charset="-122"/>
                <a:cs typeface="Calibri" pitchFamily="34" charset="-120"/>
              </a:rPr>
              <a:t>Move the email to a different provider</a:t>
            </a:r>
            <a:endParaRPr lang="en-US" sz="1300" dirty="0"/>
          </a:p>
          <a:p>
            <a:pPr marL="203200" indent="-203200">
              <a:spcAft>
                <a:spcPts val="900"/>
              </a:spcAft>
              <a:buSzPct val="100000"/>
              <a:buChar char="•"/>
            </a:pPr>
            <a:r>
              <a:rPr lang="en-US" sz="1300" dirty="0">
                <a:solidFill>
                  <a:srgbClr val="355070"/>
                </a:solidFill>
                <a:latin typeface="Calibri" pitchFamily="34" charset="0"/>
                <a:ea typeface="Calibri" pitchFamily="34" charset="-122"/>
                <a:cs typeface="Calibri" pitchFamily="34" charset="-120"/>
              </a:rPr>
              <a:t>Move all of it onto a university server</a:t>
            </a:r>
            <a:endParaRPr lang="en-US" sz="1300" dirty="0"/>
          </a:p>
        </p:txBody>
      </p:sp>
      <p:sp>
        <p:nvSpPr>
          <p:cNvPr id="11" name="Shape 9"/>
          <p:cNvSpPr/>
          <p:nvPr/>
        </p:nvSpPr>
        <p:spPr>
          <a:xfrm>
            <a:off x="685800" y="3794760"/>
            <a:ext cx="10820095" cy="868680"/>
          </a:xfrm>
          <a:prstGeom prst="roundRect">
            <a:avLst>
              <a:gd name="adj" fmla="val 8421"/>
            </a:avLst>
          </a:prstGeom>
          <a:solidFill>
            <a:srgbClr val="F4F8FA"/>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12" name="Text 10"/>
          <p:cNvSpPr txBox="1"/>
          <p:nvPr/>
        </p:nvSpPr>
        <p:spPr>
          <a:xfrm>
            <a:off x="960120" y="3849624"/>
            <a:ext cx="10271455" cy="758952"/>
          </a:xfrm>
          <a:prstGeom prst="rect">
            <a:avLst/>
          </a:prstGeom>
          <a:noFill/>
          <a:ln/>
        </p:spPr>
        <p:txBody>
          <a:bodyPr wrap="square" lIns="0" tIns="0" rIns="0" bIns="0" rtlCol="0" anchor="ctr"/>
          <a:lstStyle/>
          <a:p>
            <a:pPr indent="0" marL="0">
              <a:buNone/>
            </a:pPr>
            <a:r>
              <a:rPr lang="en-US" sz="1600" b="1" dirty="0">
                <a:solidFill>
                  <a:srgbClr val="6D597A"/>
                </a:solidFill>
                <a:latin typeface="Calibri" pitchFamily="34" charset="0"/>
                <a:ea typeface="Calibri" pitchFamily="34" charset="-122"/>
                <a:cs typeface="Calibri" pitchFamily="34" charset="-120"/>
              </a:rPr>
              <a:t>A backup stored with the thing you are backing up is not a backup.</a:t>
            </a:r>
            <a:endParaRPr lang="en-US" sz="1600" dirty="0"/>
          </a:p>
        </p:txBody>
      </p:sp>
      <p:sp>
        <p:nvSpPr>
          <p:cNvPr id="13" name="Shape 11"/>
          <p:cNvSpPr/>
          <p:nvPr/>
        </p:nvSpPr>
        <p:spPr>
          <a:xfrm>
            <a:off x="685800" y="4846320"/>
            <a:ext cx="10820095" cy="1234440"/>
          </a:xfrm>
          <a:prstGeom prst="roundRect">
            <a:avLst>
              <a:gd name="adj" fmla="val 5926"/>
            </a:avLst>
          </a:prstGeom>
          <a:solidFill>
            <a:srgbClr val="FFFFFF"/>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14" name="Text 12"/>
          <p:cNvSpPr txBox="1"/>
          <p:nvPr/>
        </p:nvSpPr>
        <p:spPr>
          <a:xfrm>
            <a:off x="1005840" y="4956048"/>
            <a:ext cx="10180015" cy="548640"/>
          </a:xfrm>
          <a:prstGeom prst="rect">
            <a:avLst/>
          </a:prstGeom>
          <a:noFill/>
          <a:ln/>
        </p:spPr>
        <p:txBody>
          <a:bodyPr wrap="square" lIns="0" tIns="0" rIns="0" bIns="0" rtlCol="0" anchor="t"/>
          <a:lstStyle/>
          <a:p>
            <a:pPr indent="0" marL="0">
              <a:buNone/>
            </a:pPr>
            <a:r>
              <a:rPr lang="en-US" sz="1700" b="1" dirty="0">
                <a:solidFill>
                  <a:srgbClr val="355070"/>
                </a:solidFill>
                <a:latin typeface="Calibri" pitchFamily="34" charset="0"/>
                <a:ea typeface="Calibri" pitchFamily="34" charset="-122"/>
                <a:cs typeface="Calibri" pitchFamily="34" charset="-120"/>
              </a:rPr>
              <a:t>The Committee is not locked in to any company — and the instructions do not depend on us being reachable.</a:t>
            </a:r>
            <a:endParaRPr lang="en-US" sz="1700" dirty="0"/>
          </a:p>
        </p:txBody>
      </p:sp>
      <p:sp>
        <p:nvSpPr>
          <p:cNvPr id="15" name="Text 13"/>
          <p:cNvSpPr txBox="1"/>
          <p:nvPr/>
        </p:nvSpPr>
        <p:spPr>
          <a:xfrm>
            <a:off x="1005840" y="5504688"/>
            <a:ext cx="10180015" cy="457200"/>
          </a:xfrm>
          <a:prstGeom prst="rect">
            <a:avLst/>
          </a:prstGeom>
          <a:noFill/>
          <a:ln/>
        </p:spPr>
        <p:txBody>
          <a:bodyPr wrap="square" lIns="0" tIns="0" rIns="0" bIns="0" rtlCol="0" anchor="t"/>
          <a:lstStyle/>
          <a:p>
            <a:pPr indent="0" marL="0">
              <a:buNone/>
            </a:pPr>
            <a:r>
              <a:rPr lang="en-US" sz="1400" dirty="0">
                <a:solidFill>
                  <a:srgbClr val="57534E"/>
                </a:solidFill>
                <a:latin typeface="Calibri" pitchFamily="34" charset="0"/>
                <a:ea typeface="Calibri" pitchFamily="34" charset="-122"/>
                <a:cs typeface="Calibri" pitchFamily="34" charset="-120"/>
              </a:rPr>
              <a:t>If both of us disappeared tomorrow, someone competent could read that document and keep this service running.</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9082735" cy="228600"/>
          </a:xfrm>
          <a:prstGeom prst="rect">
            <a:avLst/>
          </a:prstGeom>
          <a:noFill/>
          <a:ln/>
        </p:spPr>
        <p:txBody>
          <a:bodyPr wrap="square" lIns="0" tIns="0" rIns="0" bIns="0" rtlCol="0" anchor="ctr"/>
          <a:lstStyle/>
          <a:p>
            <a:pPr indent="0" marL="0">
              <a:buNone/>
            </a:pPr>
            <a:r>
              <a:rPr lang="en-US" sz="1100" b="1" spc="160" kern="0" dirty="0">
                <a:solidFill>
                  <a:srgbClr val="6D597A"/>
                </a:solidFill>
                <a:latin typeface="Calibri" pitchFamily="34" charset="0"/>
                <a:ea typeface="Calibri" pitchFamily="34" charset="-122"/>
                <a:cs typeface="Calibri" pitchFamily="34" charset="-120"/>
              </a:rPr>
              <a:t>THE ANNUAL CYCLE</a:t>
            </a:r>
            <a:endParaRPr lang="en-US" sz="1100" dirty="0"/>
          </a:p>
        </p:txBody>
      </p:sp>
      <p:sp>
        <p:nvSpPr>
          <p:cNvPr id="3" name="Text 1"/>
          <p:cNvSpPr txBox="1"/>
          <p:nvPr/>
        </p:nvSpPr>
        <p:spPr>
          <a:xfrm>
            <a:off x="685800" y="713232"/>
            <a:ext cx="9082735" cy="777240"/>
          </a:xfrm>
          <a:prstGeom prst="rect">
            <a:avLst/>
          </a:prstGeom>
          <a:noFill/>
          <a:ln/>
        </p:spPr>
        <p:txBody>
          <a:bodyPr wrap="square" lIns="0" tIns="0" rIns="0" bIns="0" rtlCol="0" anchor="t"/>
          <a:lstStyle/>
          <a:p>
            <a:pPr indent="0" marL="0">
              <a:buNone/>
            </a:pPr>
            <a:r>
              <a:rPr lang="en-US" sz="3000" b="1" dirty="0">
                <a:solidFill>
                  <a:srgbClr val="355070"/>
                </a:solidFill>
                <a:latin typeface="Calibri" pitchFamily="34" charset="0"/>
                <a:ea typeface="Calibri" pitchFamily="34" charset="-122"/>
                <a:cs typeface="Calibri" pitchFamily="34" charset="-120"/>
              </a:rPr>
              <a:t>Your year, at a glance</a:t>
            </a:r>
            <a:endParaRPr lang="en-US" sz="3000" dirty="0"/>
          </a:p>
        </p:txBody>
      </p:sp>
      <p:sp>
        <p:nvSpPr>
          <p:cNvPr id="4" name="Text 2"/>
          <p:cNvSpPr txBox="1"/>
          <p:nvPr/>
        </p:nvSpPr>
        <p:spPr>
          <a:xfrm>
            <a:off x="10042855" y="493776"/>
            <a:ext cx="1463040" cy="274320"/>
          </a:xfrm>
          <a:prstGeom prst="rect">
            <a:avLst/>
          </a:prstGeom>
          <a:noFill/>
          <a:ln/>
        </p:spPr>
        <p:txBody>
          <a:bodyPr wrap="square" lIns="0" tIns="0" rIns="0" bIns="0" rtlCol="0" anchor="ctr"/>
          <a:lstStyle/>
          <a:p>
            <a:pPr algn="r" indent="0" marL="0">
              <a:buNone/>
            </a:pPr>
            <a:r>
              <a:rPr lang="en-US" sz="1100" dirty="0">
                <a:solidFill>
                  <a:srgbClr val="7A8BA0"/>
                </a:solidFill>
                <a:latin typeface="Calibri" pitchFamily="34" charset="0"/>
                <a:ea typeface="Calibri" pitchFamily="34" charset="-122"/>
                <a:cs typeface="Calibri" pitchFamily="34" charset="-120"/>
              </a:rPr>
              <a:t>Anlin</a:t>
            </a:r>
            <a:endParaRPr lang="en-US" sz="11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85800" y="1572768"/>
          <a:ext cx="10820095" cy="914400"/>
        </p:xfrm>
        <a:graphic>
          <a:graphicData uri="http://schemas.openxmlformats.org/drawingml/2006/table">
            <a:tbl>
              <a:tblPr/>
              <a:tblGrid>
                <a:gridCol w="3108960"/>
                <a:gridCol w="6428232"/>
              </a:tblGrid>
              <a:tr h="45720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When</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solidFill>
                      <a:srgbClr val="355070"/>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happens</a:t>
                      </a:r>
                      <a:endParaRPr lang="en-US" sz="125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solidFill>
                      <a:srgbClr val="355070"/>
                    </a:solidFill>
                  </a:tcPr>
                </a:tc>
              </a:tr>
              <a:tr h="457200">
                <a:tc>
                  <a:txBody>
                    <a:bodyPr/>
                    <a:lstStyle/>
                    <a:p>
                      <a:pPr indent="0" marL="0">
                        <a:buNone/>
                      </a:pPr>
                      <a:r>
                        <a:rPr lang="en-US" sz="1400" b="1" dirty="0">
                          <a:solidFill>
                            <a:srgbClr val="355070"/>
                          </a:solidFill>
                          <a:latin typeface="Calibri" pitchFamily="34" charset="0"/>
                          <a:ea typeface="Calibri" pitchFamily="34" charset="-122"/>
                          <a:cs typeface="Calibri" pitchFamily="34" charset="-120"/>
                        </a:rPr>
                        <a:t>July 1 – June 30</a:t>
                      </a:r>
                      <a:endParaRPr lang="en-US" sz="14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indent="0" marL="0">
                        <a:buNone/>
                      </a:pPr>
                      <a:r>
                        <a:rPr lang="en-US" sz="1400" dirty="0">
                          <a:solidFill>
                            <a:srgbClr val="355070"/>
                          </a:solidFill>
                          <a:latin typeface="Calibri" pitchFamily="34" charset="0"/>
                          <a:ea typeface="Calibri" pitchFamily="34" charset="-122"/>
                          <a:cs typeface="Calibri" pitchFamily="34" charset="-120"/>
                        </a:rPr>
                        <a:t>The fiscal year your numbers describe</a:t>
                      </a:r>
                      <a:endParaRPr lang="en-US" sz="14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r>
              <a:tr h="457200">
                <a:tc>
                  <a:txBody>
                    <a:bodyPr/>
                    <a:lstStyle/>
                    <a:p>
                      <a:pPr indent="0" marL="0">
                        <a:buNone/>
                      </a:pPr>
                      <a:r>
                        <a:rPr lang="en-US" sz="1400" b="1" dirty="0">
                          <a:solidFill>
                            <a:srgbClr val="355070"/>
                          </a:solidFill>
                          <a:latin typeface="Calibri" pitchFamily="34" charset="0"/>
                          <a:ea typeface="Calibri" pitchFamily="34" charset="-122"/>
                          <a:cs typeface="Calibri" pitchFamily="34" charset="-120"/>
                        </a:rPr>
                        <a:t>around September</a:t>
                      </a:r>
                      <a:endParaRPr lang="en-US" sz="14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indent="0" marL="0">
                        <a:buNone/>
                      </a:pPr>
                      <a:r>
                        <a:rPr lang="en-US" sz="1400" dirty="0">
                          <a:solidFill>
                            <a:srgbClr val="355070"/>
                          </a:solidFill>
                          <a:latin typeface="Calibri" pitchFamily="34" charset="0"/>
                          <a:ea typeface="Calibri" pitchFamily="34" charset="-122"/>
                          <a:cs typeface="Calibri" pitchFamily="34" charset="-120"/>
                        </a:rPr>
                        <a:t>The Committee confirms dates and checks the contact person for every library</a:t>
                      </a:r>
                      <a:endParaRPr lang="en-US" sz="14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r>
              <a:tr h="457200">
                <a:tc>
                  <a:txBody>
                    <a:bodyPr/>
                    <a:lstStyle/>
                    <a:p>
                      <a:pPr indent="0" marL="0">
                        <a:buNone/>
                      </a:pPr>
                      <a:r>
                        <a:rPr lang="en-US" sz="1400" b="1" dirty="0">
                          <a:solidFill>
                            <a:srgbClr val="E56B6F"/>
                          </a:solidFill>
                          <a:latin typeface="Calibri" pitchFamily="34" charset="0"/>
                          <a:ea typeface="Calibri" pitchFamily="34" charset="-122"/>
                          <a:cs typeface="Calibri" pitchFamily="34" charset="-120"/>
                        </a:rPr>
                        <a:t>October 1</a:t>
                      </a:r>
                      <a:endParaRPr lang="en-US" sz="14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solidFill>
                      <a:srgbClr val="F4F8FA"/>
                    </a:solidFill>
                  </a:tcPr>
                </a:tc>
                <a:tc>
                  <a:txBody>
                    <a:bodyPr/>
                    <a:lstStyle/>
                    <a:p>
                      <a:pPr indent="0" marL="0">
                        <a:buNone/>
                      </a:pPr>
                      <a:r>
                        <a:rPr lang="en-US" sz="1400" b="1" dirty="0">
                          <a:solidFill>
                            <a:srgbClr val="355070"/>
                          </a:solidFill>
                          <a:latin typeface="Calibri" pitchFamily="34" charset="0"/>
                          <a:ea typeface="Calibri" pitchFamily="34" charset="-122"/>
                          <a:cs typeface="Calibri" pitchFamily="34" charset="-120"/>
                        </a:rPr>
                        <a:t>Forms open. You get an email the same day.</a:t>
                      </a:r>
                      <a:endParaRPr lang="en-US" sz="14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solidFill>
                      <a:srgbClr val="F4F8FA"/>
                    </a:solidFill>
                  </a:tcPr>
                </a:tc>
              </a:tr>
              <a:tr h="457200">
                <a:tc>
                  <a:txBody>
                    <a:bodyPr/>
                    <a:lstStyle/>
                    <a:p>
                      <a:pPr indent="0" marL="0">
                        <a:buNone/>
                      </a:pPr>
                      <a:r>
                        <a:rPr lang="en-US" sz="1400" b="1" dirty="0">
                          <a:solidFill>
                            <a:srgbClr val="355070"/>
                          </a:solidFill>
                          <a:latin typeface="Calibri" pitchFamily="34" charset="0"/>
                          <a:ea typeface="Calibri" pitchFamily="34" charset="-122"/>
                          <a:cs typeface="Calibri" pitchFamily="34" charset="-120"/>
                        </a:rPr>
                        <a:t>late November</a:t>
                      </a:r>
                      <a:endParaRPr lang="en-US" sz="14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indent="0" marL="0">
                        <a:buNone/>
                      </a:pPr>
                      <a:r>
                        <a:rPr lang="en-US" sz="1400" dirty="0">
                          <a:solidFill>
                            <a:srgbClr val="355070"/>
                          </a:solidFill>
                          <a:latin typeface="Calibri" pitchFamily="34" charset="0"/>
                          <a:ea typeface="Calibri" pitchFamily="34" charset="-122"/>
                          <a:cs typeface="Calibri" pitchFamily="34" charset="-120"/>
                        </a:rPr>
                        <a:t>A reminder, one week before closing</a:t>
                      </a:r>
                      <a:endParaRPr lang="en-US" sz="14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r>
              <a:tr h="457200">
                <a:tc>
                  <a:txBody>
                    <a:bodyPr/>
                    <a:lstStyle/>
                    <a:p>
                      <a:pPr indent="0" marL="0">
                        <a:buNone/>
                      </a:pPr>
                      <a:r>
                        <a:rPr lang="en-US" sz="1400" b="1" dirty="0">
                          <a:solidFill>
                            <a:srgbClr val="E56B6F"/>
                          </a:solidFill>
                          <a:latin typeface="Calibri" pitchFamily="34" charset="0"/>
                          <a:ea typeface="Calibri" pitchFamily="34" charset="-122"/>
                          <a:cs typeface="Calibri" pitchFamily="34" charset="-120"/>
                        </a:rPr>
                        <a:t>December 2</a:t>
                      </a:r>
                      <a:endParaRPr lang="en-US" sz="14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solidFill>
                      <a:srgbClr val="F4F8FA"/>
                    </a:solidFill>
                  </a:tcPr>
                </a:tc>
                <a:tc>
                  <a:txBody>
                    <a:bodyPr/>
                    <a:lstStyle/>
                    <a:p>
                      <a:pPr indent="0" marL="0">
                        <a:buNone/>
                      </a:pPr>
                      <a:r>
                        <a:rPr lang="en-US" sz="1400" b="1" dirty="0">
                          <a:solidFill>
                            <a:srgbClr val="355070"/>
                          </a:solidFill>
                          <a:latin typeface="Calibri" pitchFamily="34" charset="0"/>
                          <a:ea typeface="Calibri" pitchFamily="34" charset="-122"/>
                          <a:cs typeface="Calibri" pitchFamily="34" charset="-120"/>
                        </a:rPr>
                        <a:t>Forms close.</a:t>
                      </a:r>
                      <a:endParaRPr lang="en-US" sz="14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solidFill>
                      <a:srgbClr val="F4F8FA"/>
                    </a:solidFill>
                  </a:tcPr>
                </a:tc>
              </a:tr>
              <a:tr h="457200">
                <a:tc>
                  <a:txBody>
                    <a:bodyPr/>
                    <a:lstStyle/>
                    <a:p>
                      <a:pPr indent="0" marL="0">
                        <a:buNone/>
                      </a:pPr>
                      <a:r>
                        <a:rPr lang="en-US" sz="1400" b="1" dirty="0">
                          <a:solidFill>
                            <a:srgbClr val="355070"/>
                          </a:solidFill>
                          <a:latin typeface="Calibri" pitchFamily="34" charset="0"/>
                          <a:ea typeface="Calibri" pitchFamily="34" charset="-122"/>
                          <a:cs typeface="Calibri" pitchFamily="34" charset="-120"/>
                        </a:rPr>
                        <a:t>December – January</a:t>
                      </a:r>
                      <a:endParaRPr lang="en-US" sz="14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indent="0" marL="0">
                        <a:buNone/>
                      </a:pPr>
                      <a:r>
                        <a:rPr lang="en-US" sz="1400" dirty="0">
                          <a:solidFill>
                            <a:srgbClr val="355070"/>
                          </a:solidFill>
                          <a:latin typeface="Calibri" pitchFamily="34" charset="0"/>
                          <a:ea typeface="Calibri" pitchFamily="34" charset="-122"/>
                          <a:cs typeface="Calibri" pitchFamily="34" charset="-120"/>
                        </a:rPr>
                        <a:t>The Committee reviews the data and prepares the report</a:t>
                      </a:r>
                      <a:endParaRPr lang="en-US" sz="14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r>
              <a:tr h="457200">
                <a:tc>
                  <a:txBody>
                    <a:bodyPr/>
                    <a:lstStyle/>
                    <a:p>
                      <a:pPr indent="0" marL="0">
                        <a:buNone/>
                      </a:pPr>
                      <a:r>
                        <a:rPr lang="en-US" sz="1400" b="1" dirty="0">
                          <a:solidFill>
                            <a:srgbClr val="355070"/>
                          </a:solidFill>
                          <a:latin typeface="Calibri" pitchFamily="34" charset="0"/>
                          <a:ea typeface="Calibri" pitchFamily="34" charset="-122"/>
                          <a:cs typeface="Calibri" pitchFamily="34" charset="-120"/>
                        </a:rPr>
                        <a:t>February – May</a:t>
                      </a:r>
                      <a:endParaRPr lang="en-US" sz="14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c>
                  <a:txBody>
                    <a:bodyPr/>
                    <a:lstStyle/>
                    <a:p>
                      <a:pPr indent="0" marL="0">
                        <a:buNone/>
                      </a:pPr>
                      <a:r>
                        <a:rPr lang="en-US" sz="1400" dirty="0">
                          <a:solidFill>
                            <a:srgbClr val="355070"/>
                          </a:solidFill>
                          <a:latin typeface="Calibri" pitchFamily="34" charset="0"/>
                          <a:ea typeface="Calibri" pitchFamily="34" charset="-122"/>
                          <a:cs typeface="Calibri" pitchFamily="34" charset="-120"/>
                        </a:rPr>
                        <a:t>The report appears in the Journal of East Asian Libraries</a:t>
                      </a:r>
                      <a:endParaRPr lang="en-US" sz="1400" dirty="0">
                        <a:latin typeface="Calibri" charset="0"/>
                        <a:ea typeface="Calibri" charset="0"/>
                        <a:cs typeface="Calibri" charset="0"/>
                      </a:endParaRPr>
                    </a:p>
                  </a:txBody>
                  <a:tcPr marL="91440" marR="91440" marT="45720" marB="45720" anchor="ctr">
                    <a:lnL w="9525" cap="flat" cmpd="sng" algn="ctr">
                      <a:solidFill>
                        <a:srgbClr val="EAAC8B"/>
                      </a:solidFill>
                      <a:prstDash val="solid"/>
                      <a:round/>
                      <a:headEnd type="none" w="med" len="med"/>
                      <a:tailEnd type="none" w="med" len="med"/>
                    </a:lnL>
                    <a:lnR w="9525" cap="flat" cmpd="sng" algn="ctr">
                      <a:solidFill>
                        <a:srgbClr val="EAAC8B"/>
                      </a:solidFill>
                      <a:prstDash val="solid"/>
                      <a:round/>
                      <a:headEnd type="none" w="med" len="med"/>
                      <a:tailEnd type="none" w="med" len="med"/>
                    </a:lnR>
                    <a:lnT w="9525" cap="flat" cmpd="sng" algn="ctr">
                      <a:solidFill>
                        <a:srgbClr val="EAAC8B"/>
                      </a:solidFill>
                      <a:prstDash val="solid"/>
                      <a:round/>
                      <a:headEnd type="none" w="med" len="med"/>
                      <a:tailEnd type="none" w="med" len="med"/>
                    </a:lnT>
                    <a:lnB w="9525" cap="flat" cmpd="sng" algn="ctr">
                      <a:solidFill>
                        <a:srgbClr val="EAAC8B"/>
                      </a:solidFill>
                      <a:prstDash val="solid"/>
                      <a:round/>
                      <a:headEnd type="none" w="med" len="med"/>
                      <a:tailEnd type="none" w="med" len="med"/>
                    </a:lnB>
                  </a:tcPr>
                </a:tc>
              </a:tr>
            </a:tbl>
          </a:graphicData>
        </a:graphic>
      </p:graphicFrame>
      <p:sp>
        <p:nvSpPr>
          <p:cNvPr id="6" name="Shape 3"/>
          <p:cNvSpPr/>
          <p:nvPr/>
        </p:nvSpPr>
        <p:spPr>
          <a:xfrm>
            <a:off x="685800" y="5440680"/>
            <a:ext cx="10820095" cy="868680"/>
          </a:xfrm>
          <a:prstGeom prst="roundRect">
            <a:avLst>
              <a:gd name="adj" fmla="val 8421"/>
            </a:avLst>
          </a:prstGeom>
          <a:solidFill>
            <a:srgbClr val="F4F8FA"/>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7" name="Text 4"/>
          <p:cNvSpPr txBox="1"/>
          <p:nvPr/>
        </p:nvSpPr>
        <p:spPr>
          <a:xfrm>
            <a:off x="960120" y="5495544"/>
            <a:ext cx="10271455" cy="758952"/>
          </a:xfrm>
          <a:prstGeom prst="rect">
            <a:avLst/>
          </a:prstGeom>
          <a:noFill/>
          <a:ln/>
        </p:spPr>
        <p:txBody>
          <a:bodyPr wrap="square" lIns="0" tIns="0" rIns="0" bIns="0" rtlCol="0" anchor="ctr"/>
          <a:lstStyle/>
          <a:p>
            <a:pPr indent="0" marL="0">
              <a:buNone/>
            </a:pPr>
            <a:r>
              <a:rPr lang="en-US" sz="1600" b="1" dirty="0">
                <a:solidFill>
                  <a:srgbClr val="E56B6F"/>
                </a:solidFill>
                <a:latin typeface="Calibri" pitchFamily="34" charset="0"/>
                <a:ea typeface="Calibri" pitchFamily="34" charset="-122"/>
                <a:cs typeface="Calibri" pitchFamily="34" charset="-120"/>
              </a:rPr>
              <a:t>The October and December dates can move. Watch for the email — do not rely on your calendar.</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9082735" cy="228600"/>
          </a:xfrm>
          <a:prstGeom prst="rect">
            <a:avLst/>
          </a:prstGeom>
          <a:noFill/>
          <a:ln/>
        </p:spPr>
        <p:txBody>
          <a:bodyPr wrap="square" lIns="0" tIns="0" rIns="0" bIns="0" rtlCol="0" anchor="ctr"/>
          <a:lstStyle/>
          <a:p>
            <a:pPr indent="0" marL="0">
              <a:buNone/>
            </a:pPr>
            <a:r>
              <a:rPr lang="en-US" sz="1100" b="1" spc="160" kern="0" dirty="0">
                <a:solidFill>
                  <a:srgbClr val="6D597A"/>
                </a:solidFill>
                <a:latin typeface="Calibri" pitchFamily="34" charset="0"/>
                <a:ea typeface="Calibri" pitchFamily="34" charset="-122"/>
                <a:cs typeface="Calibri" pitchFamily="34" charset="-120"/>
              </a:rPr>
              <a:t>LIVE WALKTHROUGH</a:t>
            </a:r>
            <a:endParaRPr lang="en-US" sz="1100" dirty="0"/>
          </a:p>
        </p:txBody>
      </p:sp>
      <p:sp>
        <p:nvSpPr>
          <p:cNvPr id="3" name="Text 1"/>
          <p:cNvSpPr txBox="1"/>
          <p:nvPr/>
        </p:nvSpPr>
        <p:spPr>
          <a:xfrm>
            <a:off x="685800" y="713232"/>
            <a:ext cx="9082735" cy="777240"/>
          </a:xfrm>
          <a:prstGeom prst="rect">
            <a:avLst/>
          </a:prstGeom>
          <a:noFill/>
          <a:ln/>
        </p:spPr>
        <p:txBody>
          <a:bodyPr wrap="square" lIns="0" tIns="0" rIns="0" bIns="0" rtlCol="0" anchor="t"/>
          <a:lstStyle/>
          <a:p>
            <a:pPr indent="0" marL="0">
              <a:buNone/>
            </a:pPr>
            <a:r>
              <a:rPr lang="en-US" sz="3000" b="1" dirty="0">
                <a:solidFill>
                  <a:srgbClr val="355070"/>
                </a:solidFill>
                <a:latin typeface="Calibri" pitchFamily="34" charset="0"/>
                <a:ea typeface="Calibri" pitchFamily="34" charset="-122"/>
                <a:cs typeface="Calibri" pitchFamily="34" charset="-120"/>
              </a:rPr>
              <a:t>Submitting your data</a:t>
            </a:r>
            <a:endParaRPr lang="en-US" sz="3000" dirty="0"/>
          </a:p>
        </p:txBody>
      </p:sp>
      <p:sp>
        <p:nvSpPr>
          <p:cNvPr id="4" name="Text 2"/>
          <p:cNvSpPr txBox="1"/>
          <p:nvPr/>
        </p:nvSpPr>
        <p:spPr>
          <a:xfrm>
            <a:off x="10042855" y="493776"/>
            <a:ext cx="1463040" cy="274320"/>
          </a:xfrm>
          <a:prstGeom prst="rect">
            <a:avLst/>
          </a:prstGeom>
          <a:noFill/>
          <a:ln/>
        </p:spPr>
        <p:txBody>
          <a:bodyPr wrap="square" lIns="0" tIns="0" rIns="0" bIns="0" rtlCol="0" anchor="ctr"/>
          <a:lstStyle/>
          <a:p>
            <a:pPr algn="r" indent="0" marL="0">
              <a:buNone/>
            </a:pPr>
            <a:r>
              <a:rPr lang="en-US" sz="1100" dirty="0">
                <a:solidFill>
                  <a:srgbClr val="7A8BA0"/>
                </a:solidFill>
                <a:latin typeface="Calibri" pitchFamily="34" charset="0"/>
                <a:ea typeface="Calibri" pitchFamily="34" charset="-122"/>
                <a:cs typeface="Calibri" pitchFamily="34" charset="-120"/>
              </a:rPr>
              <a:t>Anlin</a:t>
            </a:r>
            <a:endParaRPr lang="en-US" sz="1100" dirty="0"/>
          </a:p>
        </p:txBody>
      </p:sp>
      <p:sp>
        <p:nvSpPr>
          <p:cNvPr id="5" name="Shape 3"/>
          <p:cNvSpPr/>
          <p:nvPr/>
        </p:nvSpPr>
        <p:spPr>
          <a:xfrm>
            <a:off x="685800" y="1536192"/>
            <a:ext cx="2017715" cy="731520"/>
          </a:xfrm>
          <a:prstGeom prst="roundRect">
            <a:avLst>
              <a:gd name="adj" fmla="val 10000"/>
            </a:avLst>
          </a:prstGeom>
          <a:solidFill>
            <a:srgbClr val="FFFFFF"/>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6" name="Text 4"/>
          <p:cNvSpPr txBox="1"/>
          <p:nvPr/>
        </p:nvSpPr>
        <p:spPr>
          <a:xfrm>
            <a:off x="685800" y="1536192"/>
            <a:ext cx="2017715" cy="731520"/>
          </a:xfrm>
          <a:prstGeom prst="rect">
            <a:avLst/>
          </a:prstGeom>
          <a:noFill/>
          <a:ln/>
        </p:spPr>
        <p:txBody>
          <a:bodyPr wrap="square" lIns="0" tIns="0" rIns="0" bIns="0" rtlCol="0" anchor="ctr"/>
          <a:lstStyle/>
          <a:p>
            <a:pPr algn="ctr" indent="0" marL="0">
              <a:buNone/>
            </a:pPr>
            <a:r>
              <a:rPr lang="en-US" sz="1450" b="1" dirty="0">
                <a:solidFill>
                  <a:srgbClr val="355070"/>
                </a:solidFill>
                <a:latin typeface="Calibri" pitchFamily="34" charset="0"/>
                <a:ea typeface="Calibri" pitchFamily="34" charset="-122"/>
                <a:cs typeface="Calibri" pitchFamily="34" charset="-120"/>
              </a:rPr>
              <a:t>Sign in</a:t>
            </a:r>
            <a:endParaRPr lang="en-US" sz="1450" dirty="0"/>
          </a:p>
        </p:txBody>
      </p:sp>
      <p:sp>
        <p:nvSpPr>
          <p:cNvPr id="7" name="Shape 5"/>
          <p:cNvSpPr/>
          <p:nvPr/>
        </p:nvSpPr>
        <p:spPr>
          <a:xfrm>
            <a:off x="2886395" y="1536192"/>
            <a:ext cx="2017715" cy="731520"/>
          </a:xfrm>
          <a:prstGeom prst="roundRect">
            <a:avLst>
              <a:gd name="adj" fmla="val 10000"/>
            </a:avLst>
          </a:prstGeom>
          <a:solidFill>
            <a:srgbClr val="FFFFFF"/>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8" name="Text 6"/>
          <p:cNvSpPr txBox="1"/>
          <p:nvPr/>
        </p:nvSpPr>
        <p:spPr>
          <a:xfrm>
            <a:off x="2886395" y="1536192"/>
            <a:ext cx="2017715" cy="731520"/>
          </a:xfrm>
          <a:prstGeom prst="rect">
            <a:avLst/>
          </a:prstGeom>
          <a:noFill/>
          <a:ln/>
        </p:spPr>
        <p:txBody>
          <a:bodyPr wrap="square" lIns="0" tIns="0" rIns="0" bIns="0" rtlCol="0" anchor="ctr"/>
          <a:lstStyle/>
          <a:p>
            <a:pPr algn="ctr" indent="0" marL="0">
              <a:buNone/>
            </a:pPr>
            <a:r>
              <a:rPr lang="en-US" sz="1450" b="1" dirty="0">
                <a:solidFill>
                  <a:srgbClr val="355070"/>
                </a:solidFill>
                <a:latin typeface="Calibri" pitchFamily="34" charset="0"/>
                <a:ea typeface="Calibri" pitchFamily="34" charset="-122"/>
                <a:cs typeface="Calibri" pitchFamily="34" charset="-120"/>
              </a:rPr>
              <a:t>My Forms</a:t>
            </a:r>
            <a:endParaRPr lang="en-US" sz="1450" dirty="0"/>
          </a:p>
        </p:txBody>
      </p:sp>
      <p:sp>
        <p:nvSpPr>
          <p:cNvPr id="9" name="Shape 7"/>
          <p:cNvSpPr/>
          <p:nvPr/>
        </p:nvSpPr>
        <p:spPr>
          <a:xfrm>
            <a:off x="5086990" y="1536192"/>
            <a:ext cx="2017715" cy="731520"/>
          </a:xfrm>
          <a:prstGeom prst="roundRect">
            <a:avLst>
              <a:gd name="adj" fmla="val 10000"/>
            </a:avLst>
          </a:prstGeom>
          <a:solidFill>
            <a:srgbClr val="FFFFFF"/>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10" name="Text 8"/>
          <p:cNvSpPr txBox="1"/>
          <p:nvPr/>
        </p:nvSpPr>
        <p:spPr>
          <a:xfrm>
            <a:off x="5086990" y="1536192"/>
            <a:ext cx="2017715" cy="731520"/>
          </a:xfrm>
          <a:prstGeom prst="rect">
            <a:avLst/>
          </a:prstGeom>
          <a:noFill/>
          <a:ln/>
        </p:spPr>
        <p:txBody>
          <a:bodyPr wrap="square" lIns="0" tIns="0" rIns="0" bIns="0" rtlCol="0" anchor="ctr"/>
          <a:lstStyle/>
          <a:p>
            <a:pPr algn="ctr" indent="0" marL="0">
              <a:buNone/>
            </a:pPr>
            <a:r>
              <a:rPr lang="en-US" sz="1450" b="1" dirty="0">
                <a:solidFill>
                  <a:srgbClr val="355070"/>
                </a:solidFill>
                <a:latin typeface="Calibri" pitchFamily="34" charset="0"/>
                <a:ea typeface="Calibri" pitchFamily="34" charset="-122"/>
                <a:cs typeface="Calibri" pitchFamily="34" charset="-120"/>
              </a:rPr>
              <a:t>Choose a form</a:t>
            </a:r>
            <a:endParaRPr lang="en-US" sz="1450" dirty="0"/>
          </a:p>
        </p:txBody>
      </p:sp>
      <p:sp>
        <p:nvSpPr>
          <p:cNvPr id="11" name="Shape 9"/>
          <p:cNvSpPr/>
          <p:nvPr/>
        </p:nvSpPr>
        <p:spPr>
          <a:xfrm>
            <a:off x="7287585" y="1536192"/>
            <a:ext cx="2017715" cy="731520"/>
          </a:xfrm>
          <a:prstGeom prst="roundRect">
            <a:avLst>
              <a:gd name="adj" fmla="val 10000"/>
            </a:avLst>
          </a:prstGeom>
          <a:solidFill>
            <a:srgbClr val="F4F8FA"/>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12" name="Text 10"/>
          <p:cNvSpPr txBox="1"/>
          <p:nvPr/>
        </p:nvSpPr>
        <p:spPr>
          <a:xfrm>
            <a:off x="7287585" y="1536192"/>
            <a:ext cx="2017715" cy="731520"/>
          </a:xfrm>
          <a:prstGeom prst="rect">
            <a:avLst/>
          </a:prstGeom>
          <a:noFill/>
          <a:ln/>
        </p:spPr>
        <p:txBody>
          <a:bodyPr wrap="square" lIns="0" tIns="0" rIns="0" bIns="0" rtlCol="0" anchor="ctr"/>
          <a:lstStyle/>
          <a:p>
            <a:pPr algn="ctr" indent="0" marL="0">
              <a:buNone/>
            </a:pPr>
            <a:r>
              <a:rPr lang="en-US" sz="1450" b="1" dirty="0">
                <a:solidFill>
                  <a:srgbClr val="E56B6F"/>
                </a:solidFill>
                <a:latin typeface="Calibri" pitchFamily="34" charset="0"/>
                <a:ea typeface="Calibri" pitchFamily="34" charset="-122"/>
                <a:cs typeface="Calibri" pitchFamily="34" charset="-120"/>
              </a:rPr>
              <a:t>Save Draft</a:t>
            </a:r>
            <a:endParaRPr lang="en-US" sz="1450" dirty="0"/>
          </a:p>
        </p:txBody>
      </p:sp>
      <p:sp>
        <p:nvSpPr>
          <p:cNvPr id="13" name="Shape 11"/>
          <p:cNvSpPr/>
          <p:nvPr/>
        </p:nvSpPr>
        <p:spPr>
          <a:xfrm>
            <a:off x="9488180" y="1536192"/>
            <a:ext cx="2017715" cy="731520"/>
          </a:xfrm>
          <a:prstGeom prst="roundRect">
            <a:avLst>
              <a:gd name="adj" fmla="val 10000"/>
            </a:avLst>
          </a:prstGeom>
          <a:solidFill>
            <a:srgbClr val="F4F8FA"/>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14" name="Text 12"/>
          <p:cNvSpPr txBox="1"/>
          <p:nvPr/>
        </p:nvSpPr>
        <p:spPr>
          <a:xfrm>
            <a:off x="9488180" y="1536192"/>
            <a:ext cx="2017715" cy="731520"/>
          </a:xfrm>
          <a:prstGeom prst="rect">
            <a:avLst/>
          </a:prstGeom>
          <a:noFill/>
          <a:ln/>
        </p:spPr>
        <p:txBody>
          <a:bodyPr wrap="square" lIns="0" tIns="0" rIns="0" bIns="0" rtlCol="0" anchor="ctr"/>
          <a:lstStyle/>
          <a:p>
            <a:pPr algn="ctr" indent="0" marL="0">
              <a:buNone/>
            </a:pPr>
            <a:r>
              <a:rPr lang="en-US" sz="1450" b="1" dirty="0">
                <a:solidFill>
                  <a:srgbClr val="E56B6F"/>
                </a:solidFill>
                <a:latin typeface="Calibri" pitchFamily="34" charset="0"/>
                <a:ea typeface="Calibri" pitchFamily="34" charset="-122"/>
                <a:cs typeface="Calibri" pitchFamily="34" charset="-120"/>
              </a:rPr>
              <a:t>Submit</a:t>
            </a:r>
            <a:endParaRPr lang="en-US" sz="1450" dirty="0"/>
          </a:p>
        </p:txBody>
      </p:sp>
      <p:sp>
        <p:nvSpPr>
          <p:cNvPr id="15" name="Text 13"/>
          <p:cNvSpPr txBox="1"/>
          <p:nvPr/>
        </p:nvSpPr>
        <p:spPr>
          <a:xfrm>
            <a:off x="685800" y="2487168"/>
            <a:ext cx="10820095" cy="292608"/>
          </a:xfrm>
          <a:prstGeom prst="rect">
            <a:avLst/>
          </a:prstGeom>
          <a:noFill/>
          <a:ln/>
        </p:spPr>
        <p:txBody>
          <a:bodyPr wrap="square" lIns="0" tIns="0" rIns="0" bIns="0" rtlCol="0" anchor="ctr"/>
          <a:lstStyle/>
          <a:p>
            <a:pPr indent="0" marL="0">
              <a:buNone/>
            </a:pPr>
            <a:r>
              <a:rPr lang="en-US" sz="1500" dirty="0">
                <a:solidFill>
                  <a:srgbClr val="57534E"/>
                </a:solidFill>
                <a:latin typeface="Calibri" pitchFamily="34" charset="0"/>
                <a:ea typeface="Calibri" pitchFamily="34" charset="-122"/>
                <a:cs typeface="Calibri" pitchFamily="34" charset="-120"/>
              </a:rPr>
              <a:t>Three markers you will see against each form:</a:t>
            </a:r>
            <a:endParaRPr lang="en-US" sz="1500" dirty="0"/>
          </a:p>
        </p:txBody>
      </p:sp>
      <p:sp>
        <p:nvSpPr>
          <p:cNvPr id="16" name="Shape 14"/>
          <p:cNvSpPr/>
          <p:nvPr/>
        </p:nvSpPr>
        <p:spPr>
          <a:xfrm>
            <a:off x="685800" y="2926080"/>
            <a:ext cx="3484778" cy="1051560"/>
          </a:xfrm>
          <a:prstGeom prst="roundRect">
            <a:avLst>
              <a:gd name="adj" fmla="val 6957"/>
            </a:avLst>
          </a:prstGeom>
          <a:solidFill>
            <a:srgbClr val="FFFFFF"/>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17" name="Text 15"/>
          <p:cNvSpPr txBox="1"/>
          <p:nvPr/>
        </p:nvSpPr>
        <p:spPr>
          <a:xfrm>
            <a:off x="905256" y="3090672"/>
            <a:ext cx="3045866" cy="347472"/>
          </a:xfrm>
          <a:prstGeom prst="rect">
            <a:avLst/>
          </a:prstGeom>
          <a:noFill/>
          <a:ln/>
        </p:spPr>
        <p:txBody>
          <a:bodyPr wrap="square" lIns="0" tIns="0" rIns="0" bIns="0" rtlCol="0" anchor="ctr"/>
          <a:lstStyle/>
          <a:p>
            <a:pPr indent="0" marL="0">
              <a:buNone/>
            </a:pPr>
            <a:r>
              <a:rPr lang="en-US" sz="1700" b="1" dirty="0">
                <a:solidFill>
                  <a:srgbClr val="7A8BA0"/>
                </a:solidFill>
                <a:latin typeface="Calibri" pitchFamily="34" charset="0"/>
                <a:ea typeface="Calibri" pitchFamily="34" charset="-122"/>
                <a:cs typeface="Calibri" pitchFamily="34" charset="-120"/>
              </a:rPr>
              <a:t>Ready</a:t>
            </a:r>
            <a:endParaRPr lang="en-US" sz="1700" dirty="0"/>
          </a:p>
        </p:txBody>
      </p:sp>
      <p:sp>
        <p:nvSpPr>
          <p:cNvPr id="18" name="Text 16"/>
          <p:cNvSpPr txBox="1"/>
          <p:nvPr/>
        </p:nvSpPr>
        <p:spPr>
          <a:xfrm>
            <a:off x="905256" y="3456432"/>
            <a:ext cx="3045866" cy="384048"/>
          </a:xfrm>
          <a:prstGeom prst="rect">
            <a:avLst/>
          </a:prstGeom>
          <a:noFill/>
          <a:ln/>
        </p:spPr>
        <p:txBody>
          <a:bodyPr wrap="square" lIns="0" tIns="0" rIns="0" bIns="0" rtlCol="0" anchor="ctr"/>
          <a:lstStyle/>
          <a:p>
            <a:pPr indent="0" marL="0">
              <a:buNone/>
            </a:pPr>
            <a:r>
              <a:rPr lang="en-US" sz="1300" dirty="0">
                <a:solidFill>
                  <a:srgbClr val="57534E"/>
                </a:solidFill>
                <a:latin typeface="Calibri" pitchFamily="34" charset="0"/>
                <a:ea typeface="Calibri" pitchFamily="34" charset="-122"/>
                <a:cs typeface="Calibri" pitchFamily="34" charset="-120"/>
              </a:rPr>
              <a:t>Nothing entered yet</a:t>
            </a:r>
            <a:endParaRPr lang="en-US" sz="1300" dirty="0"/>
          </a:p>
        </p:txBody>
      </p:sp>
      <p:sp>
        <p:nvSpPr>
          <p:cNvPr id="19" name="Shape 17"/>
          <p:cNvSpPr/>
          <p:nvPr/>
        </p:nvSpPr>
        <p:spPr>
          <a:xfrm>
            <a:off x="4353458" y="2926080"/>
            <a:ext cx="3484778" cy="1051560"/>
          </a:xfrm>
          <a:prstGeom prst="roundRect">
            <a:avLst>
              <a:gd name="adj" fmla="val 6957"/>
            </a:avLst>
          </a:prstGeom>
          <a:solidFill>
            <a:srgbClr val="FFFFFF"/>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20" name="Text 18"/>
          <p:cNvSpPr txBox="1"/>
          <p:nvPr/>
        </p:nvSpPr>
        <p:spPr>
          <a:xfrm>
            <a:off x="4572914" y="3090672"/>
            <a:ext cx="3045866" cy="347472"/>
          </a:xfrm>
          <a:prstGeom prst="rect">
            <a:avLst/>
          </a:prstGeom>
          <a:noFill/>
          <a:ln/>
        </p:spPr>
        <p:txBody>
          <a:bodyPr wrap="square" lIns="0" tIns="0" rIns="0" bIns="0" rtlCol="0" anchor="ctr"/>
          <a:lstStyle/>
          <a:p>
            <a:pPr indent="0" marL="0">
              <a:buNone/>
            </a:pPr>
            <a:r>
              <a:rPr lang="en-US" sz="1700" b="1" dirty="0">
                <a:solidFill>
                  <a:srgbClr val="B56576"/>
                </a:solidFill>
                <a:latin typeface="Calibri" pitchFamily="34" charset="0"/>
                <a:ea typeface="Calibri" pitchFamily="34" charset="-122"/>
                <a:cs typeface="Calibri" pitchFamily="34" charset="-120"/>
              </a:rPr>
              <a:t>Filled</a:t>
            </a:r>
            <a:endParaRPr lang="en-US" sz="1700" dirty="0"/>
          </a:p>
        </p:txBody>
      </p:sp>
      <p:sp>
        <p:nvSpPr>
          <p:cNvPr id="21" name="Text 19"/>
          <p:cNvSpPr txBox="1"/>
          <p:nvPr/>
        </p:nvSpPr>
        <p:spPr>
          <a:xfrm>
            <a:off x="4572914" y="3456432"/>
            <a:ext cx="3045866" cy="384048"/>
          </a:xfrm>
          <a:prstGeom prst="rect">
            <a:avLst/>
          </a:prstGeom>
          <a:noFill/>
          <a:ln/>
        </p:spPr>
        <p:txBody>
          <a:bodyPr wrap="square" lIns="0" tIns="0" rIns="0" bIns="0" rtlCol="0" anchor="ctr"/>
          <a:lstStyle/>
          <a:p>
            <a:pPr indent="0" marL="0">
              <a:buNone/>
            </a:pPr>
            <a:r>
              <a:rPr lang="en-US" sz="1300" dirty="0">
                <a:solidFill>
                  <a:srgbClr val="57534E"/>
                </a:solidFill>
                <a:latin typeface="Calibri" pitchFamily="34" charset="0"/>
                <a:ea typeface="Calibri" pitchFamily="34" charset="-122"/>
                <a:cs typeface="Calibri" pitchFamily="34" charset="-120"/>
              </a:rPr>
              <a:t>You have saved something</a:t>
            </a:r>
            <a:endParaRPr lang="en-US" sz="1300" dirty="0"/>
          </a:p>
        </p:txBody>
      </p:sp>
      <p:sp>
        <p:nvSpPr>
          <p:cNvPr id="22" name="Shape 20"/>
          <p:cNvSpPr/>
          <p:nvPr/>
        </p:nvSpPr>
        <p:spPr>
          <a:xfrm>
            <a:off x="8021117" y="2926080"/>
            <a:ext cx="3484778" cy="1051560"/>
          </a:xfrm>
          <a:prstGeom prst="roundRect">
            <a:avLst>
              <a:gd name="adj" fmla="val 6957"/>
            </a:avLst>
          </a:prstGeom>
          <a:solidFill>
            <a:srgbClr val="F4F8FA"/>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23" name="Text 21"/>
          <p:cNvSpPr txBox="1"/>
          <p:nvPr/>
        </p:nvSpPr>
        <p:spPr>
          <a:xfrm>
            <a:off x="8240573" y="3090672"/>
            <a:ext cx="3045866" cy="347472"/>
          </a:xfrm>
          <a:prstGeom prst="rect">
            <a:avLst/>
          </a:prstGeom>
          <a:noFill/>
          <a:ln/>
        </p:spPr>
        <p:txBody>
          <a:bodyPr wrap="square" lIns="0" tIns="0" rIns="0" bIns="0" rtlCol="0" anchor="ctr"/>
          <a:lstStyle/>
          <a:p>
            <a:pPr indent="0" marL="0">
              <a:buNone/>
            </a:pPr>
            <a:r>
              <a:rPr lang="en-US" sz="1700" b="1" dirty="0">
                <a:solidFill>
                  <a:srgbClr val="E56B6F"/>
                </a:solidFill>
                <a:latin typeface="Calibri" pitchFamily="34" charset="0"/>
                <a:ea typeface="Calibri" pitchFamily="34" charset="-122"/>
                <a:cs typeface="Calibri" pitchFamily="34" charset="-120"/>
              </a:rPr>
              <a:t>Submitted</a:t>
            </a:r>
            <a:endParaRPr lang="en-US" sz="1700" dirty="0"/>
          </a:p>
        </p:txBody>
      </p:sp>
      <p:sp>
        <p:nvSpPr>
          <p:cNvPr id="24" name="Text 22"/>
          <p:cNvSpPr txBox="1"/>
          <p:nvPr/>
        </p:nvSpPr>
        <p:spPr>
          <a:xfrm>
            <a:off x="8240573" y="3456432"/>
            <a:ext cx="3045866" cy="384048"/>
          </a:xfrm>
          <a:prstGeom prst="rect">
            <a:avLst/>
          </a:prstGeom>
          <a:noFill/>
          <a:ln/>
        </p:spPr>
        <p:txBody>
          <a:bodyPr wrap="square" lIns="0" tIns="0" rIns="0" bIns="0" rtlCol="0" anchor="ctr"/>
          <a:lstStyle/>
          <a:p>
            <a:pPr indent="0" marL="0">
              <a:buNone/>
            </a:pPr>
            <a:r>
              <a:rPr lang="en-US" sz="1300" dirty="0">
                <a:solidFill>
                  <a:srgbClr val="57534E"/>
                </a:solidFill>
                <a:latin typeface="Calibri" pitchFamily="34" charset="0"/>
                <a:ea typeface="Calibri" pitchFamily="34" charset="-122"/>
                <a:cs typeface="Calibri" pitchFamily="34" charset="-120"/>
              </a:rPr>
              <a:t>The Committee counts it as complete</a:t>
            </a:r>
            <a:endParaRPr lang="en-US" sz="1300" dirty="0"/>
          </a:p>
        </p:txBody>
      </p:sp>
      <p:sp>
        <p:nvSpPr>
          <p:cNvPr id="25" name="Text 23"/>
          <p:cNvSpPr txBox="1"/>
          <p:nvPr/>
        </p:nvSpPr>
        <p:spPr>
          <a:xfrm>
            <a:off x="685800" y="4206240"/>
            <a:ext cx="10820095" cy="123444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rgbClr val="355070"/>
                </a:solidFill>
                <a:latin typeface="Calibri" pitchFamily="34" charset="0"/>
                <a:ea typeface="Calibri" pitchFamily="34" charset="-122"/>
                <a:cs typeface="Calibri" pitchFamily="34" charset="-120"/>
              </a:rPr>
              <a:t>Subtotals fill in by themselves as you type — you do not need to add anything up</a:t>
            </a:r>
            <a:endParaRPr lang="en-US" sz="1500" dirty="0"/>
          </a:p>
          <a:p>
            <a:pPr marL="203200" indent="-203200">
              <a:spcAft>
                <a:spcPts val="900"/>
              </a:spcAft>
              <a:buSzPct val="100000"/>
              <a:buChar char="•"/>
            </a:pPr>
            <a:r>
              <a:rPr lang="en-US" sz="1500" dirty="0">
                <a:solidFill>
                  <a:srgbClr val="355070"/>
                </a:solidFill>
                <a:latin typeface="Calibri" pitchFamily="34" charset="0"/>
                <a:ea typeface="Calibri" pitchFamily="34" charset="-122"/>
                <a:cs typeface="Calibri" pitchFamily="34" charset="-120"/>
              </a:rPr>
              <a:t>You can see your own library’s last five years right on the form, to compare against</a:t>
            </a:r>
            <a:endParaRPr lang="en-US" sz="1500" dirty="0"/>
          </a:p>
        </p:txBody>
      </p:sp>
      <p:sp>
        <p:nvSpPr>
          <p:cNvPr id="26" name="Shape 24"/>
          <p:cNvSpPr/>
          <p:nvPr/>
        </p:nvSpPr>
        <p:spPr>
          <a:xfrm>
            <a:off x="685800" y="5468112"/>
            <a:ext cx="10820095" cy="868680"/>
          </a:xfrm>
          <a:prstGeom prst="roundRect">
            <a:avLst>
              <a:gd name="adj" fmla="val 8421"/>
            </a:avLst>
          </a:prstGeom>
          <a:solidFill>
            <a:srgbClr val="F4F8FA"/>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27" name="Text 25"/>
          <p:cNvSpPr txBox="1"/>
          <p:nvPr/>
        </p:nvSpPr>
        <p:spPr>
          <a:xfrm>
            <a:off x="960120" y="5522976"/>
            <a:ext cx="10271455" cy="758952"/>
          </a:xfrm>
          <a:prstGeom prst="rect">
            <a:avLst/>
          </a:prstGeom>
          <a:noFill/>
          <a:ln/>
        </p:spPr>
        <p:txBody>
          <a:bodyPr wrap="square" lIns="0" tIns="0" rIns="0" bIns="0" rtlCol="0" anchor="ctr"/>
          <a:lstStyle/>
          <a:p>
            <a:pPr indent="0" marL="0">
              <a:buNone/>
            </a:pPr>
            <a:r>
              <a:rPr lang="en-US" sz="1600" b="1" dirty="0">
                <a:solidFill>
                  <a:srgbClr val="E56B6F"/>
                </a:solidFill>
                <a:latin typeface="Calibri" pitchFamily="34" charset="0"/>
                <a:ea typeface="Calibri" pitchFamily="34" charset="-122"/>
                <a:cs typeface="Calibri" pitchFamily="34" charset="-120"/>
              </a:rPr>
              <a:t>Save Draft as often as you like. Submit when the form is finished — a draft looks unfinished to us.</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9082735" cy="228600"/>
          </a:xfrm>
          <a:prstGeom prst="rect">
            <a:avLst/>
          </a:prstGeom>
          <a:noFill/>
          <a:ln/>
        </p:spPr>
        <p:txBody>
          <a:bodyPr wrap="square" lIns="0" tIns="0" rIns="0" bIns="0" rtlCol="0" anchor="ctr"/>
          <a:lstStyle/>
          <a:p>
            <a:pPr indent="0" marL="0">
              <a:buNone/>
            </a:pPr>
            <a:r>
              <a:rPr lang="en-US" sz="1100" b="1" spc="160" kern="0" dirty="0">
                <a:solidFill>
                  <a:srgbClr val="6D597A"/>
                </a:solidFill>
                <a:latin typeface="Calibri" pitchFamily="34" charset="0"/>
                <a:ea typeface="Calibri" pitchFamily="34" charset="-122"/>
                <a:cs typeface="Calibri" pitchFamily="34" charset="-120"/>
              </a:rPr>
              <a:t>THE PUBLIC STATISTICS — NO SIGN-IN NEEDED</a:t>
            </a:r>
            <a:endParaRPr lang="en-US" sz="1100" dirty="0"/>
          </a:p>
        </p:txBody>
      </p:sp>
      <p:sp>
        <p:nvSpPr>
          <p:cNvPr id="3" name="Text 1"/>
          <p:cNvSpPr txBox="1"/>
          <p:nvPr/>
        </p:nvSpPr>
        <p:spPr>
          <a:xfrm>
            <a:off x="685800" y="713232"/>
            <a:ext cx="9082735" cy="777240"/>
          </a:xfrm>
          <a:prstGeom prst="rect">
            <a:avLst/>
          </a:prstGeom>
          <a:noFill/>
          <a:ln/>
        </p:spPr>
        <p:txBody>
          <a:bodyPr wrap="square" lIns="0" tIns="0" rIns="0" bIns="0" rtlCol="0" anchor="t"/>
          <a:lstStyle/>
          <a:p>
            <a:pPr indent="0" marL="0">
              <a:buNone/>
            </a:pPr>
            <a:r>
              <a:rPr lang="en-US" sz="3000" b="1" dirty="0">
                <a:solidFill>
                  <a:srgbClr val="355070"/>
                </a:solidFill>
                <a:latin typeface="Calibri" pitchFamily="34" charset="0"/>
                <a:ea typeface="Calibri" pitchFamily="34" charset="-122"/>
                <a:cs typeface="Calibri" pitchFamily="34" charset="-120"/>
              </a:rPr>
              <a:t>Looking data up</a:t>
            </a:r>
            <a:endParaRPr lang="en-US" sz="3000" dirty="0"/>
          </a:p>
        </p:txBody>
      </p:sp>
      <p:sp>
        <p:nvSpPr>
          <p:cNvPr id="4" name="Text 2"/>
          <p:cNvSpPr txBox="1"/>
          <p:nvPr/>
        </p:nvSpPr>
        <p:spPr>
          <a:xfrm>
            <a:off x="10042855" y="493776"/>
            <a:ext cx="1463040" cy="274320"/>
          </a:xfrm>
          <a:prstGeom prst="rect">
            <a:avLst/>
          </a:prstGeom>
          <a:noFill/>
          <a:ln/>
        </p:spPr>
        <p:txBody>
          <a:bodyPr wrap="square" lIns="0" tIns="0" rIns="0" bIns="0" rtlCol="0" anchor="ctr"/>
          <a:lstStyle/>
          <a:p>
            <a:pPr algn="r" indent="0" marL="0">
              <a:buNone/>
            </a:pPr>
            <a:r>
              <a:rPr lang="en-US" sz="1100" dirty="0">
                <a:solidFill>
                  <a:srgbClr val="7A8BA0"/>
                </a:solidFill>
                <a:latin typeface="Calibri" pitchFamily="34" charset="0"/>
                <a:ea typeface="Calibri" pitchFamily="34" charset="-122"/>
                <a:cs typeface="Calibri" pitchFamily="34" charset="-120"/>
              </a:rPr>
              <a:t>Anlin</a:t>
            </a:r>
            <a:endParaRPr lang="en-US" sz="1100" dirty="0"/>
          </a:p>
        </p:txBody>
      </p:sp>
      <p:sp>
        <p:nvSpPr>
          <p:cNvPr id="5" name="Shape 3"/>
          <p:cNvSpPr/>
          <p:nvPr/>
        </p:nvSpPr>
        <p:spPr>
          <a:xfrm>
            <a:off x="685800" y="1801368"/>
            <a:ext cx="310896" cy="310896"/>
          </a:xfrm>
          <a:prstGeom prst="ellipse">
            <a:avLst/>
          </a:prstGeom>
          <a:solidFill>
            <a:srgbClr val="E56B6F"/>
          </a:solidFill>
          <a:ln w="12700">
            <a:solidFill>
              <a:srgbClr val="333333"/>
            </a:solidFill>
            <a:prstDash val="solid"/>
          </a:ln>
        </p:spPr>
      </p:sp>
      <p:sp>
        <p:nvSpPr>
          <p:cNvPr id="6" name="Text 4"/>
          <p:cNvSpPr txBox="1"/>
          <p:nvPr/>
        </p:nvSpPr>
        <p:spPr>
          <a:xfrm>
            <a:off x="685800" y="180136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161288" y="1783080"/>
            <a:ext cx="10344607" cy="548640"/>
          </a:xfrm>
          <a:prstGeom prst="rect">
            <a:avLst/>
          </a:prstGeom>
          <a:noFill/>
          <a:ln/>
        </p:spPr>
        <p:txBody>
          <a:bodyPr wrap="square" lIns="0" tIns="0" rIns="0" bIns="0" rtlCol="0" anchor="t"/>
          <a:lstStyle/>
          <a:p>
            <a:pPr indent="0" marL="0">
              <a:buNone/>
            </a:pPr>
            <a:r>
              <a:rPr lang="en-US" sz="1350" b="1" dirty="0">
                <a:solidFill>
                  <a:srgbClr val="355070"/>
                </a:solidFill>
                <a:latin typeface="Calibri" pitchFamily="34" charset="0"/>
                <a:ea typeface="Calibri" pitchFamily="34" charset="-122"/>
                <a:cs typeface="Calibri" pitchFamily="34" charset="-120"/>
              </a:rPr>
              <a:t>Quick View  </a:t>
            </a:r>
            <a:pPr indent="0" marL="0">
              <a:buNone/>
            </a:pPr>
            <a:r>
              <a:rPr lang="en-US" sz="1350" dirty="0">
                <a:solidFill>
                  <a:srgbClr val="57534E"/>
                </a:solidFill>
                <a:latin typeface="Calibri" pitchFamily="34" charset="0"/>
                <a:ea typeface="Calibri" pitchFamily="34" charset="-122"/>
                <a:cs typeface="Calibri" pitchFamily="34" charset="-120"/>
              </a:rPr>
              <a:t>One year, all libraries, side by side</a:t>
            </a:r>
            <a:endParaRPr lang="en-US" sz="1350" dirty="0"/>
          </a:p>
        </p:txBody>
      </p:sp>
      <p:sp>
        <p:nvSpPr>
          <p:cNvPr id="8" name="Shape 6"/>
          <p:cNvSpPr/>
          <p:nvPr/>
        </p:nvSpPr>
        <p:spPr>
          <a:xfrm>
            <a:off x="685800" y="2459736"/>
            <a:ext cx="310896" cy="310896"/>
          </a:xfrm>
          <a:prstGeom prst="ellipse">
            <a:avLst/>
          </a:prstGeom>
          <a:solidFill>
            <a:srgbClr val="355070"/>
          </a:solidFill>
          <a:ln w="12700">
            <a:solidFill>
              <a:srgbClr val="333333"/>
            </a:solidFill>
            <a:prstDash val="solid"/>
          </a:ln>
        </p:spPr>
      </p:sp>
      <p:sp>
        <p:nvSpPr>
          <p:cNvPr id="9" name="Text 7"/>
          <p:cNvSpPr txBox="1"/>
          <p:nvPr/>
        </p:nvSpPr>
        <p:spPr>
          <a:xfrm>
            <a:off x="685800" y="245973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txBox="1"/>
          <p:nvPr/>
        </p:nvSpPr>
        <p:spPr>
          <a:xfrm>
            <a:off x="1161288" y="2441448"/>
            <a:ext cx="10344607" cy="548640"/>
          </a:xfrm>
          <a:prstGeom prst="rect">
            <a:avLst/>
          </a:prstGeom>
          <a:noFill/>
          <a:ln/>
        </p:spPr>
        <p:txBody>
          <a:bodyPr wrap="square" lIns="0" tIns="0" rIns="0" bIns="0" rtlCol="0" anchor="t"/>
          <a:lstStyle/>
          <a:p>
            <a:pPr indent="0" marL="0">
              <a:buNone/>
            </a:pPr>
            <a:r>
              <a:rPr lang="en-US" sz="1350" b="1" dirty="0">
                <a:solidFill>
                  <a:srgbClr val="355070"/>
                </a:solidFill>
                <a:latin typeface="Calibri" pitchFamily="34" charset="0"/>
                <a:ea typeface="Calibri" pitchFamily="34" charset="-122"/>
                <a:cs typeface="Calibri" pitchFamily="34" charset="-120"/>
              </a:rPr>
              <a:t>Table View  </a:t>
            </a:r>
            <a:pPr indent="0" marL="0">
              <a:buNone/>
            </a:pPr>
            <a:r>
              <a:rPr lang="en-US" sz="1350" dirty="0">
                <a:solidFill>
                  <a:srgbClr val="57534E"/>
                </a:solidFill>
                <a:latin typeface="Calibri" pitchFamily="34" charset="0"/>
                <a:ea typeface="Calibri" pitchFamily="34" charset="-122"/>
                <a:cs typeface="Calibri" pitchFamily="34" charset="-120"/>
              </a:rPr>
              <a:t>Any of the ten tables, across several years and libraries</a:t>
            </a:r>
            <a:endParaRPr lang="en-US" sz="1350" dirty="0"/>
          </a:p>
        </p:txBody>
      </p:sp>
      <p:sp>
        <p:nvSpPr>
          <p:cNvPr id="11" name="Shape 9"/>
          <p:cNvSpPr/>
          <p:nvPr/>
        </p:nvSpPr>
        <p:spPr>
          <a:xfrm>
            <a:off x="685800" y="3118104"/>
            <a:ext cx="310896" cy="310896"/>
          </a:xfrm>
          <a:prstGeom prst="ellipse">
            <a:avLst/>
          </a:prstGeom>
          <a:solidFill>
            <a:srgbClr val="B56576"/>
          </a:solidFill>
          <a:ln w="12700">
            <a:solidFill>
              <a:srgbClr val="333333"/>
            </a:solidFill>
            <a:prstDash val="solid"/>
          </a:ln>
        </p:spPr>
      </p:sp>
      <p:sp>
        <p:nvSpPr>
          <p:cNvPr id="12" name="Text 10"/>
          <p:cNvSpPr txBox="1"/>
          <p:nvPr/>
        </p:nvSpPr>
        <p:spPr>
          <a:xfrm>
            <a:off x="685800" y="311810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3" name="Text 11"/>
          <p:cNvSpPr txBox="1"/>
          <p:nvPr/>
        </p:nvSpPr>
        <p:spPr>
          <a:xfrm>
            <a:off x="1161288" y="3099816"/>
            <a:ext cx="10344607" cy="548640"/>
          </a:xfrm>
          <a:prstGeom prst="rect">
            <a:avLst/>
          </a:prstGeom>
          <a:noFill/>
          <a:ln/>
        </p:spPr>
        <p:txBody>
          <a:bodyPr wrap="square" lIns="0" tIns="0" rIns="0" bIns="0" rtlCol="0" anchor="t"/>
          <a:lstStyle/>
          <a:p>
            <a:pPr indent="0" marL="0">
              <a:buNone/>
            </a:pPr>
            <a:r>
              <a:rPr lang="en-US" sz="1350" b="1" dirty="0">
                <a:solidFill>
                  <a:srgbClr val="355070"/>
                </a:solidFill>
                <a:latin typeface="Calibri" pitchFamily="34" charset="0"/>
                <a:ea typeface="Calibri" pitchFamily="34" charset="-122"/>
                <a:cs typeface="Calibri" pitchFamily="34" charset="-120"/>
              </a:rPr>
              <a:t>Graph View  </a:t>
            </a:r>
            <a:pPr indent="0" marL="0">
              <a:buNone/>
            </a:pPr>
            <a:r>
              <a:rPr lang="en-US" sz="1350" dirty="0">
                <a:solidFill>
                  <a:srgbClr val="57534E"/>
                </a:solidFill>
                <a:latin typeface="Calibri" pitchFamily="34" charset="0"/>
                <a:ea typeface="Calibri" pitchFamily="34" charset="-122"/>
                <a:cs typeface="Calibri" pitchFamily="34" charset="-120"/>
              </a:rPr>
              <a:t>Turn any of it into a chart, and save the image</a:t>
            </a:r>
            <a:endParaRPr lang="en-US" sz="1350" dirty="0"/>
          </a:p>
        </p:txBody>
      </p:sp>
      <p:sp>
        <p:nvSpPr>
          <p:cNvPr id="14" name="Shape 12"/>
          <p:cNvSpPr/>
          <p:nvPr/>
        </p:nvSpPr>
        <p:spPr>
          <a:xfrm>
            <a:off x="685800" y="3776472"/>
            <a:ext cx="310896" cy="310896"/>
          </a:xfrm>
          <a:prstGeom prst="ellipse">
            <a:avLst/>
          </a:prstGeom>
          <a:solidFill>
            <a:srgbClr val="6D597A"/>
          </a:solidFill>
          <a:ln w="12700">
            <a:solidFill>
              <a:srgbClr val="333333"/>
            </a:solidFill>
            <a:prstDash val="solid"/>
          </a:ln>
        </p:spPr>
      </p:sp>
      <p:sp>
        <p:nvSpPr>
          <p:cNvPr id="15" name="Text 13"/>
          <p:cNvSpPr txBox="1"/>
          <p:nvPr/>
        </p:nvSpPr>
        <p:spPr>
          <a:xfrm>
            <a:off x="685800" y="377647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6" name="Text 14"/>
          <p:cNvSpPr txBox="1"/>
          <p:nvPr/>
        </p:nvSpPr>
        <p:spPr>
          <a:xfrm>
            <a:off x="1161288" y="3758184"/>
            <a:ext cx="10344607" cy="548640"/>
          </a:xfrm>
          <a:prstGeom prst="rect">
            <a:avLst/>
          </a:prstGeom>
          <a:noFill/>
          <a:ln/>
        </p:spPr>
        <p:txBody>
          <a:bodyPr wrap="square" lIns="0" tIns="0" rIns="0" bIns="0" rtlCol="0" anchor="t"/>
          <a:lstStyle/>
          <a:p>
            <a:pPr indent="0" marL="0">
              <a:buNone/>
            </a:pPr>
            <a:r>
              <a:rPr lang="en-US" sz="1350" b="1" dirty="0">
                <a:solidFill>
                  <a:srgbClr val="355070"/>
                </a:solidFill>
                <a:latin typeface="Calibri" pitchFamily="34" charset="0"/>
                <a:ea typeface="Calibri" pitchFamily="34" charset="-122"/>
                <a:cs typeface="Calibri" pitchFamily="34" charset="-120"/>
              </a:rPr>
              <a:t>Published reports  </a:t>
            </a:r>
            <a:pPr indent="0" marL="0">
              <a:buNone/>
            </a:pPr>
            <a:r>
              <a:rPr lang="en-US" sz="1350" dirty="0">
                <a:solidFill>
                  <a:srgbClr val="57534E"/>
                </a:solidFill>
                <a:latin typeface="Calibri" pitchFamily="34" charset="0"/>
                <a:ea typeface="Calibri" pitchFamily="34" charset="-122"/>
                <a:cs typeface="Calibri" pitchFamily="34" charset="-120"/>
              </a:rPr>
              <a:t>The PDFs as they appeared in the journal</a:t>
            </a:r>
            <a:endParaRPr lang="en-US" sz="1350" dirty="0"/>
          </a:p>
        </p:txBody>
      </p:sp>
      <p:sp>
        <p:nvSpPr>
          <p:cNvPr id="17" name="Shape 15"/>
          <p:cNvSpPr/>
          <p:nvPr/>
        </p:nvSpPr>
        <p:spPr>
          <a:xfrm>
            <a:off x="685800" y="4434840"/>
            <a:ext cx="310896" cy="310896"/>
          </a:xfrm>
          <a:prstGeom prst="ellipse">
            <a:avLst/>
          </a:prstGeom>
          <a:solidFill>
            <a:srgbClr val="7A8BA0"/>
          </a:solidFill>
          <a:ln w="12700">
            <a:solidFill>
              <a:srgbClr val="333333"/>
            </a:solidFill>
            <a:prstDash val="solid"/>
          </a:ln>
        </p:spPr>
      </p:sp>
      <p:sp>
        <p:nvSpPr>
          <p:cNvPr id="18" name="Text 16"/>
          <p:cNvSpPr txBox="1"/>
          <p:nvPr/>
        </p:nvSpPr>
        <p:spPr>
          <a:xfrm>
            <a:off x="685800" y="443484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9" name="Text 17"/>
          <p:cNvSpPr txBox="1"/>
          <p:nvPr/>
        </p:nvSpPr>
        <p:spPr>
          <a:xfrm>
            <a:off x="1161288" y="4416552"/>
            <a:ext cx="10344607" cy="548640"/>
          </a:xfrm>
          <a:prstGeom prst="rect">
            <a:avLst/>
          </a:prstGeom>
          <a:noFill/>
          <a:ln/>
        </p:spPr>
        <p:txBody>
          <a:bodyPr wrap="square" lIns="0" tIns="0" rIns="0" bIns="0" rtlCol="0" anchor="t"/>
          <a:lstStyle/>
          <a:p>
            <a:pPr indent="0" marL="0">
              <a:buNone/>
            </a:pPr>
            <a:r>
              <a:rPr lang="en-US" sz="1350" b="1" dirty="0">
                <a:solidFill>
                  <a:srgbClr val="355070"/>
                </a:solidFill>
                <a:latin typeface="Calibri" pitchFamily="34" charset="0"/>
                <a:ea typeface="Calibri" pitchFamily="34" charset="-122"/>
                <a:cs typeface="Calibri" pitchFamily="34" charset="-120"/>
              </a:rPr>
              <a:t>Before 1998  </a:t>
            </a:r>
            <a:pPr indent="0" marL="0">
              <a:buNone/>
            </a:pPr>
            <a:r>
              <a:rPr lang="en-US" sz="1350" dirty="0">
                <a:solidFill>
                  <a:srgbClr val="57534E"/>
                </a:solidFill>
                <a:latin typeface="Calibri" pitchFamily="34" charset="0"/>
                <a:ea typeface="Calibri" pitchFamily="34" charset="-122"/>
                <a:cs typeface="Calibri" pitchFamily="34" charset="-120"/>
              </a:rPr>
              <a:t>The digitised historical reports, kept separately</a:t>
            </a:r>
            <a:endParaRPr lang="en-US" sz="1350" dirty="0"/>
          </a:p>
        </p:txBody>
      </p:sp>
      <p:sp>
        <p:nvSpPr>
          <p:cNvPr id="20" name="Shape 18"/>
          <p:cNvSpPr/>
          <p:nvPr/>
        </p:nvSpPr>
        <p:spPr>
          <a:xfrm>
            <a:off x="685800" y="5257800"/>
            <a:ext cx="10820095" cy="868680"/>
          </a:xfrm>
          <a:prstGeom prst="roundRect">
            <a:avLst>
              <a:gd name="adj" fmla="val 8421"/>
            </a:avLst>
          </a:prstGeom>
          <a:solidFill>
            <a:srgbClr val="F4F8FA"/>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21" name="Text 19"/>
          <p:cNvSpPr txBox="1"/>
          <p:nvPr/>
        </p:nvSpPr>
        <p:spPr>
          <a:xfrm>
            <a:off x="1005840" y="5340096"/>
            <a:ext cx="10180015" cy="713232"/>
          </a:xfrm>
          <a:prstGeom prst="rect">
            <a:avLst/>
          </a:prstGeom>
          <a:noFill/>
          <a:ln/>
        </p:spPr>
        <p:txBody>
          <a:bodyPr wrap="square" lIns="0" tIns="0" rIns="0" bIns="0" rtlCol="0" anchor="ctr"/>
          <a:lstStyle/>
          <a:p>
            <a:pPr indent="0" marL="0">
              <a:buNone/>
            </a:pPr>
            <a:r>
              <a:rPr lang="en-US" sz="1600" b="1" dirty="0">
                <a:solidFill>
                  <a:srgbClr val="E56B6F"/>
                </a:solidFill>
                <a:latin typeface="Calibri" pitchFamily="34" charset="0"/>
                <a:ea typeface="Calibri" pitchFamily="34" charset="-122"/>
                <a:cs typeface="Calibri" pitchFamily="34" charset="-120"/>
              </a:rPr>
              <a:t>Everything here exports. Use it for your annual report — or your next budget conversation.</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9082735" cy="228600"/>
          </a:xfrm>
          <a:prstGeom prst="rect">
            <a:avLst/>
          </a:prstGeom>
          <a:noFill/>
          <a:ln/>
        </p:spPr>
        <p:txBody>
          <a:bodyPr wrap="square" lIns="0" tIns="0" rIns="0" bIns="0" rtlCol="0" anchor="ctr"/>
          <a:lstStyle/>
          <a:p>
            <a:pPr indent="0" marL="0">
              <a:buNone/>
            </a:pPr>
            <a:r>
              <a:rPr lang="en-US" sz="1100" b="1" spc="160" kern="0" dirty="0">
                <a:solidFill>
                  <a:srgbClr val="6D597A"/>
                </a:solidFill>
                <a:latin typeface="Calibri" pitchFamily="34" charset="0"/>
                <a:ea typeface="Calibri" pitchFamily="34" charset="-122"/>
                <a:cs typeface="Calibri" pitchFamily="34" charset="-120"/>
              </a:rPr>
              <a:t>THE TEN FORMS</a:t>
            </a:r>
            <a:endParaRPr lang="en-US" sz="1100" dirty="0"/>
          </a:p>
        </p:txBody>
      </p:sp>
      <p:sp>
        <p:nvSpPr>
          <p:cNvPr id="3" name="Text 1"/>
          <p:cNvSpPr txBox="1"/>
          <p:nvPr/>
        </p:nvSpPr>
        <p:spPr>
          <a:xfrm>
            <a:off x="685800" y="713232"/>
            <a:ext cx="9082735" cy="777240"/>
          </a:xfrm>
          <a:prstGeom prst="rect">
            <a:avLst/>
          </a:prstGeom>
          <a:noFill/>
          <a:ln/>
        </p:spPr>
        <p:txBody>
          <a:bodyPr wrap="square" lIns="0" tIns="0" rIns="0" bIns="0" rtlCol="0" anchor="t"/>
          <a:lstStyle/>
          <a:p>
            <a:pPr indent="0" marL="0">
              <a:buNone/>
            </a:pPr>
            <a:r>
              <a:rPr lang="en-US" sz="3000" b="1" dirty="0">
                <a:solidFill>
                  <a:srgbClr val="355070"/>
                </a:solidFill>
                <a:latin typeface="Calibri" pitchFamily="34" charset="0"/>
                <a:ea typeface="Calibri" pitchFamily="34" charset="-122"/>
                <a:cs typeface="Calibri" pitchFamily="34" charset="-120"/>
              </a:rPr>
              <a:t>What you will be asked for</a:t>
            </a:r>
            <a:endParaRPr lang="en-US" sz="3000" dirty="0"/>
          </a:p>
        </p:txBody>
      </p:sp>
      <p:sp>
        <p:nvSpPr>
          <p:cNvPr id="4" name="Text 2"/>
          <p:cNvSpPr txBox="1"/>
          <p:nvPr/>
        </p:nvSpPr>
        <p:spPr>
          <a:xfrm>
            <a:off x="10042855" y="493776"/>
            <a:ext cx="1463040" cy="274320"/>
          </a:xfrm>
          <a:prstGeom prst="rect">
            <a:avLst/>
          </a:prstGeom>
          <a:noFill/>
          <a:ln/>
        </p:spPr>
        <p:txBody>
          <a:bodyPr wrap="square" lIns="0" tIns="0" rIns="0" bIns="0" rtlCol="0" anchor="ctr"/>
          <a:lstStyle/>
          <a:p>
            <a:pPr algn="r" indent="0" marL="0">
              <a:buNone/>
            </a:pPr>
            <a:r>
              <a:rPr lang="en-US" sz="1100" dirty="0">
                <a:solidFill>
                  <a:srgbClr val="7A8BA0"/>
                </a:solidFill>
                <a:latin typeface="Calibri" pitchFamily="34" charset="0"/>
                <a:ea typeface="Calibri" pitchFamily="34" charset="-122"/>
                <a:cs typeface="Calibri" pitchFamily="34" charset="-120"/>
              </a:rPr>
              <a:t>Anlin</a:t>
            </a:r>
            <a:endParaRPr lang="en-US" sz="1100" dirty="0"/>
          </a:p>
        </p:txBody>
      </p:sp>
      <p:sp>
        <p:nvSpPr>
          <p:cNvPr id="5" name="Shape 3"/>
          <p:cNvSpPr/>
          <p:nvPr/>
        </p:nvSpPr>
        <p:spPr>
          <a:xfrm>
            <a:off x="685800" y="1636776"/>
            <a:ext cx="365760" cy="365760"/>
          </a:xfrm>
          <a:prstGeom prst="ellipse">
            <a:avLst/>
          </a:prstGeom>
          <a:solidFill>
            <a:srgbClr val="355070"/>
          </a:solidFill>
          <a:ln w="12700">
            <a:solidFill>
              <a:srgbClr val="333333"/>
            </a:solidFill>
            <a:prstDash val="solid"/>
          </a:ln>
        </p:spPr>
      </p:sp>
      <p:sp>
        <p:nvSpPr>
          <p:cNvPr id="6" name="Text 4"/>
          <p:cNvSpPr txBox="1"/>
          <p:nvPr/>
        </p:nvSpPr>
        <p:spPr>
          <a:xfrm>
            <a:off x="685800" y="16367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188720" y="1600200"/>
            <a:ext cx="4724248" cy="438912"/>
          </a:xfrm>
          <a:prstGeom prst="rect">
            <a:avLst/>
          </a:prstGeom>
          <a:noFill/>
          <a:ln/>
        </p:spPr>
        <p:txBody>
          <a:bodyPr wrap="square" lIns="0" tIns="0" rIns="0" bIns="0" rtlCol="0" anchor="ctr"/>
          <a:lstStyle/>
          <a:p>
            <a:pPr indent="0" marL="0">
              <a:buNone/>
            </a:pPr>
            <a:r>
              <a:rPr lang="en-US" sz="1450" dirty="0">
                <a:solidFill>
                  <a:srgbClr val="355070"/>
                </a:solidFill>
                <a:latin typeface="Calibri" pitchFamily="34" charset="0"/>
                <a:ea typeface="Calibri" pitchFamily="34" charset="-122"/>
                <a:cs typeface="Calibri" pitchFamily="34" charset="-120"/>
              </a:rPr>
              <a:t>Monographic acquisitions</a:t>
            </a:r>
            <a:endParaRPr lang="en-US" sz="1450" dirty="0"/>
          </a:p>
        </p:txBody>
      </p:sp>
      <p:sp>
        <p:nvSpPr>
          <p:cNvPr id="8" name="Shape 6"/>
          <p:cNvSpPr/>
          <p:nvPr/>
        </p:nvSpPr>
        <p:spPr>
          <a:xfrm>
            <a:off x="685800" y="2240280"/>
            <a:ext cx="365760" cy="365760"/>
          </a:xfrm>
          <a:prstGeom prst="ellipse">
            <a:avLst/>
          </a:prstGeom>
          <a:solidFill>
            <a:srgbClr val="355070"/>
          </a:solidFill>
          <a:ln w="12700">
            <a:solidFill>
              <a:srgbClr val="333333"/>
            </a:solidFill>
            <a:prstDash val="solid"/>
          </a:ln>
        </p:spPr>
      </p:sp>
      <p:sp>
        <p:nvSpPr>
          <p:cNvPr id="9" name="Text 7"/>
          <p:cNvSpPr txBox="1"/>
          <p:nvPr/>
        </p:nvSpPr>
        <p:spPr>
          <a:xfrm>
            <a:off x="685800" y="22402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188720" y="2203704"/>
            <a:ext cx="4724248" cy="438912"/>
          </a:xfrm>
          <a:prstGeom prst="rect">
            <a:avLst/>
          </a:prstGeom>
          <a:noFill/>
          <a:ln/>
        </p:spPr>
        <p:txBody>
          <a:bodyPr wrap="square" lIns="0" tIns="0" rIns="0" bIns="0" rtlCol="0" anchor="ctr"/>
          <a:lstStyle/>
          <a:p>
            <a:pPr indent="0" marL="0">
              <a:buNone/>
            </a:pPr>
            <a:r>
              <a:rPr lang="en-US" sz="1450" dirty="0">
                <a:solidFill>
                  <a:srgbClr val="355070"/>
                </a:solidFill>
                <a:latin typeface="Calibri" pitchFamily="34" charset="0"/>
                <a:ea typeface="Calibri" pitchFamily="34" charset="-122"/>
                <a:cs typeface="Calibri" pitchFamily="34" charset="-120"/>
              </a:rPr>
              <a:t>Physical volume holdings</a:t>
            </a:r>
            <a:endParaRPr lang="en-US" sz="1450" dirty="0"/>
          </a:p>
        </p:txBody>
      </p:sp>
      <p:sp>
        <p:nvSpPr>
          <p:cNvPr id="11" name="Shape 9"/>
          <p:cNvSpPr/>
          <p:nvPr/>
        </p:nvSpPr>
        <p:spPr>
          <a:xfrm>
            <a:off x="685800" y="2843784"/>
            <a:ext cx="365760" cy="365760"/>
          </a:xfrm>
          <a:prstGeom prst="ellipse">
            <a:avLst/>
          </a:prstGeom>
          <a:solidFill>
            <a:srgbClr val="355070"/>
          </a:solidFill>
          <a:ln w="12700">
            <a:solidFill>
              <a:srgbClr val="333333"/>
            </a:solidFill>
            <a:prstDash val="solid"/>
          </a:ln>
        </p:spPr>
      </p:sp>
      <p:sp>
        <p:nvSpPr>
          <p:cNvPr id="12" name="Text 10"/>
          <p:cNvSpPr txBox="1"/>
          <p:nvPr/>
        </p:nvSpPr>
        <p:spPr>
          <a:xfrm>
            <a:off x="685800" y="284378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txBox="1"/>
          <p:nvPr/>
        </p:nvSpPr>
        <p:spPr>
          <a:xfrm>
            <a:off x="1188720" y="2807208"/>
            <a:ext cx="4724248" cy="438912"/>
          </a:xfrm>
          <a:prstGeom prst="rect">
            <a:avLst/>
          </a:prstGeom>
          <a:noFill/>
          <a:ln/>
        </p:spPr>
        <p:txBody>
          <a:bodyPr wrap="square" lIns="0" tIns="0" rIns="0" bIns="0" rtlCol="0" anchor="ctr"/>
          <a:lstStyle/>
          <a:p>
            <a:pPr indent="0" marL="0">
              <a:buNone/>
            </a:pPr>
            <a:r>
              <a:rPr lang="en-US" sz="1450" dirty="0">
                <a:solidFill>
                  <a:srgbClr val="355070"/>
                </a:solidFill>
                <a:latin typeface="Calibri" pitchFamily="34" charset="0"/>
                <a:ea typeface="Calibri" pitchFamily="34" charset="-122"/>
                <a:cs typeface="Calibri" pitchFamily="34" charset="-120"/>
              </a:rPr>
              <a:t>Serial titles — purchased and non-purchased</a:t>
            </a:r>
            <a:endParaRPr lang="en-US" sz="1450" dirty="0"/>
          </a:p>
        </p:txBody>
      </p:sp>
      <p:sp>
        <p:nvSpPr>
          <p:cNvPr id="14" name="Shape 12"/>
          <p:cNvSpPr/>
          <p:nvPr/>
        </p:nvSpPr>
        <p:spPr>
          <a:xfrm>
            <a:off x="685800" y="3447288"/>
            <a:ext cx="365760" cy="365760"/>
          </a:xfrm>
          <a:prstGeom prst="ellipse">
            <a:avLst/>
          </a:prstGeom>
          <a:solidFill>
            <a:srgbClr val="355070"/>
          </a:solidFill>
          <a:ln w="12700">
            <a:solidFill>
              <a:srgbClr val="333333"/>
            </a:solidFill>
            <a:prstDash val="solid"/>
          </a:ln>
        </p:spPr>
      </p:sp>
      <p:sp>
        <p:nvSpPr>
          <p:cNvPr id="15" name="Text 13"/>
          <p:cNvSpPr txBox="1"/>
          <p:nvPr/>
        </p:nvSpPr>
        <p:spPr>
          <a:xfrm>
            <a:off x="685800" y="344728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6" name="Text 14"/>
          <p:cNvSpPr txBox="1"/>
          <p:nvPr/>
        </p:nvSpPr>
        <p:spPr>
          <a:xfrm>
            <a:off x="1188720" y="3410712"/>
            <a:ext cx="4724248" cy="438912"/>
          </a:xfrm>
          <a:prstGeom prst="rect">
            <a:avLst/>
          </a:prstGeom>
          <a:noFill/>
          <a:ln/>
        </p:spPr>
        <p:txBody>
          <a:bodyPr wrap="square" lIns="0" tIns="0" rIns="0" bIns="0" rtlCol="0" anchor="ctr"/>
          <a:lstStyle/>
          <a:p>
            <a:pPr indent="0" marL="0">
              <a:buNone/>
            </a:pPr>
            <a:r>
              <a:rPr lang="en-US" sz="1450" dirty="0">
                <a:solidFill>
                  <a:srgbClr val="355070"/>
                </a:solidFill>
                <a:latin typeface="Calibri" pitchFamily="34" charset="0"/>
                <a:ea typeface="Calibri" pitchFamily="34" charset="-122"/>
                <a:cs typeface="Calibri" pitchFamily="34" charset="-120"/>
              </a:rPr>
              <a:t>Holdings of other materials</a:t>
            </a:r>
            <a:endParaRPr lang="en-US" sz="1450" dirty="0"/>
          </a:p>
        </p:txBody>
      </p:sp>
      <p:sp>
        <p:nvSpPr>
          <p:cNvPr id="17" name="Shape 15"/>
          <p:cNvSpPr/>
          <p:nvPr/>
        </p:nvSpPr>
        <p:spPr>
          <a:xfrm>
            <a:off x="685800" y="4050792"/>
            <a:ext cx="365760" cy="365760"/>
          </a:xfrm>
          <a:prstGeom prst="ellipse">
            <a:avLst/>
          </a:prstGeom>
          <a:solidFill>
            <a:srgbClr val="355070"/>
          </a:solidFill>
          <a:ln w="12700">
            <a:solidFill>
              <a:srgbClr val="333333"/>
            </a:solidFill>
            <a:prstDash val="solid"/>
          </a:ln>
        </p:spPr>
      </p:sp>
      <p:sp>
        <p:nvSpPr>
          <p:cNvPr id="18" name="Text 16"/>
          <p:cNvSpPr txBox="1"/>
          <p:nvPr/>
        </p:nvSpPr>
        <p:spPr>
          <a:xfrm>
            <a:off x="685800" y="405079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9" name="Text 17"/>
          <p:cNvSpPr txBox="1"/>
          <p:nvPr/>
        </p:nvSpPr>
        <p:spPr>
          <a:xfrm>
            <a:off x="1188720" y="4014216"/>
            <a:ext cx="4724248" cy="438912"/>
          </a:xfrm>
          <a:prstGeom prst="rect">
            <a:avLst/>
          </a:prstGeom>
          <a:noFill/>
          <a:ln/>
        </p:spPr>
        <p:txBody>
          <a:bodyPr wrap="square" lIns="0" tIns="0" rIns="0" bIns="0" rtlCol="0" anchor="ctr"/>
          <a:lstStyle/>
          <a:p>
            <a:pPr indent="0" marL="0">
              <a:buNone/>
            </a:pPr>
            <a:r>
              <a:rPr lang="en-US" sz="1450" dirty="0">
                <a:solidFill>
                  <a:srgbClr val="355070"/>
                </a:solidFill>
                <a:latin typeface="Calibri" pitchFamily="34" charset="0"/>
                <a:ea typeface="Calibri" pitchFamily="34" charset="-122"/>
                <a:cs typeface="Calibri" pitchFamily="34" charset="-120"/>
              </a:rPr>
              <a:t>Unprocessed backlog materials</a:t>
            </a:r>
            <a:endParaRPr lang="en-US" sz="1450" dirty="0"/>
          </a:p>
        </p:txBody>
      </p:sp>
      <p:sp>
        <p:nvSpPr>
          <p:cNvPr id="20" name="Shape 18"/>
          <p:cNvSpPr/>
          <p:nvPr/>
        </p:nvSpPr>
        <p:spPr>
          <a:xfrm>
            <a:off x="6278728" y="1636776"/>
            <a:ext cx="365760" cy="365760"/>
          </a:xfrm>
          <a:prstGeom prst="ellipse">
            <a:avLst/>
          </a:prstGeom>
          <a:solidFill>
            <a:srgbClr val="6D597A"/>
          </a:solidFill>
          <a:ln w="12700">
            <a:solidFill>
              <a:srgbClr val="333333"/>
            </a:solidFill>
            <a:prstDash val="solid"/>
          </a:ln>
        </p:spPr>
      </p:sp>
      <p:sp>
        <p:nvSpPr>
          <p:cNvPr id="21" name="Text 19"/>
          <p:cNvSpPr txBox="1"/>
          <p:nvPr/>
        </p:nvSpPr>
        <p:spPr>
          <a:xfrm>
            <a:off x="6278728" y="16367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2" name="Text 20"/>
          <p:cNvSpPr txBox="1"/>
          <p:nvPr/>
        </p:nvSpPr>
        <p:spPr>
          <a:xfrm>
            <a:off x="6781648" y="1600200"/>
            <a:ext cx="4724248" cy="438912"/>
          </a:xfrm>
          <a:prstGeom prst="rect">
            <a:avLst/>
          </a:prstGeom>
          <a:noFill/>
          <a:ln/>
        </p:spPr>
        <p:txBody>
          <a:bodyPr wrap="square" lIns="0" tIns="0" rIns="0" bIns="0" rtlCol="0" anchor="ctr"/>
          <a:lstStyle/>
          <a:p>
            <a:pPr indent="0" marL="0">
              <a:buNone/>
            </a:pPr>
            <a:r>
              <a:rPr lang="en-US" sz="1450" dirty="0">
                <a:solidFill>
                  <a:srgbClr val="355070"/>
                </a:solidFill>
                <a:latin typeface="Calibri" pitchFamily="34" charset="0"/>
                <a:ea typeface="Calibri" pitchFamily="34" charset="-122"/>
                <a:cs typeface="Calibri" pitchFamily="34" charset="-120"/>
              </a:rPr>
              <a:t>Fiscal support</a:t>
            </a:r>
            <a:endParaRPr lang="en-US" sz="1450" dirty="0"/>
          </a:p>
        </p:txBody>
      </p:sp>
      <p:sp>
        <p:nvSpPr>
          <p:cNvPr id="23" name="Shape 21"/>
          <p:cNvSpPr/>
          <p:nvPr/>
        </p:nvSpPr>
        <p:spPr>
          <a:xfrm>
            <a:off x="6278728" y="2240280"/>
            <a:ext cx="365760" cy="365760"/>
          </a:xfrm>
          <a:prstGeom prst="ellipse">
            <a:avLst/>
          </a:prstGeom>
          <a:solidFill>
            <a:srgbClr val="6D597A"/>
          </a:solidFill>
          <a:ln w="12700">
            <a:solidFill>
              <a:srgbClr val="333333"/>
            </a:solidFill>
            <a:prstDash val="solid"/>
          </a:ln>
        </p:spPr>
      </p:sp>
      <p:sp>
        <p:nvSpPr>
          <p:cNvPr id="24" name="Text 22"/>
          <p:cNvSpPr txBox="1"/>
          <p:nvPr/>
        </p:nvSpPr>
        <p:spPr>
          <a:xfrm>
            <a:off x="6278728" y="22402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25" name="Text 23"/>
          <p:cNvSpPr txBox="1"/>
          <p:nvPr/>
        </p:nvSpPr>
        <p:spPr>
          <a:xfrm>
            <a:off x="6781648" y="2203704"/>
            <a:ext cx="4724248" cy="438912"/>
          </a:xfrm>
          <a:prstGeom prst="rect">
            <a:avLst/>
          </a:prstGeom>
          <a:noFill/>
          <a:ln/>
        </p:spPr>
        <p:txBody>
          <a:bodyPr wrap="square" lIns="0" tIns="0" rIns="0" bIns="0" rtlCol="0" anchor="ctr"/>
          <a:lstStyle/>
          <a:p>
            <a:pPr indent="0" marL="0">
              <a:buNone/>
            </a:pPr>
            <a:r>
              <a:rPr lang="en-US" sz="1450" dirty="0">
                <a:solidFill>
                  <a:srgbClr val="355070"/>
                </a:solidFill>
                <a:latin typeface="Calibri" pitchFamily="34" charset="0"/>
                <a:ea typeface="Calibri" pitchFamily="34" charset="-122"/>
                <a:cs typeface="Calibri" pitchFamily="34" charset="-120"/>
              </a:rPr>
              <a:t>Personnel support</a:t>
            </a:r>
            <a:endParaRPr lang="en-US" sz="1450" dirty="0"/>
          </a:p>
        </p:txBody>
      </p:sp>
      <p:sp>
        <p:nvSpPr>
          <p:cNvPr id="26" name="Shape 24"/>
          <p:cNvSpPr/>
          <p:nvPr/>
        </p:nvSpPr>
        <p:spPr>
          <a:xfrm>
            <a:off x="6278728" y="2843784"/>
            <a:ext cx="365760" cy="365760"/>
          </a:xfrm>
          <a:prstGeom prst="ellipse">
            <a:avLst/>
          </a:prstGeom>
          <a:solidFill>
            <a:srgbClr val="6D597A"/>
          </a:solidFill>
          <a:ln w="12700">
            <a:solidFill>
              <a:srgbClr val="333333"/>
            </a:solidFill>
            <a:prstDash val="solid"/>
          </a:ln>
        </p:spPr>
      </p:sp>
      <p:sp>
        <p:nvSpPr>
          <p:cNvPr id="27" name="Text 25"/>
          <p:cNvSpPr txBox="1"/>
          <p:nvPr/>
        </p:nvSpPr>
        <p:spPr>
          <a:xfrm>
            <a:off x="6278728" y="284378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28" name="Text 26"/>
          <p:cNvSpPr txBox="1"/>
          <p:nvPr/>
        </p:nvSpPr>
        <p:spPr>
          <a:xfrm>
            <a:off x="6781648" y="2807208"/>
            <a:ext cx="4724248" cy="438912"/>
          </a:xfrm>
          <a:prstGeom prst="rect">
            <a:avLst/>
          </a:prstGeom>
          <a:noFill/>
          <a:ln/>
        </p:spPr>
        <p:txBody>
          <a:bodyPr wrap="square" lIns="0" tIns="0" rIns="0" bIns="0" rtlCol="0" anchor="ctr"/>
          <a:lstStyle/>
          <a:p>
            <a:pPr indent="0" marL="0">
              <a:buNone/>
            </a:pPr>
            <a:r>
              <a:rPr lang="en-US" sz="1450" dirty="0">
                <a:solidFill>
                  <a:srgbClr val="355070"/>
                </a:solidFill>
                <a:latin typeface="Calibri" pitchFamily="34" charset="0"/>
                <a:ea typeface="Calibri" pitchFamily="34" charset="-122"/>
                <a:cs typeface="Calibri" pitchFamily="34" charset="-120"/>
              </a:rPr>
              <a:t>Public services</a:t>
            </a:r>
            <a:endParaRPr lang="en-US" sz="1450" dirty="0"/>
          </a:p>
        </p:txBody>
      </p:sp>
      <p:sp>
        <p:nvSpPr>
          <p:cNvPr id="29" name="Shape 27"/>
          <p:cNvSpPr/>
          <p:nvPr/>
        </p:nvSpPr>
        <p:spPr>
          <a:xfrm>
            <a:off x="6278728" y="3447288"/>
            <a:ext cx="365760" cy="365760"/>
          </a:xfrm>
          <a:prstGeom prst="ellipse">
            <a:avLst/>
          </a:prstGeom>
          <a:solidFill>
            <a:srgbClr val="6D597A"/>
          </a:solidFill>
          <a:ln w="12700">
            <a:solidFill>
              <a:srgbClr val="333333"/>
            </a:solidFill>
            <a:prstDash val="solid"/>
          </a:ln>
        </p:spPr>
      </p:sp>
      <p:sp>
        <p:nvSpPr>
          <p:cNvPr id="30" name="Text 28"/>
          <p:cNvSpPr txBox="1"/>
          <p:nvPr/>
        </p:nvSpPr>
        <p:spPr>
          <a:xfrm>
            <a:off x="6278728" y="344728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31" name="Text 29"/>
          <p:cNvSpPr txBox="1"/>
          <p:nvPr/>
        </p:nvSpPr>
        <p:spPr>
          <a:xfrm>
            <a:off x="6781648" y="3410712"/>
            <a:ext cx="4724248" cy="438912"/>
          </a:xfrm>
          <a:prstGeom prst="rect">
            <a:avLst/>
          </a:prstGeom>
          <a:noFill/>
          <a:ln/>
        </p:spPr>
        <p:txBody>
          <a:bodyPr wrap="square" lIns="0" tIns="0" rIns="0" bIns="0" rtlCol="0" anchor="ctr"/>
          <a:lstStyle/>
          <a:p>
            <a:pPr indent="0" marL="0">
              <a:buNone/>
            </a:pPr>
            <a:r>
              <a:rPr lang="en-US" sz="1450" dirty="0">
                <a:solidFill>
                  <a:srgbClr val="355070"/>
                </a:solidFill>
                <a:latin typeface="Calibri" pitchFamily="34" charset="0"/>
                <a:ea typeface="Calibri" pitchFamily="34" charset="-122"/>
                <a:cs typeface="Calibri" pitchFamily="34" charset="-120"/>
              </a:rPr>
              <a:t>Electronic resources</a:t>
            </a:r>
            <a:endParaRPr lang="en-US" sz="1450" dirty="0"/>
          </a:p>
        </p:txBody>
      </p:sp>
      <p:sp>
        <p:nvSpPr>
          <p:cNvPr id="32" name="Shape 30"/>
          <p:cNvSpPr/>
          <p:nvPr/>
        </p:nvSpPr>
        <p:spPr>
          <a:xfrm>
            <a:off x="6278728" y="4050792"/>
            <a:ext cx="365760" cy="365760"/>
          </a:xfrm>
          <a:prstGeom prst="ellipse">
            <a:avLst/>
          </a:prstGeom>
          <a:solidFill>
            <a:srgbClr val="6D597A"/>
          </a:solidFill>
          <a:ln w="12700">
            <a:solidFill>
              <a:srgbClr val="333333"/>
            </a:solidFill>
            <a:prstDash val="solid"/>
          </a:ln>
        </p:spPr>
      </p:sp>
      <p:sp>
        <p:nvSpPr>
          <p:cNvPr id="33" name="Text 31"/>
          <p:cNvSpPr txBox="1"/>
          <p:nvPr/>
        </p:nvSpPr>
        <p:spPr>
          <a:xfrm>
            <a:off x="6278728" y="405079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34" name="Text 32"/>
          <p:cNvSpPr txBox="1"/>
          <p:nvPr/>
        </p:nvSpPr>
        <p:spPr>
          <a:xfrm>
            <a:off x="6781648" y="4014216"/>
            <a:ext cx="4724248" cy="438912"/>
          </a:xfrm>
          <a:prstGeom prst="rect">
            <a:avLst/>
          </a:prstGeom>
          <a:noFill/>
          <a:ln/>
        </p:spPr>
        <p:txBody>
          <a:bodyPr wrap="square" lIns="0" tIns="0" rIns="0" bIns="0" rtlCol="0" anchor="ctr"/>
          <a:lstStyle/>
          <a:p>
            <a:pPr indent="0" marL="0">
              <a:buNone/>
            </a:pPr>
            <a:r>
              <a:rPr lang="en-US" sz="1450" dirty="0">
                <a:solidFill>
                  <a:srgbClr val="355070"/>
                </a:solidFill>
                <a:latin typeface="Calibri" pitchFamily="34" charset="0"/>
                <a:ea typeface="Calibri" pitchFamily="34" charset="-122"/>
                <a:cs typeface="Calibri" pitchFamily="34" charset="-120"/>
              </a:rPr>
              <a:t>Electronic books</a:t>
            </a:r>
            <a:endParaRPr lang="en-US" sz="1450" dirty="0"/>
          </a:p>
        </p:txBody>
      </p:sp>
      <p:sp>
        <p:nvSpPr>
          <p:cNvPr id="35" name="Shape 33"/>
          <p:cNvSpPr/>
          <p:nvPr/>
        </p:nvSpPr>
        <p:spPr>
          <a:xfrm>
            <a:off x="685800" y="4800600"/>
            <a:ext cx="10820095" cy="1051560"/>
          </a:xfrm>
          <a:prstGeom prst="roundRect">
            <a:avLst>
              <a:gd name="adj" fmla="val 6957"/>
            </a:avLst>
          </a:prstGeom>
          <a:solidFill>
            <a:srgbClr val="F4F8FA"/>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36" name="Text 34"/>
          <p:cNvSpPr txBox="1"/>
          <p:nvPr/>
        </p:nvSpPr>
        <p:spPr>
          <a:xfrm>
            <a:off x="1005840" y="4892040"/>
            <a:ext cx="10180015" cy="868680"/>
          </a:xfrm>
          <a:prstGeom prst="rect">
            <a:avLst/>
          </a:prstGeom>
          <a:noFill/>
          <a:ln/>
        </p:spPr>
        <p:txBody>
          <a:bodyPr wrap="square" lIns="0" tIns="0" rIns="0" bIns="0" rtlCol="0" anchor="ctr"/>
          <a:lstStyle/>
          <a:p>
            <a:pPr indent="0" marL="0">
              <a:buNone/>
            </a:pPr>
            <a:r>
              <a:rPr lang="en-US" sz="1600" b="1" dirty="0">
                <a:solidFill>
                  <a:srgbClr val="E56B6F"/>
                </a:solidFill>
                <a:latin typeface="Calibri" pitchFamily="34" charset="0"/>
                <a:ea typeface="Calibri" pitchFamily="34" charset="-122"/>
                <a:cs typeface="Calibri" pitchFamily="34" charset="-120"/>
              </a:rPr>
              <a:t>Plus your selections from the shared audio-visual, e-book and e-journal lists</a:t>
            </a:r>
            <a:endParaRPr lang="en-US" sz="1600" dirty="0"/>
          </a:p>
        </p:txBody>
      </p:sp>
      <p:sp>
        <p:nvSpPr>
          <p:cNvPr id="37" name="Text 35"/>
          <p:cNvSpPr txBox="1"/>
          <p:nvPr/>
        </p:nvSpPr>
        <p:spPr>
          <a:xfrm>
            <a:off x="685800" y="5989320"/>
            <a:ext cx="10820095" cy="292608"/>
          </a:xfrm>
          <a:prstGeom prst="rect">
            <a:avLst/>
          </a:prstGeom>
          <a:noFill/>
          <a:ln/>
        </p:spPr>
        <p:txBody>
          <a:bodyPr wrap="square" lIns="0" tIns="0" rIns="0" bIns="0" rtlCol="0" anchor="ctr"/>
          <a:lstStyle/>
          <a:p>
            <a:pPr indent="0" marL="0">
              <a:buNone/>
            </a:pPr>
            <a:r>
              <a:rPr lang="en-US" sz="1300" i="1" dirty="0">
                <a:solidFill>
                  <a:srgbClr val="7A8BA0"/>
                </a:solidFill>
                <a:latin typeface="Calibri" pitchFamily="34" charset="0"/>
                <a:ea typeface="Calibri" pitchFamily="34" charset="-122"/>
                <a:cs typeface="Calibri" pitchFamily="34" charset="-120"/>
              </a:rPr>
              <a:t>The same ten as before. Nothing was added and nothing was removed when the site was rebuilt.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9082735" cy="228600"/>
          </a:xfrm>
          <a:prstGeom prst="rect">
            <a:avLst/>
          </a:prstGeom>
          <a:noFill/>
          <a:ln/>
        </p:spPr>
        <p:txBody>
          <a:bodyPr wrap="square" lIns="0" tIns="0" rIns="0" bIns="0" rtlCol="0" anchor="ctr"/>
          <a:lstStyle/>
          <a:p>
            <a:pPr indent="0" marL="0">
              <a:buNone/>
            </a:pPr>
            <a:r>
              <a:rPr lang="en-US" sz="1100" b="1" spc="160" kern="0" dirty="0">
                <a:solidFill>
                  <a:srgbClr val="6D597A"/>
                </a:solidFill>
                <a:latin typeface="Calibri" pitchFamily="34" charset="0"/>
                <a:ea typeface="Calibri" pitchFamily="34" charset="-122"/>
                <a:cs typeface="Calibri" pitchFamily="34" charset="-120"/>
              </a:rPr>
              <a:t>TWO GUIDES, BUILT INTO THE SITE</a:t>
            </a:r>
            <a:endParaRPr lang="en-US" sz="1100" dirty="0"/>
          </a:p>
        </p:txBody>
      </p:sp>
      <p:sp>
        <p:nvSpPr>
          <p:cNvPr id="3" name="Text 1"/>
          <p:cNvSpPr txBox="1"/>
          <p:nvPr/>
        </p:nvSpPr>
        <p:spPr>
          <a:xfrm>
            <a:off x="685800" y="713232"/>
            <a:ext cx="9082735" cy="777240"/>
          </a:xfrm>
          <a:prstGeom prst="rect">
            <a:avLst/>
          </a:prstGeom>
          <a:noFill/>
          <a:ln/>
        </p:spPr>
        <p:txBody>
          <a:bodyPr wrap="square" lIns="0" tIns="0" rIns="0" bIns="0" rtlCol="0" anchor="t"/>
          <a:lstStyle/>
          <a:p>
            <a:pPr indent="0" marL="0">
              <a:buNone/>
            </a:pPr>
            <a:r>
              <a:rPr lang="en-US" sz="3000" b="1" dirty="0">
                <a:solidFill>
                  <a:srgbClr val="355070"/>
                </a:solidFill>
                <a:latin typeface="Calibri" pitchFamily="34" charset="0"/>
                <a:ea typeface="Calibri" pitchFamily="34" charset="-122"/>
                <a:cs typeface="Calibri" pitchFamily="34" charset="-120"/>
              </a:rPr>
              <a:t>Where to get help</a:t>
            </a:r>
            <a:endParaRPr lang="en-US" sz="3000" dirty="0"/>
          </a:p>
        </p:txBody>
      </p:sp>
      <p:sp>
        <p:nvSpPr>
          <p:cNvPr id="4" name="Text 2"/>
          <p:cNvSpPr txBox="1"/>
          <p:nvPr/>
        </p:nvSpPr>
        <p:spPr>
          <a:xfrm>
            <a:off x="10042855" y="493776"/>
            <a:ext cx="1463040" cy="274320"/>
          </a:xfrm>
          <a:prstGeom prst="rect">
            <a:avLst/>
          </a:prstGeom>
          <a:noFill/>
          <a:ln/>
        </p:spPr>
        <p:txBody>
          <a:bodyPr wrap="square" lIns="0" tIns="0" rIns="0" bIns="0" rtlCol="0" anchor="ctr"/>
          <a:lstStyle/>
          <a:p>
            <a:pPr algn="r" indent="0" marL="0">
              <a:buNone/>
            </a:pPr>
            <a:r>
              <a:rPr lang="en-US" sz="1100" dirty="0">
                <a:solidFill>
                  <a:srgbClr val="7A8BA0"/>
                </a:solidFill>
                <a:latin typeface="Calibri" pitchFamily="34" charset="0"/>
                <a:ea typeface="Calibri" pitchFamily="34" charset="-122"/>
                <a:cs typeface="Calibri" pitchFamily="34" charset="-120"/>
              </a:rPr>
              <a:t>Anlin</a:t>
            </a:r>
            <a:endParaRPr lang="en-US" sz="1100" dirty="0"/>
          </a:p>
        </p:txBody>
      </p:sp>
      <p:sp>
        <p:nvSpPr>
          <p:cNvPr id="5" name="Shape 3"/>
          <p:cNvSpPr/>
          <p:nvPr/>
        </p:nvSpPr>
        <p:spPr>
          <a:xfrm>
            <a:off x="685800" y="1554480"/>
            <a:ext cx="10820095" cy="2148840"/>
          </a:xfrm>
          <a:prstGeom prst="roundRect">
            <a:avLst>
              <a:gd name="adj" fmla="val 3404"/>
            </a:avLst>
          </a:prstGeom>
          <a:solidFill>
            <a:srgbClr val="F4F8FA"/>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6" name="Text 4"/>
          <p:cNvSpPr txBox="1"/>
          <p:nvPr/>
        </p:nvSpPr>
        <p:spPr>
          <a:xfrm>
            <a:off x="1051560" y="1719072"/>
            <a:ext cx="10088575" cy="457200"/>
          </a:xfrm>
          <a:prstGeom prst="rect">
            <a:avLst/>
          </a:prstGeom>
          <a:noFill/>
          <a:ln/>
        </p:spPr>
        <p:txBody>
          <a:bodyPr wrap="square" lIns="0" tIns="0" rIns="0" bIns="0" rtlCol="0" anchor="ctr"/>
          <a:lstStyle/>
          <a:p>
            <a:pPr indent="0" marL="0">
              <a:buNone/>
            </a:pPr>
            <a:r>
              <a:rPr lang="en-US" sz="3000" b="1" dirty="0">
                <a:solidFill>
                  <a:srgbClr val="E56B6F"/>
                </a:solidFill>
                <a:latin typeface="Calibri" pitchFamily="34" charset="0"/>
                <a:ea typeface="Calibri" pitchFamily="34" charset="-122"/>
                <a:cs typeface="Calibri" pitchFamily="34" charset="-120"/>
              </a:rPr>
              <a:t>cealstats.org/help</a:t>
            </a:r>
            <a:endParaRPr lang="en-US" sz="3000" dirty="0"/>
          </a:p>
        </p:txBody>
      </p:sp>
      <p:sp>
        <p:nvSpPr>
          <p:cNvPr id="7" name="Text 5"/>
          <p:cNvSpPr txBox="1"/>
          <p:nvPr/>
        </p:nvSpPr>
        <p:spPr>
          <a:xfrm>
            <a:off x="1051560" y="2212848"/>
            <a:ext cx="10088575" cy="292608"/>
          </a:xfrm>
          <a:prstGeom prst="rect">
            <a:avLst/>
          </a:prstGeom>
          <a:noFill/>
          <a:ln/>
        </p:spPr>
        <p:txBody>
          <a:bodyPr wrap="square" lIns="0" tIns="0" rIns="0" bIns="0" rtlCol="0" anchor="ctr"/>
          <a:lstStyle/>
          <a:p>
            <a:pPr indent="0" marL="0">
              <a:buNone/>
            </a:pPr>
            <a:r>
              <a:rPr lang="en-US" sz="1500" dirty="0">
                <a:solidFill>
                  <a:srgbClr val="355070"/>
                </a:solidFill>
                <a:latin typeface="Calibri" pitchFamily="34" charset="0"/>
                <a:ea typeface="Calibri" pitchFamily="34" charset="-122"/>
                <a:cs typeface="Calibri" pitchFamily="34" charset="-120"/>
              </a:rPr>
              <a:t>For member libraries. Eight chapters, in English and 中文.</a:t>
            </a:r>
            <a:endParaRPr lang="en-US" sz="1500" dirty="0"/>
          </a:p>
        </p:txBody>
      </p:sp>
      <p:sp>
        <p:nvSpPr>
          <p:cNvPr id="8" name="Text 6"/>
          <p:cNvSpPr txBox="1"/>
          <p:nvPr/>
        </p:nvSpPr>
        <p:spPr>
          <a:xfrm>
            <a:off x="1051560" y="2560320"/>
            <a:ext cx="10088575" cy="548640"/>
          </a:xfrm>
          <a:prstGeom prst="rect">
            <a:avLst/>
          </a:prstGeom>
          <a:noFill/>
          <a:ln/>
        </p:spPr>
        <p:txBody>
          <a:bodyPr wrap="square" lIns="0" tIns="0" rIns="0" bIns="0" rtlCol="0" anchor="t"/>
          <a:lstStyle/>
          <a:p>
            <a:pPr indent="0" marL="0">
              <a:buNone/>
            </a:pPr>
            <a:r>
              <a:rPr lang="en-US" sz="1350" dirty="0">
                <a:solidFill>
                  <a:srgbClr val="57534E"/>
                </a:solidFill>
                <a:latin typeface="Calibri" pitchFamily="34" charset="0"/>
                <a:ea typeface="Calibri" pitchFamily="34" charset="-122"/>
                <a:cs typeface="Calibri" pitchFamily="34" charset="-120"/>
              </a:rPr>
              <a:t>Getting started  ·  the timeline  ·  all ten forms explained  ·  common tasks  ·  troubleshooting  ·  checklists  ·  FAQ</a:t>
            </a:r>
            <a:endParaRPr lang="en-US" sz="1350" dirty="0"/>
          </a:p>
        </p:txBody>
      </p:sp>
      <p:sp>
        <p:nvSpPr>
          <p:cNvPr id="9" name="Text 7"/>
          <p:cNvSpPr txBox="1"/>
          <p:nvPr/>
        </p:nvSpPr>
        <p:spPr>
          <a:xfrm>
            <a:off x="1051560" y="3127248"/>
            <a:ext cx="10088575" cy="320040"/>
          </a:xfrm>
          <a:prstGeom prst="rect">
            <a:avLst/>
          </a:prstGeom>
          <a:noFill/>
          <a:ln/>
        </p:spPr>
        <p:txBody>
          <a:bodyPr wrap="square" lIns="0" tIns="0" rIns="0" bIns="0" rtlCol="0" anchor="ctr"/>
          <a:lstStyle/>
          <a:p>
            <a:pPr indent="0" marL="0">
              <a:buNone/>
            </a:pPr>
            <a:r>
              <a:rPr lang="en-US" sz="1350" i="1" dirty="0">
                <a:solidFill>
                  <a:srgbClr val="7A8BA0"/>
                </a:solidFill>
                <a:latin typeface="Calibri" pitchFamily="34" charset="0"/>
                <a:ea typeface="Calibri" pitchFamily="34" charset="-122"/>
                <a:cs typeface="Calibri" pitchFamily="34" charset="-120"/>
              </a:rPr>
              <a:t>Searchable. And it prints cleanly, if you would rather have it on paper beside you.</a:t>
            </a:r>
            <a:endParaRPr lang="en-US" sz="1350" dirty="0"/>
          </a:p>
        </p:txBody>
      </p:sp>
      <p:sp>
        <p:nvSpPr>
          <p:cNvPr id="10" name="Shape 8"/>
          <p:cNvSpPr/>
          <p:nvPr/>
        </p:nvSpPr>
        <p:spPr>
          <a:xfrm>
            <a:off x="685800" y="3931920"/>
            <a:ext cx="10820095" cy="1005840"/>
          </a:xfrm>
          <a:prstGeom prst="roundRect">
            <a:avLst>
              <a:gd name="adj" fmla="val 7273"/>
            </a:avLst>
          </a:prstGeom>
          <a:solidFill>
            <a:srgbClr val="FFFFFF"/>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11" name="Text 9"/>
          <p:cNvSpPr txBox="1"/>
          <p:nvPr/>
        </p:nvSpPr>
        <p:spPr>
          <a:xfrm>
            <a:off x="1051560" y="4059936"/>
            <a:ext cx="10088575" cy="365760"/>
          </a:xfrm>
          <a:prstGeom prst="rect">
            <a:avLst/>
          </a:prstGeom>
          <a:noFill/>
          <a:ln/>
        </p:spPr>
        <p:txBody>
          <a:bodyPr wrap="square" lIns="0" tIns="0" rIns="0" bIns="0" rtlCol="0" anchor="ctr"/>
          <a:lstStyle/>
          <a:p>
            <a:pPr indent="0" marL="0">
              <a:buNone/>
            </a:pPr>
            <a:r>
              <a:rPr lang="en-US" sz="2000" b="1" dirty="0">
                <a:solidFill>
                  <a:srgbClr val="6D597A"/>
                </a:solidFill>
                <a:latin typeface="Calibri" pitchFamily="34" charset="0"/>
                <a:ea typeface="Calibri" pitchFamily="34" charset="-122"/>
                <a:cs typeface="Calibri" pitchFamily="34" charset="-120"/>
              </a:rPr>
              <a:t>cealstats.org/admin/superguide</a:t>
            </a:r>
            <a:endParaRPr lang="en-US" sz="2000" dirty="0"/>
          </a:p>
        </p:txBody>
      </p:sp>
      <p:sp>
        <p:nvSpPr>
          <p:cNvPr id="12" name="Text 10"/>
          <p:cNvSpPr txBox="1"/>
          <p:nvPr/>
        </p:nvSpPr>
        <p:spPr>
          <a:xfrm>
            <a:off x="1051560" y="4443984"/>
            <a:ext cx="10088575" cy="292608"/>
          </a:xfrm>
          <a:prstGeom prst="rect">
            <a:avLst/>
          </a:prstGeom>
          <a:noFill/>
          <a:ln/>
        </p:spPr>
        <p:txBody>
          <a:bodyPr wrap="square" lIns="0" tIns="0" rIns="0" bIns="0" rtlCol="0" anchor="ctr"/>
          <a:lstStyle/>
          <a:p>
            <a:pPr indent="0" marL="0">
              <a:buNone/>
            </a:pPr>
            <a:r>
              <a:rPr lang="en-US" sz="1400" dirty="0">
                <a:solidFill>
                  <a:srgbClr val="57534E"/>
                </a:solidFill>
                <a:latin typeface="Calibri" pitchFamily="34" charset="0"/>
                <a:ea typeface="Calibri" pitchFamily="34" charset="-122"/>
                <a:cs typeface="Calibri" pitchFamily="34" charset="-120"/>
              </a:rPr>
              <a:t>For the Committee. Sign-in required. Nine chapters, also bilingual.</a:t>
            </a:r>
            <a:endParaRPr lang="en-US" sz="1400" dirty="0"/>
          </a:p>
        </p:txBody>
      </p:sp>
      <p:sp>
        <p:nvSpPr>
          <p:cNvPr id="13" name="Shape 11"/>
          <p:cNvSpPr/>
          <p:nvPr/>
        </p:nvSpPr>
        <p:spPr>
          <a:xfrm>
            <a:off x="685800" y="5193792"/>
            <a:ext cx="10820095" cy="868680"/>
          </a:xfrm>
          <a:prstGeom prst="roundRect">
            <a:avLst>
              <a:gd name="adj" fmla="val 8421"/>
            </a:avLst>
          </a:prstGeom>
          <a:solidFill>
            <a:srgbClr val="F4F8FA"/>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14" name="Text 12"/>
          <p:cNvSpPr txBox="1"/>
          <p:nvPr/>
        </p:nvSpPr>
        <p:spPr>
          <a:xfrm>
            <a:off x="960120" y="5248656"/>
            <a:ext cx="10271455" cy="758952"/>
          </a:xfrm>
          <a:prstGeom prst="rect">
            <a:avLst/>
          </a:prstGeom>
          <a:noFill/>
          <a:ln/>
        </p:spPr>
        <p:txBody>
          <a:bodyPr wrap="square" lIns="0" tIns="0" rIns="0" bIns="0" rtlCol="0" anchor="ctr"/>
          <a:lstStyle/>
          <a:p>
            <a:pPr indent="0" marL="0">
              <a:buNone/>
            </a:pPr>
            <a:r>
              <a:rPr lang="en-US" sz="1600" b="1" dirty="0">
                <a:solidFill>
                  <a:srgbClr val="E56B6F"/>
                </a:solidFill>
                <a:latin typeface="Calibri" pitchFamily="34" charset="0"/>
                <a:ea typeface="Calibri" pitchFamily="34" charset="-122"/>
                <a:cs typeface="Calibri" pitchFamily="34" charset="-120"/>
              </a:rPr>
              <a:t>If something looks wrong, tell us. Do not assume it is your mistake and work around it.</a:t>
            </a:r>
            <a:endParaRPr lang="en-US" sz="1600" dirty="0"/>
          </a:p>
        </p:txBody>
      </p:sp>
      <p:sp>
        <p:nvSpPr>
          <p:cNvPr id="15" name="Text 13"/>
          <p:cNvSpPr txBox="1"/>
          <p:nvPr/>
        </p:nvSpPr>
        <p:spPr>
          <a:xfrm>
            <a:off x="685800" y="6089904"/>
            <a:ext cx="10820095" cy="274320"/>
          </a:xfrm>
          <a:prstGeom prst="rect">
            <a:avLst/>
          </a:prstGeom>
          <a:noFill/>
          <a:ln/>
        </p:spPr>
        <p:txBody>
          <a:bodyPr wrap="square" lIns="0" tIns="0" rIns="0" bIns="0" rtlCol="0" anchor="ctr"/>
          <a:lstStyle/>
          <a:p>
            <a:pPr indent="0" marL="0">
              <a:buNone/>
            </a:pPr>
            <a:r>
              <a:rPr lang="en-US" sz="1300" i="1" dirty="0">
                <a:solidFill>
                  <a:srgbClr val="7A8BA0"/>
                </a:solidFill>
                <a:latin typeface="Calibri" pitchFamily="34" charset="0"/>
                <a:ea typeface="Calibri" pitchFamily="34" charset="-122"/>
                <a:cs typeface="Calibri" pitchFamily="34" charset="-120"/>
              </a:rPr>
              <a:t>During the collection season Meng and Yifan aim to fix reported problems the same week.</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9082735" cy="228600"/>
          </a:xfrm>
          <a:prstGeom prst="rect">
            <a:avLst/>
          </a:prstGeom>
          <a:noFill/>
          <a:ln/>
        </p:spPr>
        <p:txBody>
          <a:bodyPr wrap="square" lIns="0" tIns="0" rIns="0" bIns="0" rtlCol="0" anchor="ctr"/>
          <a:lstStyle/>
          <a:p>
            <a:pPr indent="0" marL="0">
              <a:buNone/>
            </a:pPr>
            <a:r>
              <a:rPr lang="en-US" sz="1100" b="1" spc="160" kern="0" dirty="0">
                <a:solidFill>
                  <a:srgbClr val="6D597A"/>
                </a:solidFill>
                <a:latin typeface="Calibri" pitchFamily="34" charset="0"/>
                <a:ea typeface="Calibri" pitchFamily="34" charset="-122"/>
                <a:cs typeface="Calibri" pitchFamily="34" charset="-120"/>
              </a:rPr>
              <a:t>THREE THINGS, BEFORE OCTOBER 1</a:t>
            </a:r>
            <a:endParaRPr lang="en-US" sz="1100" dirty="0"/>
          </a:p>
        </p:txBody>
      </p:sp>
      <p:sp>
        <p:nvSpPr>
          <p:cNvPr id="3" name="Text 1"/>
          <p:cNvSpPr txBox="1"/>
          <p:nvPr/>
        </p:nvSpPr>
        <p:spPr>
          <a:xfrm>
            <a:off x="685800" y="713232"/>
            <a:ext cx="9082735" cy="777240"/>
          </a:xfrm>
          <a:prstGeom prst="rect">
            <a:avLst/>
          </a:prstGeom>
          <a:noFill/>
          <a:ln/>
        </p:spPr>
        <p:txBody>
          <a:bodyPr wrap="square" lIns="0" tIns="0" rIns="0" bIns="0" rtlCol="0" anchor="t"/>
          <a:lstStyle/>
          <a:p>
            <a:pPr indent="0" marL="0">
              <a:buNone/>
            </a:pPr>
            <a:r>
              <a:rPr lang="en-US" sz="3000" b="1" dirty="0">
                <a:solidFill>
                  <a:srgbClr val="355070"/>
                </a:solidFill>
                <a:latin typeface="Calibri" pitchFamily="34" charset="0"/>
                <a:ea typeface="Calibri" pitchFamily="34" charset="-122"/>
                <a:cs typeface="Calibri" pitchFamily="34" charset="-120"/>
              </a:rPr>
              <a:t>What the Committee needs from you</a:t>
            </a:r>
            <a:endParaRPr lang="en-US" sz="3000" dirty="0"/>
          </a:p>
        </p:txBody>
      </p:sp>
      <p:sp>
        <p:nvSpPr>
          <p:cNvPr id="4" name="Text 2"/>
          <p:cNvSpPr txBox="1"/>
          <p:nvPr/>
        </p:nvSpPr>
        <p:spPr>
          <a:xfrm>
            <a:off x="10042855" y="493776"/>
            <a:ext cx="1463040" cy="274320"/>
          </a:xfrm>
          <a:prstGeom prst="rect">
            <a:avLst/>
          </a:prstGeom>
          <a:noFill/>
          <a:ln/>
        </p:spPr>
        <p:txBody>
          <a:bodyPr wrap="square" lIns="0" tIns="0" rIns="0" bIns="0" rtlCol="0" anchor="ctr"/>
          <a:lstStyle/>
          <a:p>
            <a:pPr algn="r" indent="0" marL="0">
              <a:buNone/>
            </a:pPr>
            <a:r>
              <a:rPr lang="en-US" sz="1100" dirty="0">
                <a:solidFill>
                  <a:srgbClr val="7A8BA0"/>
                </a:solidFill>
                <a:latin typeface="Calibri" pitchFamily="34" charset="0"/>
                <a:ea typeface="Calibri" pitchFamily="34" charset="-122"/>
                <a:cs typeface="Calibri" pitchFamily="34" charset="-120"/>
              </a:rPr>
              <a:t>Anlin</a:t>
            </a:r>
            <a:endParaRPr lang="en-US" sz="1100" dirty="0"/>
          </a:p>
        </p:txBody>
      </p:sp>
      <p:sp>
        <p:nvSpPr>
          <p:cNvPr id="5" name="Shape 3"/>
          <p:cNvSpPr/>
          <p:nvPr/>
        </p:nvSpPr>
        <p:spPr>
          <a:xfrm>
            <a:off x="685800" y="1536192"/>
            <a:ext cx="10820095" cy="1280160"/>
          </a:xfrm>
          <a:prstGeom prst="roundRect">
            <a:avLst>
              <a:gd name="adj" fmla="val 5714"/>
            </a:avLst>
          </a:prstGeom>
          <a:solidFill>
            <a:srgbClr val="F4F8FA"/>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6" name="Shape 4"/>
          <p:cNvSpPr/>
          <p:nvPr/>
        </p:nvSpPr>
        <p:spPr>
          <a:xfrm>
            <a:off x="960120" y="1792224"/>
            <a:ext cx="475488" cy="475488"/>
          </a:xfrm>
          <a:prstGeom prst="ellipse">
            <a:avLst/>
          </a:prstGeom>
          <a:solidFill>
            <a:srgbClr val="E56B6F"/>
          </a:solidFill>
          <a:ln w="12700">
            <a:solidFill>
              <a:srgbClr val="333333"/>
            </a:solidFill>
            <a:prstDash val="solid"/>
          </a:ln>
        </p:spPr>
      </p:sp>
      <p:sp>
        <p:nvSpPr>
          <p:cNvPr id="7" name="Text 5"/>
          <p:cNvSpPr txBox="1"/>
          <p:nvPr/>
        </p:nvSpPr>
        <p:spPr>
          <a:xfrm>
            <a:off x="960120" y="1792224"/>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8" name="Text 6"/>
          <p:cNvSpPr txBox="1"/>
          <p:nvPr/>
        </p:nvSpPr>
        <p:spPr>
          <a:xfrm>
            <a:off x="1600200" y="1719072"/>
            <a:ext cx="9539935" cy="365760"/>
          </a:xfrm>
          <a:prstGeom prst="rect">
            <a:avLst/>
          </a:prstGeom>
          <a:noFill/>
          <a:ln/>
        </p:spPr>
        <p:txBody>
          <a:bodyPr wrap="square" lIns="0" tIns="0" rIns="0" bIns="0" rtlCol="0" anchor="ctr"/>
          <a:lstStyle/>
          <a:p>
            <a:pPr indent="0" marL="0">
              <a:buNone/>
            </a:pPr>
            <a:r>
              <a:rPr lang="en-US" sz="1900" b="1" dirty="0">
                <a:solidFill>
                  <a:srgbClr val="E56B6F"/>
                </a:solidFill>
                <a:latin typeface="Calibri" pitchFamily="34" charset="0"/>
                <a:ea typeface="Calibri" pitchFamily="34" charset="-122"/>
                <a:cs typeface="Calibri" pitchFamily="34" charset="-120"/>
              </a:rPr>
              <a:t>Confirm your delegate</a:t>
            </a:r>
            <a:endParaRPr lang="en-US" sz="1900" dirty="0"/>
          </a:p>
        </p:txBody>
      </p:sp>
      <p:sp>
        <p:nvSpPr>
          <p:cNvPr id="9" name="Text 7"/>
          <p:cNvSpPr txBox="1"/>
          <p:nvPr/>
        </p:nvSpPr>
        <p:spPr>
          <a:xfrm>
            <a:off x="1600200" y="2112264"/>
            <a:ext cx="9539935" cy="594360"/>
          </a:xfrm>
          <a:prstGeom prst="rect">
            <a:avLst/>
          </a:prstGeom>
          <a:noFill/>
          <a:ln/>
        </p:spPr>
        <p:txBody>
          <a:bodyPr wrap="square" lIns="0" tIns="0" rIns="0" bIns="0" rtlCol="0" anchor="t"/>
          <a:lstStyle/>
          <a:p>
            <a:pPr indent="0" marL="0">
              <a:buNone/>
            </a:pPr>
            <a:r>
              <a:rPr lang="en-US" sz="1400" dirty="0">
                <a:solidFill>
                  <a:srgbClr val="355070"/>
                </a:solidFill>
                <a:latin typeface="Calibri" pitchFamily="34" charset="0"/>
                <a:ea typeface="Calibri" pitchFamily="34" charset="-122"/>
                <a:cs typeface="Calibri" pitchFamily="34" charset="-120"/>
              </a:rPr>
              <a:t>Tell us if the person who submits for your library has changed. This is the single most common reason a library misses the season — the announcement went to someone who left.</a:t>
            </a:r>
            <a:endParaRPr lang="en-US" sz="1400" dirty="0"/>
          </a:p>
        </p:txBody>
      </p:sp>
      <p:sp>
        <p:nvSpPr>
          <p:cNvPr id="10" name="Shape 8"/>
          <p:cNvSpPr/>
          <p:nvPr/>
        </p:nvSpPr>
        <p:spPr>
          <a:xfrm>
            <a:off x="685800" y="2907792"/>
            <a:ext cx="10820095" cy="1280160"/>
          </a:xfrm>
          <a:prstGeom prst="roundRect">
            <a:avLst>
              <a:gd name="adj" fmla="val 5714"/>
            </a:avLst>
          </a:prstGeom>
          <a:solidFill>
            <a:srgbClr val="FFFFFF"/>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11" name="Shape 9"/>
          <p:cNvSpPr/>
          <p:nvPr/>
        </p:nvSpPr>
        <p:spPr>
          <a:xfrm>
            <a:off x="960120" y="3163824"/>
            <a:ext cx="475488" cy="475488"/>
          </a:xfrm>
          <a:prstGeom prst="ellipse">
            <a:avLst/>
          </a:prstGeom>
          <a:solidFill>
            <a:srgbClr val="355070"/>
          </a:solidFill>
          <a:ln w="12700">
            <a:solidFill>
              <a:srgbClr val="333333"/>
            </a:solidFill>
            <a:prstDash val="solid"/>
          </a:ln>
        </p:spPr>
      </p:sp>
      <p:sp>
        <p:nvSpPr>
          <p:cNvPr id="12" name="Text 10"/>
          <p:cNvSpPr txBox="1"/>
          <p:nvPr/>
        </p:nvSpPr>
        <p:spPr>
          <a:xfrm>
            <a:off x="960120" y="3163824"/>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3" name="Text 11"/>
          <p:cNvSpPr txBox="1"/>
          <p:nvPr/>
        </p:nvSpPr>
        <p:spPr>
          <a:xfrm>
            <a:off x="1600200" y="3090672"/>
            <a:ext cx="9539935" cy="365760"/>
          </a:xfrm>
          <a:prstGeom prst="rect">
            <a:avLst/>
          </a:prstGeom>
          <a:noFill/>
          <a:ln/>
        </p:spPr>
        <p:txBody>
          <a:bodyPr wrap="square" lIns="0" tIns="0" rIns="0" bIns="0" rtlCol="0" anchor="ctr"/>
          <a:lstStyle/>
          <a:p>
            <a:pPr indent="0" marL="0">
              <a:buNone/>
            </a:pPr>
            <a:r>
              <a:rPr lang="en-US" sz="1900" b="1" dirty="0">
                <a:solidFill>
                  <a:srgbClr val="355070"/>
                </a:solidFill>
                <a:latin typeface="Calibri" pitchFamily="34" charset="0"/>
                <a:ea typeface="Calibri" pitchFamily="34" charset="-122"/>
                <a:cs typeface="Calibri" pitchFamily="34" charset="-120"/>
              </a:rPr>
              <a:t>Check your email address</a:t>
            </a:r>
            <a:endParaRPr lang="en-US" sz="1900" dirty="0"/>
          </a:p>
        </p:txBody>
      </p:sp>
      <p:sp>
        <p:nvSpPr>
          <p:cNvPr id="14" name="Text 12"/>
          <p:cNvSpPr txBox="1"/>
          <p:nvPr/>
        </p:nvSpPr>
        <p:spPr>
          <a:xfrm>
            <a:off x="1600200" y="3483864"/>
            <a:ext cx="9539935" cy="594360"/>
          </a:xfrm>
          <a:prstGeom prst="rect">
            <a:avLst/>
          </a:prstGeom>
          <a:noFill/>
          <a:ln/>
        </p:spPr>
        <p:txBody>
          <a:bodyPr wrap="square" lIns="0" tIns="0" rIns="0" bIns="0" rtlCol="0" anchor="t"/>
          <a:lstStyle/>
          <a:p>
            <a:pPr indent="0" marL="0">
              <a:buNone/>
            </a:pPr>
            <a:r>
              <a:rPr lang="en-US" sz="1400" dirty="0">
                <a:solidFill>
                  <a:srgbClr val="355070"/>
                </a:solidFill>
                <a:latin typeface="Calibri" pitchFamily="34" charset="0"/>
                <a:ea typeface="Calibri" pitchFamily="34" charset="-122"/>
                <a:cs typeface="Calibri" pitchFamily="34" charset="-120"/>
              </a:rPr>
              <a:t>The announcement goes to the address we have on file. If it is wrong, you will simply not know the survey opened.</a:t>
            </a:r>
            <a:endParaRPr lang="en-US" sz="1400" dirty="0"/>
          </a:p>
        </p:txBody>
      </p:sp>
      <p:sp>
        <p:nvSpPr>
          <p:cNvPr id="15" name="Shape 13"/>
          <p:cNvSpPr/>
          <p:nvPr/>
        </p:nvSpPr>
        <p:spPr>
          <a:xfrm>
            <a:off x="685800" y="4279392"/>
            <a:ext cx="10820095" cy="1280160"/>
          </a:xfrm>
          <a:prstGeom prst="roundRect">
            <a:avLst>
              <a:gd name="adj" fmla="val 5714"/>
            </a:avLst>
          </a:prstGeom>
          <a:solidFill>
            <a:srgbClr val="FFFFFF"/>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16" name="Shape 14"/>
          <p:cNvSpPr/>
          <p:nvPr/>
        </p:nvSpPr>
        <p:spPr>
          <a:xfrm>
            <a:off x="960120" y="4535424"/>
            <a:ext cx="475488" cy="475488"/>
          </a:xfrm>
          <a:prstGeom prst="ellipse">
            <a:avLst/>
          </a:prstGeom>
          <a:solidFill>
            <a:srgbClr val="6D597A"/>
          </a:solidFill>
          <a:ln w="12700">
            <a:solidFill>
              <a:srgbClr val="333333"/>
            </a:solidFill>
            <a:prstDash val="solid"/>
          </a:ln>
        </p:spPr>
      </p:sp>
      <p:sp>
        <p:nvSpPr>
          <p:cNvPr id="17" name="Text 15"/>
          <p:cNvSpPr txBox="1"/>
          <p:nvPr/>
        </p:nvSpPr>
        <p:spPr>
          <a:xfrm>
            <a:off x="960120" y="4535424"/>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8" name="Text 16"/>
          <p:cNvSpPr txBox="1"/>
          <p:nvPr/>
        </p:nvSpPr>
        <p:spPr>
          <a:xfrm>
            <a:off x="1600200" y="4462272"/>
            <a:ext cx="9539935" cy="365760"/>
          </a:xfrm>
          <a:prstGeom prst="rect">
            <a:avLst/>
          </a:prstGeom>
          <a:noFill/>
          <a:ln/>
        </p:spPr>
        <p:txBody>
          <a:bodyPr wrap="square" lIns="0" tIns="0" rIns="0" bIns="0" rtlCol="0" anchor="ctr"/>
          <a:lstStyle/>
          <a:p>
            <a:pPr indent="0" marL="0">
              <a:buNone/>
            </a:pPr>
            <a:r>
              <a:rPr lang="en-US" sz="1900" b="1" dirty="0">
                <a:solidFill>
                  <a:srgbClr val="6D597A"/>
                </a:solidFill>
                <a:latin typeface="Calibri" pitchFamily="34" charset="0"/>
                <a:ea typeface="Calibri" pitchFamily="34" charset="-122"/>
                <a:cs typeface="Calibri" pitchFamily="34" charset="-120"/>
              </a:rPr>
              <a:t>Submit — do not just save</a:t>
            </a:r>
            <a:endParaRPr lang="en-US" sz="1900" dirty="0"/>
          </a:p>
        </p:txBody>
      </p:sp>
      <p:sp>
        <p:nvSpPr>
          <p:cNvPr id="19" name="Text 17"/>
          <p:cNvSpPr txBox="1"/>
          <p:nvPr/>
        </p:nvSpPr>
        <p:spPr>
          <a:xfrm>
            <a:off x="1600200" y="4855464"/>
            <a:ext cx="9539935" cy="594360"/>
          </a:xfrm>
          <a:prstGeom prst="rect">
            <a:avLst/>
          </a:prstGeom>
          <a:noFill/>
          <a:ln/>
        </p:spPr>
        <p:txBody>
          <a:bodyPr wrap="square" lIns="0" tIns="0" rIns="0" bIns="0" rtlCol="0" anchor="t"/>
          <a:lstStyle/>
          <a:p>
            <a:pPr indent="0" marL="0">
              <a:buNone/>
            </a:pPr>
            <a:r>
              <a:rPr lang="en-US" sz="1400" dirty="0">
                <a:solidFill>
                  <a:srgbClr val="355070"/>
                </a:solidFill>
                <a:latin typeface="Calibri" pitchFamily="34" charset="0"/>
                <a:ea typeface="Calibri" pitchFamily="34" charset="-122"/>
                <a:cs typeface="Calibri" pitchFamily="34" charset="-120"/>
              </a:rPr>
              <a:t>Press Submit on each form when it is finished. A saved draft cannot be included in the published statistics.</a:t>
            </a:r>
            <a:endParaRPr lang="en-US" sz="1400" dirty="0"/>
          </a:p>
        </p:txBody>
      </p:sp>
      <p:sp>
        <p:nvSpPr>
          <p:cNvPr id="20" name="Shape 18"/>
          <p:cNvSpPr/>
          <p:nvPr/>
        </p:nvSpPr>
        <p:spPr>
          <a:xfrm>
            <a:off x="685800" y="5687568"/>
            <a:ext cx="10820095" cy="685800"/>
          </a:xfrm>
          <a:prstGeom prst="roundRect">
            <a:avLst>
              <a:gd name="adj" fmla="val 10667"/>
            </a:avLst>
          </a:prstGeom>
          <a:solidFill>
            <a:srgbClr val="F4F8FA"/>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21" name="Text 19"/>
          <p:cNvSpPr txBox="1"/>
          <p:nvPr/>
        </p:nvSpPr>
        <p:spPr>
          <a:xfrm>
            <a:off x="1005840" y="5724144"/>
            <a:ext cx="10180015" cy="603504"/>
          </a:xfrm>
          <a:prstGeom prst="rect">
            <a:avLst/>
          </a:prstGeom>
          <a:noFill/>
          <a:ln/>
        </p:spPr>
        <p:txBody>
          <a:bodyPr wrap="square" lIns="0" tIns="0" rIns="0" bIns="0" rtlCol="0" anchor="ctr"/>
          <a:lstStyle/>
          <a:p>
            <a:pPr indent="0" marL="0">
              <a:buNone/>
            </a:pPr>
            <a:r>
              <a:rPr lang="en-US" sz="1500" b="1" dirty="0">
                <a:solidFill>
                  <a:srgbClr val="355070"/>
                </a:solidFill>
                <a:latin typeface="Calibri" pitchFamily="34" charset="0"/>
                <a:ea typeface="Calibri" pitchFamily="34" charset="-122"/>
                <a:cs typeface="Calibri" pitchFamily="34" charset="-120"/>
              </a:rPr>
              <a:t>New to the survey? Contact the Committee and we will set your library up before October.</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66928"/>
            <a:ext cx="9082735" cy="777240"/>
          </a:xfrm>
          <a:prstGeom prst="rect">
            <a:avLst/>
          </a:prstGeom>
          <a:noFill/>
          <a:ln/>
        </p:spPr>
        <p:txBody>
          <a:bodyPr wrap="square" lIns="0" tIns="0" rIns="0" bIns="0" rtlCol="0" anchor="t"/>
          <a:lstStyle/>
          <a:p>
            <a:pPr indent="0" marL="0">
              <a:buNone/>
            </a:pPr>
            <a:r>
              <a:rPr lang="en-US" sz="3000" b="1" dirty="0">
                <a:solidFill>
                  <a:srgbClr val="355070"/>
                </a:solidFill>
                <a:latin typeface="Calibri" pitchFamily="34" charset="0"/>
                <a:ea typeface="Calibri" pitchFamily="34" charset="-122"/>
                <a:cs typeface="Calibri" pitchFamily="34" charset="-120"/>
              </a:rPr>
              <a:t>Thank you</a:t>
            </a:r>
            <a:endParaRPr lang="en-US" sz="3000" dirty="0"/>
          </a:p>
        </p:txBody>
      </p:sp>
      <p:sp>
        <p:nvSpPr>
          <p:cNvPr id="3" name="Text 1"/>
          <p:cNvSpPr txBox="1"/>
          <p:nvPr/>
        </p:nvSpPr>
        <p:spPr>
          <a:xfrm>
            <a:off x="10042855" y="621792"/>
            <a:ext cx="1463040" cy="274320"/>
          </a:xfrm>
          <a:prstGeom prst="rect">
            <a:avLst/>
          </a:prstGeom>
          <a:noFill/>
          <a:ln/>
        </p:spPr>
        <p:txBody>
          <a:bodyPr wrap="square" lIns="0" tIns="0" rIns="0" bIns="0" rtlCol="0" anchor="ctr"/>
          <a:lstStyle/>
          <a:p>
            <a:pPr algn="r" indent="0" marL="0">
              <a:buNone/>
            </a:pPr>
            <a:r>
              <a:rPr lang="en-US" sz="1100" dirty="0">
                <a:solidFill>
                  <a:srgbClr val="7A8BA0"/>
                </a:solidFill>
                <a:latin typeface="Calibri" pitchFamily="34" charset="0"/>
                <a:ea typeface="Calibri" pitchFamily="34" charset="-122"/>
                <a:cs typeface="Calibri" pitchFamily="34" charset="-120"/>
              </a:rPr>
              <a:t>Anlin</a:t>
            </a:r>
            <a:endParaRPr lang="en-US" sz="1100" dirty="0"/>
          </a:p>
        </p:txBody>
      </p:sp>
      <p:sp>
        <p:nvSpPr>
          <p:cNvPr id="4" name="Shape 2"/>
          <p:cNvSpPr/>
          <p:nvPr/>
        </p:nvSpPr>
        <p:spPr>
          <a:xfrm>
            <a:off x="685800" y="1691640"/>
            <a:ext cx="10820095" cy="1005840"/>
          </a:xfrm>
          <a:prstGeom prst="roundRect">
            <a:avLst>
              <a:gd name="adj" fmla="val 7273"/>
            </a:avLst>
          </a:prstGeom>
          <a:solidFill>
            <a:srgbClr val="FFFFFF"/>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5" name="Text 3"/>
          <p:cNvSpPr txBox="1"/>
          <p:nvPr/>
        </p:nvSpPr>
        <p:spPr>
          <a:xfrm>
            <a:off x="1005840" y="1837944"/>
            <a:ext cx="10180015" cy="347472"/>
          </a:xfrm>
          <a:prstGeom prst="rect">
            <a:avLst/>
          </a:prstGeom>
          <a:noFill/>
          <a:ln/>
        </p:spPr>
        <p:txBody>
          <a:bodyPr wrap="square" lIns="0" tIns="0" rIns="0" bIns="0" rtlCol="0" anchor="ctr"/>
          <a:lstStyle/>
          <a:p>
            <a:pPr indent="0" marL="0">
              <a:buNone/>
            </a:pPr>
            <a:r>
              <a:rPr lang="en-US" sz="1700" b="1" dirty="0">
                <a:solidFill>
                  <a:srgbClr val="355070"/>
                </a:solidFill>
                <a:latin typeface="Calibri" pitchFamily="34" charset="0"/>
                <a:ea typeface="Calibri" pitchFamily="34" charset="-122"/>
                <a:cs typeface="Calibri" pitchFamily="34" charset="-120"/>
              </a:rPr>
              <a:t>To every library that submitted through the new system in its first year</a:t>
            </a:r>
            <a:endParaRPr lang="en-US" sz="1700" dirty="0"/>
          </a:p>
        </p:txBody>
      </p:sp>
      <p:sp>
        <p:nvSpPr>
          <p:cNvPr id="6" name="Text 4"/>
          <p:cNvSpPr txBox="1"/>
          <p:nvPr/>
        </p:nvSpPr>
        <p:spPr>
          <a:xfrm>
            <a:off x="1005840" y="2203704"/>
            <a:ext cx="10180015" cy="384048"/>
          </a:xfrm>
          <a:prstGeom prst="rect">
            <a:avLst/>
          </a:prstGeom>
          <a:noFill/>
          <a:ln/>
        </p:spPr>
        <p:txBody>
          <a:bodyPr wrap="square" lIns="0" tIns="0" rIns="0" bIns="0" rtlCol="0" anchor="ctr"/>
          <a:lstStyle/>
          <a:p>
            <a:pPr indent="0" marL="0">
              <a:buNone/>
            </a:pPr>
            <a:r>
              <a:rPr lang="en-US" sz="1400" dirty="0">
                <a:solidFill>
                  <a:srgbClr val="57534E"/>
                </a:solidFill>
                <a:latin typeface="Calibri" pitchFamily="34" charset="0"/>
                <a:ea typeface="Calibri" pitchFamily="34" charset="-122"/>
                <a:cs typeface="Calibri" pitchFamily="34" charset="-120"/>
              </a:rPr>
              <a:t>You were, in effect, testing it for us — and you were patient about it.</a:t>
            </a:r>
            <a:endParaRPr lang="en-US" sz="1400" dirty="0"/>
          </a:p>
        </p:txBody>
      </p:sp>
      <p:sp>
        <p:nvSpPr>
          <p:cNvPr id="7" name="Shape 5"/>
          <p:cNvSpPr/>
          <p:nvPr/>
        </p:nvSpPr>
        <p:spPr>
          <a:xfrm>
            <a:off x="685800" y="2834640"/>
            <a:ext cx="10820095" cy="1005840"/>
          </a:xfrm>
          <a:prstGeom prst="roundRect">
            <a:avLst>
              <a:gd name="adj" fmla="val 7273"/>
            </a:avLst>
          </a:prstGeom>
          <a:solidFill>
            <a:srgbClr val="F4F8FA"/>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8" name="Text 6"/>
          <p:cNvSpPr txBox="1"/>
          <p:nvPr/>
        </p:nvSpPr>
        <p:spPr>
          <a:xfrm>
            <a:off x="1005840" y="2980944"/>
            <a:ext cx="10180015" cy="347472"/>
          </a:xfrm>
          <a:prstGeom prst="rect">
            <a:avLst/>
          </a:prstGeom>
          <a:noFill/>
          <a:ln/>
        </p:spPr>
        <p:txBody>
          <a:bodyPr wrap="square" lIns="0" tIns="0" rIns="0" bIns="0" rtlCol="0" anchor="ctr"/>
          <a:lstStyle/>
          <a:p>
            <a:pPr indent="0" marL="0">
              <a:buNone/>
            </a:pPr>
            <a:r>
              <a:rPr lang="en-US" sz="1700" b="1" dirty="0">
                <a:solidFill>
                  <a:srgbClr val="E56B6F"/>
                </a:solidFill>
                <a:latin typeface="Calibri" pitchFamily="34" charset="0"/>
                <a:ea typeface="Calibri" pitchFamily="34" charset="-122"/>
                <a:cs typeface="Calibri" pitchFamily="34" charset="-120"/>
              </a:rPr>
              <a:t>To Meng Qu and Yifan Huang, who built it</a:t>
            </a:r>
            <a:endParaRPr lang="en-US" sz="1700" dirty="0"/>
          </a:p>
        </p:txBody>
      </p:sp>
      <p:sp>
        <p:nvSpPr>
          <p:cNvPr id="9" name="Text 7"/>
          <p:cNvSpPr txBox="1"/>
          <p:nvPr/>
        </p:nvSpPr>
        <p:spPr>
          <a:xfrm>
            <a:off x="1005840" y="3346704"/>
            <a:ext cx="10180015" cy="384048"/>
          </a:xfrm>
          <a:prstGeom prst="rect">
            <a:avLst/>
          </a:prstGeom>
          <a:noFill/>
          <a:ln/>
        </p:spPr>
        <p:txBody>
          <a:bodyPr wrap="square" lIns="0" tIns="0" rIns="0" bIns="0" rtlCol="0" anchor="ctr"/>
          <a:lstStyle/>
          <a:p>
            <a:pPr indent="0" marL="0">
              <a:buNone/>
            </a:pPr>
            <a:r>
              <a:rPr lang="en-US" sz="1400" dirty="0">
                <a:solidFill>
                  <a:srgbClr val="57534E"/>
                </a:solidFill>
                <a:latin typeface="Calibri" pitchFamily="34" charset="0"/>
                <a:ea typeface="Calibri" pitchFamily="34" charset="-122"/>
                <a:cs typeface="Calibri" pitchFamily="34" charset="-120"/>
              </a:rPr>
              <a:t>Two and a half years of work alongside their regular jobs. The Committee is very aware of that.</a:t>
            </a:r>
            <a:endParaRPr lang="en-US" sz="1400" dirty="0"/>
          </a:p>
        </p:txBody>
      </p:sp>
      <p:sp>
        <p:nvSpPr>
          <p:cNvPr id="10" name="Shape 8"/>
          <p:cNvSpPr/>
          <p:nvPr/>
        </p:nvSpPr>
        <p:spPr>
          <a:xfrm>
            <a:off x="685800" y="3977640"/>
            <a:ext cx="10820095" cy="1005840"/>
          </a:xfrm>
          <a:prstGeom prst="roundRect">
            <a:avLst>
              <a:gd name="adj" fmla="val 7273"/>
            </a:avLst>
          </a:prstGeom>
          <a:solidFill>
            <a:srgbClr val="FFFFFF"/>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11" name="Text 9"/>
          <p:cNvSpPr txBox="1"/>
          <p:nvPr/>
        </p:nvSpPr>
        <p:spPr>
          <a:xfrm>
            <a:off x="1005840" y="4123944"/>
            <a:ext cx="10180015" cy="347472"/>
          </a:xfrm>
          <a:prstGeom prst="rect">
            <a:avLst/>
          </a:prstGeom>
          <a:noFill/>
          <a:ln/>
        </p:spPr>
        <p:txBody>
          <a:bodyPr wrap="square" lIns="0" tIns="0" rIns="0" bIns="0" rtlCol="0" anchor="ctr"/>
          <a:lstStyle/>
          <a:p>
            <a:pPr indent="0" marL="0">
              <a:buNone/>
            </a:pPr>
            <a:r>
              <a:rPr lang="en-US" sz="1700" b="1" dirty="0">
                <a:solidFill>
                  <a:srgbClr val="6D597A"/>
                </a:solidFill>
                <a:latin typeface="Calibri" pitchFamily="34" charset="0"/>
                <a:ea typeface="Calibri" pitchFamily="34" charset="-122"/>
                <a:cs typeface="Calibri" pitchFamily="34" charset="-120"/>
              </a:rPr>
              <a:t>To the CEAL Statistics Committee</a:t>
            </a:r>
            <a:endParaRPr lang="en-US" sz="1700" dirty="0"/>
          </a:p>
        </p:txBody>
      </p:sp>
      <p:sp>
        <p:nvSpPr>
          <p:cNvPr id="12" name="Text 10"/>
          <p:cNvSpPr txBox="1"/>
          <p:nvPr/>
        </p:nvSpPr>
        <p:spPr>
          <a:xfrm>
            <a:off x="1005840" y="4489704"/>
            <a:ext cx="10180015" cy="384048"/>
          </a:xfrm>
          <a:prstGeom prst="rect">
            <a:avLst/>
          </a:prstGeom>
          <a:noFill/>
          <a:ln/>
        </p:spPr>
        <p:txBody>
          <a:bodyPr wrap="square" lIns="0" tIns="0" rIns="0" bIns="0" rtlCol="0" anchor="ctr"/>
          <a:lstStyle/>
          <a:p>
            <a:pPr indent="0" marL="0">
              <a:buNone/>
            </a:pPr>
            <a:r>
              <a:rPr lang="en-US" sz="1400" dirty="0">
                <a:solidFill>
                  <a:srgbClr val="57534E"/>
                </a:solidFill>
                <a:latin typeface="Calibri" pitchFamily="34" charset="0"/>
                <a:ea typeface="Calibri" pitchFamily="34" charset="-122"/>
                <a:cs typeface="Calibri" pitchFamily="34" charset="-120"/>
              </a:rPr>
              <a:t>For the guidance, and for checking every number.</a:t>
            </a:r>
            <a:endParaRPr lang="en-US" sz="1400" dirty="0"/>
          </a:p>
        </p:txBody>
      </p:sp>
      <p:sp>
        <p:nvSpPr>
          <p:cNvPr id="13" name="Shape 11"/>
          <p:cNvSpPr/>
          <p:nvPr/>
        </p:nvSpPr>
        <p:spPr>
          <a:xfrm>
            <a:off x="685800" y="5257800"/>
            <a:ext cx="10820095" cy="1051560"/>
          </a:xfrm>
          <a:prstGeom prst="roundRect">
            <a:avLst>
              <a:gd name="adj" fmla="val 6957"/>
            </a:avLst>
          </a:prstGeom>
          <a:solidFill>
            <a:srgbClr val="F4F8FA"/>
          </a:solidFill>
          <a:ln w="12700">
            <a:solidFill>
              <a:srgbClr val="EAAC8B"/>
            </a:solidFill>
            <a:prstDash val="solid"/>
          </a:ln>
          <a:effectLst>
            <a:outerShdw sx="100000" sy="100000" kx="0" ky="0" algn="bl" rotWithShape="0" blurRad="101600" dist="12700" dir="5400000">
              <a:srgbClr val="355070">
                <a:alpha val="6000"/>
              </a:srgbClr>
            </a:outerShdw>
          </a:effectLst>
        </p:spPr>
      </p:sp>
      <p:sp>
        <p:nvSpPr>
          <p:cNvPr id="14" name="Text 12"/>
          <p:cNvSpPr txBox="1"/>
          <p:nvPr/>
        </p:nvSpPr>
        <p:spPr>
          <a:xfrm>
            <a:off x="1005840" y="5349240"/>
            <a:ext cx="10180015" cy="868680"/>
          </a:xfrm>
          <a:prstGeom prst="rect">
            <a:avLst/>
          </a:prstGeom>
          <a:noFill/>
          <a:ln/>
        </p:spPr>
        <p:txBody>
          <a:bodyPr wrap="square" lIns="0" tIns="0" rIns="0" bIns="0" rtlCol="0" anchor="ctr"/>
          <a:lstStyle/>
          <a:p>
            <a:pPr indent="0" marL="0">
              <a:buNone/>
            </a:pPr>
            <a:r>
              <a:rPr lang="en-US" sz="2200" b="1" dirty="0">
                <a:solidFill>
                  <a:srgbClr val="E56B6F"/>
                </a:solidFill>
                <a:latin typeface="Calibri" pitchFamily="34" charset="0"/>
                <a:ea typeface="Calibri" pitchFamily="34" charset="-122"/>
                <a:cs typeface="Calibri" pitchFamily="34" charset="-120"/>
              </a:rPr>
              <a:t>cealstats.org</a:t>
            </a:r>
            <a:pPr indent="0" marL="0">
              <a:buNone/>
            </a:pPr>
            <a:r>
              <a:rPr lang="en-US" sz="1600" b="1" dirty="0">
                <a:solidFill>
                  <a:srgbClr val="355070"/>
                </a:solidFill>
                <a:latin typeface="Calibri" pitchFamily="34" charset="0"/>
                <a:ea typeface="Calibri" pitchFamily="34" charset="-122"/>
                <a:cs typeface="Calibri" pitchFamily="34" charset="-120"/>
              </a:rPr>
              <a:t>        cealstats.org/help</a:t>
            </a:r>
            <a:pPr indent="0" marL="0">
              <a:buNone/>
            </a:pPr>
            <a:r>
              <a:rPr lang="en-US" sz="1500" dirty="0">
                <a:solidFill>
                  <a:srgbClr val="57534E"/>
                </a:solidFill>
                <a:latin typeface="Calibri" pitchFamily="34" charset="0"/>
                <a:ea typeface="Calibri" pitchFamily="34" charset="-122"/>
                <a:cs typeface="Calibri" pitchFamily="34" charset="-120"/>
              </a:rPr>
              <a:t>        qum@miamioh.edu</a:t>
            </a:r>
            <a:endParaRPr lang="en-US" sz="2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355070"/>
        </a:solidFill>
      </p:bgPr>
    </p:bg>
    <p:spTree>
      <p:nvGrpSpPr>
        <p:cNvPr id="1" name=""/>
        <p:cNvGrpSpPr/>
        <p:nvPr/>
      </p:nvGrpSpPr>
      <p:grpSpPr>
        <a:xfrm>
          <a:off x="0" y="0"/>
          <a:ext cx="0" cy="0"/>
          <a:chOff x="0" y="0"/>
          <a:chExt cx="0" cy="0"/>
        </a:xfrm>
      </p:grpSpPr>
      <p:sp>
        <p:nvSpPr>
          <p:cNvPr id="2" name="Text 0"/>
          <p:cNvSpPr txBox="1"/>
          <p:nvPr/>
        </p:nvSpPr>
        <p:spPr>
          <a:xfrm>
            <a:off x="685800" y="2011680"/>
            <a:ext cx="10820095" cy="100584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Questions?</a:t>
            </a:r>
            <a:endParaRPr lang="en-US" sz="5400" dirty="0"/>
          </a:p>
        </p:txBody>
      </p:sp>
      <p:sp>
        <p:nvSpPr>
          <p:cNvPr id="3" name="Text 1"/>
          <p:cNvSpPr txBox="1"/>
          <p:nvPr/>
        </p:nvSpPr>
        <p:spPr>
          <a:xfrm>
            <a:off x="685800" y="3200400"/>
            <a:ext cx="10820095" cy="457200"/>
          </a:xfrm>
          <a:prstGeom prst="rect">
            <a:avLst/>
          </a:prstGeom>
          <a:noFill/>
          <a:ln/>
        </p:spPr>
        <p:txBody>
          <a:bodyPr wrap="square" lIns="0" tIns="0" rIns="0" bIns="0" rtlCol="0" anchor="ctr"/>
          <a:lstStyle/>
          <a:p>
            <a:pPr indent="0" marL="0">
              <a:buNone/>
            </a:pPr>
            <a:r>
              <a:rPr lang="en-US" sz="2400" b="1" dirty="0">
                <a:solidFill>
                  <a:srgbClr val="E56B6F"/>
                </a:solidFill>
                <a:latin typeface="Calibri" pitchFamily="34" charset="0"/>
                <a:ea typeface="Calibri" pitchFamily="34" charset="-122"/>
                <a:cs typeface="Calibri" pitchFamily="34" charset="-120"/>
              </a:rPr>
              <a:t>cealstats.org</a:t>
            </a:r>
            <a:endParaRPr lang="en-US" sz="2400" dirty="0"/>
          </a:p>
        </p:txBody>
      </p:sp>
      <p:sp>
        <p:nvSpPr>
          <p:cNvPr id="4" name="Text 2"/>
          <p:cNvSpPr txBox="1"/>
          <p:nvPr/>
        </p:nvSpPr>
        <p:spPr>
          <a:xfrm>
            <a:off x="685800" y="3977640"/>
            <a:ext cx="4572000" cy="822960"/>
          </a:xfrm>
          <a:prstGeom prst="rect">
            <a:avLst/>
          </a:prstGeom>
          <a:noFill/>
          <a:ln/>
        </p:spPr>
        <p:txBody>
          <a:bodyPr wrap="square" lIns="0" tIns="0" rIns="0" bIns="0" rtlCol="0" anchor="t"/>
          <a:lstStyle/>
          <a:p>
            <a:pPr indent="0" marL="0">
              <a:buNone/>
            </a:pPr>
            <a:r>
              <a:rPr lang="en-US" sz="1400" dirty="0">
                <a:solidFill>
                  <a:srgbClr val="7A8BA0"/>
                </a:solidFill>
                <a:latin typeface="Calibri" pitchFamily="34" charset="0"/>
                <a:ea typeface="Calibri" pitchFamily="34" charset="-122"/>
                <a:cs typeface="Calibri" pitchFamily="34" charset="-120"/>
              </a:rPr>
              <a:t>Member guide</a:t>
            </a:r>
            <a:endParaRPr lang="en-US" sz="1400" dirty="0"/>
          </a:p>
          <a:p>
            <a:pPr indent="0" marL="0">
              <a:buNone/>
            </a:pPr>
            <a:r>
              <a:rPr lang="en-US" sz="1700" b="1" dirty="0">
                <a:solidFill>
                  <a:srgbClr val="EAAC8B"/>
                </a:solidFill>
                <a:latin typeface="Calibri" pitchFamily="34" charset="0"/>
                <a:ea typeface="Calibri" pitchFamily="34" charset="-122"/>
                <a:cs typeface="Calibri" pitchFamily="34" charset="-120"/>
              </a:rPr>
              <a:t>cealstats.org/help</a:t>
            </a:r>
            <a:endParaRPr lang="en-US" sz="1400" dirty="0"/>
          </a:p>
        </p:txBody>
      </p:sp>
      <p:sp>
        <p:nvSpPr>
          <p:cNvPr id="5" name="Text 3"/>
          <p:cNvSpPr txBox="1"/>
          <p:nvPr/>
        </p:nvSpPr>
        <p:spPr>
          <a:xfrm>
            <a:off x="5715000" y="3977640"/>
            <a:ext cx="4572000" cy="822960"/>
          </a:xfrm>
          <a:prstGeom prst="rect">
            <a:avLst/>
          </a:prstGeom>
          <a:noFill/>
          <a:ln/>
        </p:spPr>
        <p:txBody>
          <a:bodyPr wrap="square" lIns="0" tIns="0" rIns="0" bIns="0" rtlCol="0" anchor="t"/>
          <a:lstStyle/>
          <a:p>
            <a:pPr indent="0" marL="0">
              <a:buNone/>
            </a:pPr>
            <a:r>
              <a:rPr lang="en-US" sz="1400" dirty="0">
                <a:solidFill>
                  <a:srgbClr val="7A8BA0"/>
                </a:solidFill>
                <a:latin typeface="Calibri" pitchFamily="34" charset="0"/>
                <a:ea typeface="Calibri" pitchFamily="34" charset="-122"/>
                <a:cs typeface="Calibri" pitchFamily="34" charset="-120"/>
              </a:rPr>
              <a:t>Meng Qu</a:t>
            </a:r>
            <a:endParaRPr lang="en-US" sz="1400" dirty="0"/>
          </a:p>
          <a:p>
            <a:pPr indent="0" marL="0">
              <a:buNone/>
            </a:pPr>
            <a:r>
              <a:rPr lang="en-US" sz="1700" b="1" dirty="0">
                <a:solidFill>
                  <a:srgbClr val="EAAC8B"/>
                </a:solidFill>
                <a:latin typeface="Calibri" pitchFamily="34" charset="0"/>
                <a:ea typeface="Calibri" pitchFamily="34" charset="-122"/>
                <a:cs typeface="Calibri" pitchFamily="34" charset="-120"/>
              </a:rPr>
              <a:t>qum@miamioh.edu</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CEAL Statistics Database — Launch Session</dc:title>
  <dc:subject>PptxGenJS Presentation</dc:subject>
  <dc:creator>CEAL Statistics Committee</dc:creator>
  <cp:lastModifiedBy>CEAL Statistics Committee</cp:lastModifiedBy>
  <cp:revision>1</cp:revision>
  <dcterms:created xsi:type="dcterms:W3CDTF">2026-09-10T16:29:54Z</dcterms:created>
  <dcterms:modified xsi:type="dcterms:W3CDTF">2026-09-10T16:29:54Z</dcterms:modified>
</cp:coreProperties>
</file>